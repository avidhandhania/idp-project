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8" r:id="rId3"/>
    <p:sldId id="259" r:id="rId4"/>
    <p:sldId id="260" r:id="rId5"/>
    <p:sldId id="261" r:id="rId6"/>
    <p:sldId id="262" r:id="rId7"/>
    <p:sldId id="263" r:id="rId8"/>
    <p:sldId id="264" r:id="rId9"/>
    <p:sldId id="265" r:id="rId10"/>
    <p:sldId id="266" r:id="rId11"/>
    <p:sldId id="268" r:id="rId12"/>
    <p:sldId id="271" r:id="rId13"/>
    <p:sldId id="272" r:id="rId14"/>
    <p:sldId id="273" r:id="rId15"/>
    <p:sldId id="275" r:id="rId16"/>
    <p:sldId id="276" r:id="rId17"/>
    <p:sldId id="277" r:id="rId18"/>
    <p:sldId id="280" r:id="rId19"/>
    <p:sldId id="281" r:id="rId20"/>
    <p:sldId id="282" r:id="rId21"/>
    <p:sldId id="283" r:id="rId22"/>
    <p:sldId id="284" r:id="rId23"/>
    <p:sldId id="285" r:id="rId24"/>
    <p:sldId id="286" r:id="rId25"/>
    <p:sldId id="287" r:id="rId26"/>
    <p:sldId id="288" r:id="rId27"/>
    <p:sldId id="289" r:id="rId28"/>
    <p:sldId id="290" r:id="rId29"/>
    <p:sldId id="291" r:id="rId30"/>
    <p:sldId id="292" r:id="rId31"/>
    <p:sldId id="293" r:id="rId32"/>
    <p:sldId id="294" r:id="rId33"/>
    <p:sldId id="295" r:id="rId34"/>
    <p:sldId id="296" r:id="rId35"/>
    <p:sldId id="297" r:id="rId36"/>
    <p:sldId id="298" r:id="rId37"/>
    <p:sldId id="299" r:id="rId38"/>
    <p:sldId id="313" r:id="rId39"/>
    <p:sldId id="314" r:id="rId4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109" d="100"/>
          <a:sy n="109" d="100"/>
        </p:scale>
        <p:origin x="73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3837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a:effectLst/>
      </p:bgPr>
    </p:bg>
    <p:spTree>
      <p:nvGrpSpPr>
        <p:cNvPr id="1" name=""/>
        <p:cNvGrpSpPr/>
        <p:nvPr/>
      </p:nvGrpSpPr>
      <p:grpSpPr>
        <a:xfrm>
          <a:off x="0" y="0"/>
          <a:ext cx="0" cy="0"/>
          <a:chOff x="0" y="0"/>
          <a:chExt cx="0" cy="0"/>
        </a:xfrm>
      </p:grpSpPr>
      <p:sp>
        <p:nvSpPr>
          <p:cNvPr id="2" name="Text 0"/>
          <p:cNvSpPr/>
          <p:nvPr/>
        </p:nvSpPr>
        <p:spPr>
          <a:xfrm>
            <a:off x="514350" y="400050"/>
            <a:ext cx="8629650" cy="91440"/>
          </a:xfrm>
          <a:prstGeom prst="rect">
            <a:avLst/>
          </a:prstGeom>
          <a:noFill/>
          <a:ln/>
        </p:spPr>
        <p:txBody>
          <a:bodyPr wrap="square" lIns="0" tIns="0" rIns="0" bIns="0" rtlCol="0" anchor="t">
            <a:normAutofit fontScale="25000" lnSpcReduction="20000"/>
          </a:bodyPr>
          <a:lstStyle/>
          <a:p>
            <a:pPr marL="0" indent="0" algn="l">
              <a:lnSpc>
                <a:spcPts val="928"/>
              </a:lnSpc>
              <a:buNone/>
            </a:pPr>
            <a:r>
              <a:rPr lang="en-US" sz="800" kern="0" spc="136" dirty="0">
                <a:solidFill>
                  <a:srgbClr val="9A9A9A"/>
                </a:solidFill>
                <a:latin typeface="Courier New" pitchFamily="34" charset="0"/>
                <a:ea typeface="Courier New" pitchFamily="34" charset="-122"/>
                <a:cs typeface="Courier New" pitchFamily="34" charset="-120"/>
              </a:rPr>
              <a:t>REVIEW REPORT I · INNOVATIVE DESIGN PROJECT</a:t>
            </a:r>
            <a:endParaRPr lang="en-US" sz="800" dirty="0"/>
          </a:p>
        </p:txBody>
      </p:sp>
      <p:sp>
        <p:nvSpPr>
          <p:cNvPr id="7" name="Text 5"/>
          <p:cNvSpPr/>
          <p:nvPr/>
        </p:nvSpPr>
        <p:spPr>
          <a:xfrm>
            <a:off x="274320" y="1885615"/>
            <a:ext cx="8595360" cy="972122"/>
          </a:xfrm>
          <a:prstGeom prst="rect">
            <a:avLst/>
          </a:prstGeom>
          <a:noFill/>
          <a:ln/>
        </p:spPr>
        <p:txBody>
          <a:bodyPr wrap="square" lIns="0" tIns="0" rIns="0" bIns="0" rtlCol="0" anchor="t"/>
          <a:lstStyle/>
          <a:p>
            <a:pPr marL="0" indent="0" algn="ctr">
              <a:lnSpc>
                <a:spcPts val="3544"/>
              </a:lnSpc>
              <a:buNone/>
            </a:pPr>
            <a:r>
              <a:rPr lang="en-US" sz="3375" b="1" kern="0" spc="-94" dirty="0">
                <a:solidFill>
                  <a:srgbClr val="FFFFFF"/>
                </a:solidFill>
                <a:latin typeface="Carlito" pitchFamily="34" charset="0"/>
                <a:ea typeface="Carlito" pitchFamily="34" charset="-122"/>
                <a:cs typeface="Carlito" pitchFamily="34" charset="-120"/>
              </a:rPr>
              <a:t>Crypto-Agility Navigator</a:t>
            </a:r>
          </a:p>
          <a:p>
            <a:pPr marL="0" indent="0" algn="ctr">
              <a:lnSpc>
                <a:spcPts val="3544"/>
              </a:lnSpc>
              <a:buNone/>
            </a:pPr>
            <a:r>
              <a:rPr lang="en-US" sz="3375" b="1" kern="0" spc="-94" dirty="0">
                <a:solidFill>
                  <a:srgbClr val="FFFFFF"/>
                </a:solidFill>
                <a:latin typeface="Carlito" pitchFamily="34" charset="0"/>
                <a:ea typeface="Carlito" pitchFamily="34" charset="-122"/>
                <a:cs typeface="Carlito" pitchFamily="34" charset="-120"/>
              </a:rPr>
              <a:t>Dataflow-Aware Cryptographic Inventory &amp; Prioritised Post-Quantum Migration</a:t>
            </a:r>
            <a:endParaRPr lang="en-US" sz="3375" dirty="0"/>
          </a:p>
        </p:txBody>
      </p:sp>
      <p:sp>
        <p:nvSpPr>
          <p:cNvPr id="18" name="Text 16"/>
          <p:cNvSpPr/>
          <p:nvPr/>
        </p:nvSpPr>
        <p:spPr>
          <a:xfrm>
            <a:off x="548640" y="4846320"/>
            <a:ext cx="731520" cy="137160"/>
          </a:xfrm>
          <a:prstGeom prst="rect">
            <a:avLst/>
          </a:prstGeom>
          <a:noFill/>
          <a:ln/>
        </p:spPr>
        <p:txBody>
          <a:bodyPr wrap="none" lIns="0" tIns="0" rIns="0" bIns="0" rtlCol="0" anchor="t"/>
          <a:lstStyle/>
          <a:p>
            <a:pPr marL="0" indent="0" algn="l">
              <a:lnSpc>
                <a:spcPts val="928"/>
              </a:lnSpc>
              <a:buNone/>
            </a:pPr>
            <a:r>
              <a:rPr lang="en-US" sz="800" kern="0" spc="111" dirty="0">
                <a:solidFill>
                  <a:srgbClr val="9A9A9A"/>
                </a:solidFill>
                <a:latin typeface="Liberation Sans Narrow" pitchFamily="34" charset="0"/>
                <a:ea typeface="Liberation Sans Narrow" pitchFamily="34" charset="-122"/>
                <a:cs typeface="Liberation Sans Narrow" pitchFamily="34" charset="-120"/>
              </a:rPr>
              <a:t>01 / 39</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206803"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6735440" y="400050"/>
            <a:ext cx="2003938" cy="117872"/>
          </a:xfrm>
          <a:prstGeom prst="rect">
            <a:avLst/>
          </a:prstGeom>
          <a:noFill/>
          <a:ln/>
        </p:spPr>
        <p:txBody>
          <a:bodyPr wrap="squar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SECTION 01 — PROBLEM IDENTIFICATION</a:t>
            </a:r>
            <a:endParaRPr lang="en-US" sz="619" dirty="0"/>
          </a:p>
        </p:txBody>
      </p:sp>
      <p:sp>
        <p:nvSpPr>
          <p:cNvPr id="5" name="Text 3"/>
          <p:cNvSpPr/>
          <p:nvPr/>
        </p:nvSpPr>
        <p:spPr>
          <a:xfrm>
            <a:off x="514350" y="853678"/>
            <a:ext cx="8629650" cy="164592"/>
          </a:xfrm>
          <a:prstGeom prst="rect">
            <a:avLst/>
          </a:prstGeom>
          <a:noFill/>
          <a:ln/>
        </p:spPr>
        <p:txBody>
          <a:bodyPr wrap="none" lIns="0" tIns="0" rIns="0" bIns="0" rtlCol="0" anchor="t"/>
          <a:lstStyle/>
          <a:p>
            <a:pPr marL="0" indent="0" algn="l">
              <a:lnSpc>
                <a:spcPts val="928"/>
              </a:lnSpc>
              <a:buNone/>
            </a:pPr>
            <a:r>
              <a:rPr lang="en-US" sz="800" kern="0" spc="136" dirty="0">
                <a:solidFill>
                  <a:srgbClr val="4A4A4A"/>
                </a:solidFill>
                <a:latin typeface="Liberation Sans Narrow" pitchFamily="34" charset="0"/>
                <a:ea typeface="Liberation Sans Narrow" pitchFamily="34" charset="-122"/>
                <a:cs typeface="Liberation Sans Narrow" pitchFamily="34" charset="-120"/>
              </a:rPr>
              <a:t>1.1 THE TECHNICAL PROBLEM</a:t>
            </a:r>
            <a:endParaRPr lang="en-US" sz="800" dirty="0"/>
          </a:p>
        </p:txBody>
      </p:sp>
      <p:sp>
        <p:nvSpPr>
          <p:cNvPr id="6" name="Text 4"/>
          <p:cNvSpPr/>
          <p:nvPr/>
        </p:nvSpPr>
        <p:spPr>
          <a:xfrm>
            <a:off x="514350" y="1057275"/>
            <a:ext cx="8629650" cy="345619"/>
          </a:xfrm>
          <a:prstGeom prst="rect">
            <a:avLst/>
          </a:prstGeom>
          <a:noFill/>
          <a:ln/>
        </p:spPr>
        <p:txBody>
          <a:bodyPr wrap="squar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Cryptography an organisation cannot enumerate.</a:t>
            </a:r>
            <a:endParaRPr lang="en-US" sz="2250" dirty="0"/>
          </a:p>
        </p:txBody>
      </p:sp>
      <p:sp>
        <p:nvSpPr>
          <p:cNvPr id="7" name="Text 5"/>
          <p:cNvSpPr/>
          <p:nvPr/>
        </p:nvSpPr>
        <p:spPr>
          <a:xfrm>
            <a:off x="514350" y="1520168"/>
            <a:ext cx="400050" cy="28575"/>
          </a:xfrm>
          <a:prstGeom prst="rect">
            <a:avLst/>
          </a:prstGeom>
          <a:solidFill>
            <a:srgbClr val="0A0A0A"/>
          </a:solidFill>
          <a:ln/>
        </p:spPr>
        <p:txBody>
          <a:bodyPr wrap="square" rtlCol="0" anchor="ctr"/>
          <a:lstStyle/>
          <a:p>
            <a:pPr marL="0" indent="0">
              <a:buNone/>
            </a:pPr>
            <a:endParaRPr lang="en-US" dirty="0"/>
          </a:p>
        </p:txBody>
      </p:sp>
      <p:sp>
        <p:nvSpPr>
          <p:cNvPr id="8" name="Text 6"/>
          <p:cNvSpPr/>
          <p:nvPr/>
        </p:nvSpPr>
        <p:spPr>
          <a:xfrm>
            <a:off x="514350" y="1777343"/>
            <a:ext cx="3857625" cy="3203396"/>
          </a:xfrm>
          <a:prstGeom prst="rect">
            <a:avLst/>
          </a:prstGeom>
          <a:noFill/>
          <a:ln/>
        </p:spPr>
        <p:txBody>
          <a:bodyPr wrap="square" lIns="0" tIns="0" rIns="0" bIns="0" rtlCol="0" anchor="t"/>
          <a:lstStyle/>
          <a:p>
            <a:pPr marL="0" indent="0" algn="l">
              <a:lnSpc>
                <a:spcPts val="1530"/>
              </a:lnSpc>
              <a:buNone/>
            </a:pPr>
            <a:r>
              <a:rPr lang="en-US" sz="956" dirty="0">
                <a:solidFill>
                  <a:srgbClr val="1F1F1F"/>
                </a:solidFill>
                <a:latin typeface="Carlito" pitchFamily="34" charset="0"/>
                <a:ea typeface="Carlito" pitchFamily="34" charset="-122"/>
                <a:cs typeface="Carlito" pitchFamily="34" charset="-120"/>
              </a:rPr>
              <a:t>A mid-sized banking application invokes RSA, ECDSA, AES and SHA-family primitives from first-party code, third-party libraries, container base images, TLS terminators, database configuration and infrastructure-as-code — with no single artefact recording where those invocations are or what they protect.</a:t>
            </a:r>
            <a:endParaRPr lang="en-US" sz="956" dirty="0"/>
          </a:p>
        </p:txBody>
      </p:sp>
      <p:sp>
        <p:nvSpPr>
          <p:cNvPr id="9" name="Text 7"/>
          <p:cNvSpPr/>
          <p:nvPr/>
        </p:nvSpPr>
        <p:spPr>
          <a:xfrm>
            <a:off x="4772025" y="1777343"/>
            <a:ext cx="4371975"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THE PARADOX</a:t>
            </a:r>
            <a:endParaRPr lang="en-US" sz="800" dirty="0"/>
          </a:p>
        </p:txBody>
      </p:sp>
      <p:sp>
        <p:nvSpPr>
          <p:cNvPr id="10" name="Text 8"/>
          <p:cNvSpPr/>
          <p:nvPr/>
        </p:nvSpPr>
        <p:spPr>
          <a:xfrm>
            <a:off x="4775597" y="1984511"/>
            <a:ext cx="3850481" cy="1303065"/>
          </a:xfrm>
          <a:prstGeom prst="rect">
            <a:avLst/>
          </a:prstGeom>
          <a:solidFill>
            <a:srgbClr val="F4F4F4"/>
          </a:solidFill>
          <a:ln w="7144">
            <a:solidFill>
              <a:srgbClr val="D9D9D9"/>
            </a:solidFill>
            <a:prstDash val="solid"/>
          </a:ln>
        </p:spPr>
        <p:txBody>
          <a:bodyPr wrap="square" rtlCol="0" anchor="ctr"/>
          <a:lstStyle/>
          <a:p>
            <a:pPr marL="0" indent="0">
              <a:buNone/>
            </a:pPr>
            <a:endParaRPr lang="en-US" dirty="0"/>
          </a:p>
        </p:txBody>
      </p:sp>
      <p:sp>
        <p:nvSpPr>
          <p:cNvPr id="11" name="Text 9"/>
          <p:cNvSpPr/>
          <p:nvPr/>
        </p:nvSpPr>
        <p:spPr>
          <a:xfrm>
            <a:off x="4936331" y="2216683"/>
            <a:ext cx="3529013" cy="173352"/>
          </a:xfrm>
          <a:prstGeom prst="rect">
            <a:avLst/>
          </a:prstGeom>
          <a:noFill/>
          <a:ln/>
        </p:spPr>
        <p:txBody>
          <a:bodyPr wrap="square" lIns="0" tIns="0" rIns="0" bIns="0" rtlCol="0" anchor="t"/>
          <a:lstStyle/>
          <a:p>
            <a:pPr marL="0" indent="0" algn="l">
              <a:lnSpc>
                <a:spcPts val="1264"/>
              </a:lnSpc>
              <a:buNone/>
            </a:pPr>
            <a:r>
              <a:rPr lang="en-US" sz="816" dirty="0">
                <a:solidFill>
                  <a:srgbClr val="0A0A0A"/>
                </a:solidFill>
                <a:latin typeface="Carlito" pitchFamily="34" charset="0"/>
                <a:ea typeface="Carlito" pitchFamily="34" charset="-122"/>
                <a:cs typeface="Carlito" pitchFamily="34" charset="-120"/>
              </a:rPr>
              <a:t>WHAT</a:t>
            </a:r>
            <a:r>
              <a:rPr lang="en-US" sz="816" dirty="0">
                <a:solidFill>
                  <a:srgbClr val="1F1F1F"/>
                </a:solidFill>
                <a:latin typeface="Carlito" pitchFamily="34" charset="0"/>
                <a:ea typeface="Carlito" pitchFamily="34" charset="-122"/>
                <a:cs typeface="Carlito" pitchFamily="34" charset="-120"/>
              </a:rPr>
              <a:t> to migrate to — settled (NIST FIPS 203/204/205).</a:t>
            </a:r>
            <a:endParaRPr lang="en-US" sz="816" dirty="0"/>
          </a:p>
        </p:txBody>
      </p:sp>
      <p:sp>
        <p:nvSpPr>
          <p:cNvPr id="12" name="Text 10"/>
          <p:cNvSpPr/>
          <p:nvPr/>
        </p:nvSpPr>
        <p:spPr>
          <a:xfrm>
            <a:off x="4936331" y="2462919"/>
            <a:ext cx="3529013" cy="7144"/>
          </a:xfrm>
          <a:prstGeom prst="rect">
            <a:avLst/>
          </a:prstGeom>
          <a:solidFill>
            <a:srgbClr val="D9D9D9"/>
          </a:solidFill>
          <a:ln/>
        </p:spPr>
        <p:txBody>
          <a:bodyPr wrap="square" rtlCol="0" anchor="ctr"/>
          <a:lstStyle/>
          <a:p>
            <a:pPr marL="0" indent="0">
              <a:buNone/>
            </a:pPr>
            <a:endParaRPr lang="en-US" dirty="0"/>
          </a:p>
        </p:txBody>
      </p:sp>
      <p:sp>
        <p:nvSpPr>
          <p:cNvPr id="13" name="Text 11"/>
          <p:cNvSpPr/>
          <p:nvPr/>
        </p:nvSpPr>
        <p:spPr>
          <a:xfrm>
            <a:off x="4936331" y="2555788"/>
            <a:ext cx="3638740" cy="173352"/>
          </a:xfrm>
          <a:prstGeom prst="rect">
            <a:avLst/>
          </a:prstGeom>
          <a:noFill/>
          <a:ln/>
        </p:spPr>
        <p:txBody>
          <a:bodyPr wrap="square" lIns="0" tIns="0" rIns="0" bIns="0" rtlCol="0" anchor="t"/>
          <a:lstStyle/>
          <a:p>
            <a:pPr marL="0" indent="0" algn="l">
              <a:lnSpc>
                <a:spcPts val="1264"/>
              </a:lnSpc>
              <a:buNone/>
            </a:pPr>
            <a:r>
              <a:rPr lang="en-US" sz="816" dirty="0">
                <a:solidFill>
                  <a:srgbClr val="0A0A0A"/>
                </a:solidFill>
                <a:latin typeface="Carlito" pitchFamily="34" charset="0"/>
                <a:ea typeface="Carlito" pitchFamily="34" charset="-122"/>
                <a:cs typeface="Carlito" pitchFamily="34" charset="-120"/>
              </a:rPr>
              <a:t>WHERE</a:t>
            </a:r>
            <a:r>
              <a:rPr lang="en-US" sz="816" dirty="0">
                <a:solidFill>
                  <a:srgbClr val="1F1F1F"/>
                </a:solidFill>
                <a:latin typeface="Carlito" pitchFamily="34" charset="0"/>
                <a:ea typeface="Carlito" pitchFamily="34" charset="-122"/>
                <a:cs typeface="Carlito" pitchFamily="34" charset="-120"/>
              </a:rPr>
              <a:t> cryptography lives — unknown.</a:t>
            </a:r>
            <a:endParaRPr lang="en-US" sz="816" dirty="0"/>
          </a:p>
        </p:txBody>
      </p:sp>
      <p:sp>
        <p:nvSpPr>
          <p:cNvPr id="14" name="Text 12"/>
          <p:cNvSpPr/>
          <p:nvPr/>
        </p:nvSpPr>
        <p:spPr>
          <a:xfrm>
            <a:off x="4936331" y="2802024"/>
            <a:ext cx="3529013" cy="7144"/>
          </a:xfrm>
          <a:prstGeom prst="rect">
            <a:avLst/>
          </a:prstGeom>
          <a:solidFill>
            <a:srgbClr val="D9D9D9"/>
          </a:solidFill>
          <a:ln/>
        </p:spPr>
        <p:txBody>
          <a:bodyPr wrap="square" rtlCol="0" anchor="ctr"/>
          <a:lstStyle/>
          <a:p>
            <a:pPr marL="0" indent="0">
              <a:buNone/>
            </a:pPr>
            <a:endParaRPr lang="en-US" dirty="0"/>
          </a:p>
        </p:txBody>
      </p:sp>
      <p:sp>
        <p:nvSpPr>
          <p:cNvPr id="15" name="Text 13"/>
          <p:cNvSpPr/>
          <p:nvPr/>
        </p:nvSpPr>
        <p:spPr>
          <a:xfrm>
            <a:off x="4936331" y="2894893"/>
            <a:ext cx="3638740" cy="173352"/>
          </a:xfrm>
          <a:prstGeom prst="rect">
            <a:avLst/>
          </a:prstGeom>
          <a:noFill/>
          <a:ln/>
        </p:spPr>
        <p:txBody>
          <a:bodyPr wrap="square" lIns="0" tIns="0" rIns="0" bIns="0" rtlCol="0" anchor="t"/>
          <a:lstStyle/>
          <a:p>
            <a:pPr marL="0" indent="0" algn="l">
              <a:lnSpc>
                <a:spcPts val="1264"/>
              </a:lnSpc>
              <a:buNone/>
            </a:pPr>
            <a:r>
              <a:rPr lang="en-US" sz="816" dirty="0">
                <a:solidFill>
                  <a:srgbClr val="0A0A0A"/>
                </a:solidFill>
                <a:latin typeface="Carlito" pitchFamily="34" charset="0"/>
                <a:ea typeface="Carlito" pitchFamily="34" charset="-122"/>
                <a:cs typeface="Carlito" pitchFamily="34" charset="-120"/>
              </a:rPr>
              <a:t>WHEN</a:t>
            </a:r>
            <a:r>
              <a:rPr lang="en-US" sz="816" dirty="0">
                <a:solidFill>
                  <a:srgbClr val="1F1F1F"/>
                </a:solidFill>
                <a:latin typeface="Carlito" pitchFamily="34" charset="0"/>
                <a:ea typeface="Carlito" pitchFamily="34" charset="-122"/>
                <a:cs typeface="Carlito" pitchFamily="34" charset="-120"/>
              </a:rPr>
              <a:t> to migrate which asset first — unanswered.</a:t>
            </a:r>
            <a:endParaRPr lang="en-US" sz="816" dirty="0"/>
          </a:p>
        </p:txBody>
      </p:sp>
      <p:sp>
        <p:nvSpPr>
          <p:cNvPr id="16" name="Shape 14"/>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17" name="Text 15"/>
          <p:cNvSpPr/>
          <p:nvPr/>
        </p:nvSpPr>
        <p:spPr>
          <a:xfrm>
            <a:off x="1463040" y="4846320"/>
            <a:ext cx="7132320" cy="137160"/>
          </a:xfrm>
          <a:prstGeom prst="rect">
            <a:avLst/>
          </a:prstGeom>
          <a:noFill/>
          <a:ln/>
        </p:spPr>
        <p:txBody>
          <a:bodyPr wrap="squar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01 — PROBLEM IDENTIFICATION</a:t>
            </a:r>
            <a:endParaRPr lang="en-US" sz="800" dirty="0"/>
          </a:p>
        </p:txBody>
      </p:sp>
      <p:sp>
        <p:nvSpPr>
          <p:cNvPr id="18" name="Text 16"/>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02 / 39</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206803"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6735440" y="400050"/>
            <a:ext cx="2003938" cy="117872"/>
          </a:xfrm>
          <a:prstGeom prst="rect">
            <a:avLst/>
          </a:prstGeom>
          <a:noFill/>
          <a:ln/>
        </p:spPr>
        <p:txBody>
          <a:bodyPr wrap="squar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SECTION 01 — PROBLEM IDENTIFICATION</a:t>
            </a:r>
            <a:endParaRPr lang="en-US" sz="619" dirty="0"/>
          </a:p>
        </p:txBody>
      </p:sp>
      <p:sp>
        <p:nvSpPr>
          <p:cNvPr id="5" name="Text 3"/>
          <p:cNvSpPr/>
          <p:nvPr/>
        </p:nvSpPr>
        <p:spPr>
          <a:xfrm>
            <a:off x="514350" y="853678"/>
            <a:ext cx="8629650" cy="164592"/>
          </a:xfrm>
          <a:prstGeom prst="rect">
            <a:avLst/>
          </a:prstGeom>
          <a:noFill/>
          <a:ln/>
        </p:spPr>
        <p:txBody>
          <a:bodyPr wrap="none" lIns="0" tIns="0" rIns="0" bIns="0" rtlCol="0" anchor="t"/>
          <a:lstStyle/>
          <a:p>
            <a:pPr marL="0" indent="0" algn="l">
              <a:lnSpc>
                <a:spcPts val="928"/>
              </a:lnSpc>
              <a:buNone/>
            </a:pPr>
            <a:r>
              <a:rPr lang="en-US" sz="800" kern="0" spc="136" dirty="0">
                <a:solidFill>
                  <a:srgbClr val="4A4A4A"/>
                </a:solidFill>
                <a:latin typeface="Liberation Sans Narrow" pitchFamily="34" charset="0"/>
                <a:ea typeface="Liberation Sans Narrow" pitchFamily="34" charset="-122"/>
                <a:cs typeface="Liberation Sans Narrow" pitchFamily="34" charset="-120"/>
              </a:rPr>
              <a:t>1.1 THREAT MODEL — HNDL</a:t>
            </a:r>
            <a:endParaRPr lang="en-US" sz="800" dirty="0"/>
          </a:p>
        </p:txBody>
      </p:sp>
      <p:sp>
        <p:nvSpPr>
          <p:cNvPr id="6" name="Text 4"/>
          <p:cNvSpPr/>
          <p:nvPr/>
        </p:nvSpPr>
        <p:spPr>
          <a:xfrm>
            <a:off x="514350" y="1057275"/>
            <a:ext cx="8629650" cy="345619"/>
          </a:xfrm>
          <a:prstGeom prst="rect">
            <a:avLst/>
          </a:prstGeom>
          <a:noFill/>
          <a:ln/>
        </p:spPr>
        <p:txBody>
          <a:bodyPr wrap="squar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Record today. Decrypt tomorrow.</a:t>
            </a:r>
            <a:endParaRPr lang="en-US" sz="2250" dirty="0"/>
          </a:p>
        </p:txBody>
      </p:sp>
      <p:sp>
        <p:nvSpPr>
          <p:cNvPr id="7" name="Text 5"/>
          <p:cNvSpPr/>
          <p:nvPr/>
        </p:nvSpPr>
        <p:spPr>
          <a:xfrm>
            <a:off x="514350" y="1520168"/>
            <a:ext cx="400050" cy="28575"/>
          </a:xfrm>
          <a:prstGeom prst="rect">
            <a:avLst/>
          </a:prstGeom>
          <a:solidFill>
            <a:srgbClr val="0A0A0A"/>
          </a:solidFill>
          <a:ln/>
        </p:spPr>
        <p:txBody>
          <a:bodyPr wrap="square" rtlCol="0" anchor="ctr"/>
          <a:lstStyle/>
          <a:p>
            <a:pPr marL="0" indent="0">
              <a:buNone/>
            </a:pPr>
            <a:endParaRPr lang="en-US" dirty="0"/>
          </a:p>
        </p:txBody>
      </p:sp>
      <p:sp>
        <p:nvSpPr>
          <p:cNvPr id="8" name="Text 6"/>
          <p:cNvSpPr/>
          <p:nvPr/>
        </p:nvSpPr>
        <p:spPr>
          <a:xfrm>
            <a:off x="514350" y="1777343"/>
            <a:ext cx="3857625" cy="3203396"/>
          </a:xfrm>
          <a:prstGeom prst="rect">
            <a:avLst/>
          </a:prstGeom>
          <a:noFill/>
          <a:ln/>
        </p:spPr>
        <p:txBody>
          <a:bodyPr wrap="square" lIns="0" tIns="0" rIns="0" bIns="0" rtlCol="0" anchor="t"/>
          <a:lstStyle/>
          <a:p>
            <a:pPr marL="0" indent="0" algn="l">
              <a:lnSpc>
                <a:spcPts val="1530"/>
              </a:lnSpc>
              <a:buNone/>
            </a:pPr>
            <a:r>
              <a:rPr lang="en-US" sz="956" dirty="0">
                <a:solidFill>
                  <a:srgbClr val="1F1F1F"/>
                </a:solidFill>
                <a:latin typeface="Carlito" pitchFamily="34" charset="0"/>
                <a:ea typeface="Carlito" pitchFamily="34" charset="-122"/>
                <a:cs typeface="Carlito" pitchFamily="34" charset="-120"/>
              </a:rPr>
              <a:t>A patient passive adversary records ciphertext in transit or exfiltrates data at rest, stores it at negligible cost, and decrypts it once a cryptographically relevant quantum computer (CRQC) exists. Detection after the fact provides no remedy — the property that distinguishes HNDL from every other vulnerability class, and the reason forward secrecy cannot help retroactively.</a:t>
            </a:r>
            <a:endParaRPr lang="en-US" sz="956" dirty="0"/>
          </a:p>
        </p:txBody>
      </p:sp>
      <p:sp>
        <p:nvSpPr>
          <p:cNvPr id="9" name="Text 7"/>
          <p:cNvSpPr/>
          <p:nvPr/>
        </p:nvSpPr>
        <p:spPr>
          <a:xfrm>
            <a:off x="4760268" y="1414742"/>
            <a:ext cx="3850481" cy="2958964"/>
          </a:xfrm>
          <a:prstGeom prst="rect">
            <a:avLst/>
          </a:prstGeom>
          <a:solidFill>
            <a:srgbClr val="FFFFFF"/>
          </a:solidFill>
          <a:ln w="7144">
            <a:solidFill>
              <a:srgbClr val="0A0A0A"/>
            </a:solidFill>
            <a:prstDash val="solid"/>
          </a:ln>
        </p:spPr>
        <p:txBody>
          <a:bodyPr wrap="square" rtlCol="0" anchor="ctr"/>
          <a:lstStyle/>
          <a:p>
            <a:pPr marL="0" indent="0">
              <a:buNone/>
            </a:pPr>
            <a:endParaRPr lang="en-US" dirty="0"/>
          </a:p>
        </p:txBody>
      </p:sp>
      <p:sp>
        <p:nvSpPr>
          <p:cNvPr id="10" name="Text 8"/>
          <p:cNvSpPr/>
          <p:nvPr/>
        </p:nvSpPr>
        <p:spPr>
          <a:xfrm>
            <a:off x="4950619" y="1941649"/>
            <a:ext cx="3500437"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ADVERSARY PROPERTIES</a:t>
            </a:r>
            <a:endParaRPr lang="en-US" sz="800" dirty="0"/>
          </a:p>
        </p:txBody>
      </p:sp>
      <p:sp>
        <p:nvSpPr>
          <p:cNvPr id="11" name="Text 9"/>
          <p:cNvSpPr/>
          <p:nvPr/>
        </p:nvSpPr>
        <p:spPr>
          <a:xfrm>
            <a:off x="4950619" y="2266690"/>
            <a:ext cx="320040" cy="164592"/>
          </a:xfrm>
          <a:prstGeom prst="rect">
            <a:avLst/>
          </a:prstGeom>
          <a:noFill/>
          <a:ln/>
        </p:spPr>
        <p:txBody>
          <a:bodyPr wrap="none" lIns="0" tIns="0" rIns="0" bIns="0" rtlCol="0" anchor="t"/>
          <a:lstStyle/>
          <a:p>
            <a:pPr marL="0" indent="0" algn="l">
              <a:lnSpc>
                <a:spcPts val="1181"/>
              </a:lnSpc>
              <a:buNone/>
            </a:pPr>
            <a:r>
              <a:rPr lang="en-US" sz="800" b="1" dirty="0">
                <a:solidFill>
                  <a:srgbClr val="0A0A0A"/>
                </a:solidFill>
                <a:latin typeface="Liberation Sans Narrow" pitchFamily="34" charset="0"/>
                <a:ea typeface="Liberation Sans Narrow" pitchFamily="34" charset="-122"/>
                <a:cs typeface="Liberation Sans Narrow" pitchFamily="34" charset="-120"/>
              </a:rPr>
              <a:t>01</a:t>
            </a:r>
            <a:endParaRPr lang="en-US" sz="800" dirty="0"/>
          </a:p>
        </p:txBody>
      </p:sp>
      <p:sp>
        <p:nvSpPr>
          <p:cNvPr id="12" name="Text 10"/>
          <p:cNvSpPr/>
          <p:nvPr/>
        </p:nvSpPr>
        <p:spPr>
          <a:xfrm>
            <a:off x="5250656" y="2259546"/>
            <a:ext cx="3200400" cy="173352"/>
          </a:xfrm>
          <a:prstGeom prst="rect">
            <a:avLst/>
          </a:prstGeom>
          <a:noFill/>
          <a:ln/>
        </p:spPr>
        <p:txBody>
          <a:bodyPr wrap="square" lIns="0" tIns="0" rIns="0" bIns="0" rtlCol="0" anchor="t"/>
          <a:lstStyle/>
          <a:p>
            <a:pPr marL="0" indent="0" algn="l">
              <a:lnSpc>
                <a:spcPts val="1264"/>
              </a:lnSpc>
              <a:buNone/>
            </a:pPr>
            <a:r>
              <a:rPr lang="en-US" sz="816" dirty="0">
                <a:solidFill>
                  <a:srgbClr val="1F1F1F"/>
                </a:solidFill>
                <a:latin typeface="Carlito" pitchFamily="34" charset="0"/>
                <a:ea typeface="Carlito" pitchFamily="34" charset="-122"/>
                <a:cs typeface="Carlito" pitchFamily="34" charset="-120"/>
              </a:rPr>
              <a:t>Cannot break RSA / ECC today</a:t>
            </a:r>
            <a:endParaRPr lang="en-US" sz="816" dirty="0"/>
          </a:p>
        </p:txBody>
      </p:sp>
      <p:sp>
        <p:nvSpPr>
          <p:cNvPr id="13" name="Text 11"/>
          <p:cNvSpPr/>
          <p:nvPr/>
        </p:nvSpPr>
        <p:spPr>
          <a:xfrm>
            <a:off x="4950619" y="2505782"/>
            <a:ext cx="3500438" cy="7144"/>
          </a:xfrm>
          <a:prstGeom prst="rect">
            <a:avLst/>
          </a:prstGeom>
          <a:solidFill>
            <a:srgbClr val="D9D9D9"/>
          </a:solidFill>
          <a:ln/>
        </p:spPr>
        <p:txBody>
          <a:bodyPr wrap="square" rtlCol="0" anchor="ctr"/>
          <a:lstStyle/>
          <a:p>
            <a:pPr marL="0" indent="0">
              <a:buNone/>
            </a:pPr>
            <a:endParaRPr lang="en-US" dirty="0"/>
          </a:p>
        </p:txBody>
      </p:sp>
      <p:sp>
        <p:nvSpPr>
          <p:cNvPr id="14" name="Text 12"/>
          <p:cNvSpPr/>
          <p:nvPr/>
        </p:nvSpPr>
        <p:spPr>
          <a:xfrm>
            <a:off x="4950619" y="2605794"/>
            <a:ext cx="320040" cy="164592"/>
          </a:xfrm>
          <a:prstGeom prst="rect">
            <a:avLst/>
          </a:prstGeom>
          <a:noFill/>
          <a:ln/>
        </p:spPr>
        <p:txBody>
          <a:bodyPr wrap="none" lIns="0" tIns="0" rIns="0" bIns="0" rtlCol="0" anchor="t"/>
          <a:lstStyle/>
          <a:p>
            <a:pPr marL="0" indent="0" algn="l">
              <a:lnSpc>
                <a:spcPts val="1181"/>
              </a:lnSpc>
              <a:buNone/>
            </a:pPr>
            <a:r>
              <a:rPr lang="en-US" sz="800" b="1" dirty="0">
                <a:solidFill>
                  <a:srgbClr val="0A0A0A"/>
                </a:solidFill>
                <a:latin typeface="Liberation Sans Narrow" pitchFamily="34" charset="0"/>
                <a:ea typeface="Liberation Sans Narrow" pitchFamily="34" charset="-122"/>
                <a:cs typeface="Liberation Sans Narrow" pitchFamily="34" charset="-120"/>
              </a:rPr>
              <a:t>02</a:t>
            </a:r>
            <a:endParaRPr lang="en-US" sz="800" dirty="0"/>
          </a:p>
        </p:txBody>
      </p:sp>
      <p:sp>
        <p:nvSpPr>
          <p:cNvPr id="15" name="Text 13"/>
          <p:cNvSpPr/>
          <p:nvPr/>
        </p:nvSpPr>
        <p:spPr>
          <a:xfrm>
            <a:off x="5250656" y="2598651"/>
            <a:ext cx="3200400" cy="173352"/>
          </a:xfrm>
          <a:prstGeom prst="rect">
            <a:avLst/>
          </a:prstGeom>
          <a:noFill/>
          <a:ln/>
        </p:spPr>
        <p:txBody>
          <a:bodyPr wrap="square" lIns="0" tIns="0" rIns="0" bIns="0" rtlCol="0" anchor="t"/>
          <a:lstStyle/>
          <a:p>
            <a:pPr marL="0" indent="0" algn="l">
              <a:lnSpc>
                <a:spcPts val="1264"/>
              </a:lnSpc>
              <a:buNone/>
            </a:pPr>
            <a:r>
              <a:rPr lang="en-US" sz="816" dirty="0">
                <a:solidFill>
                  <a:srgbClr val="1F1F1F"/>
                </a:solidFill>
                <a:latin typeface="Carlito" pitchFamily="34" charset="0"/>
                <a:ea typeface="Carlito" pitchFamily="34" charset="-122"/>
                <a:cs typeface="Carlito" pitchFamily="34" charset="-120"/>
              </a:rPr>
              <a:t>Records ciphertext in transit or at rest</a:t>
            </a:r>
            <a:endParaRPr lang="en-US" sz="816" dirty="0"/>
          </a:p>
        </p:txBody>
      </p:sp>
      <p:sp>
        <p:nvSpPr>
          <p:cNvPr id="16" name="Text 14"/>
          <p:cNvSpPr/>
          <p:nvPr/>
        </p:nvSpPr>
        <p:spPr>
          <a:xfrm>
            <a:off x="4950619" y="2844887"/>
            <a:ext cx="3500438" cy="7144"/>
          </a:xfrm>
          <a:prstGeom prst="rect">
            <a:avLst/>
          </a:prstGeom>
          <a:solidFill>
            <a:srgbClr val="D9D9D9"/>
          </a:solidFill>
          <a:ln/>
        </p:spPr>
        <p:txBody>
          <a:bodyPr wrap="square" rtlCol="0" anchor="ctr"/>
          <a:lstStyle/>
          <a:p>
            <a:pPr marL="0" indent="0">
              <a:buNone/>
            </a:pPr>
            <a:endParaRPr lang="en-US" dirty="0"/>
          </a:p>
        </p:txBody>
      </p:sp>
      <p:sp>
        <p:nvSpPr>
          <p:cNvPr id="17" name="Text 15"/>
          <p:cNvSpPr/>
          <p:nvPr/>
        </p:nvSpPr>
        <p:spPr>
          <a:xfrm>
            <a:off x="4950619" y="2944899"/>
            <a:ext cx="320040" cy="164592"/>
          </a:xfrm>
          <a:prstGeom prst="rect">
            <a:avLst/>
          </a:prstGeom>
          <a:noFill/>
          <a:ln/>
        </p:spPr>
        <p:txBody>
          <a:bodyPr wrap="none" lIns="0" tIns="0" rIns="0" bIns="0" rtlCol="0" anchor="t"/>
          <a:lstStyle/>
          <a:p>
            <a:pPr marL="0" indent="0" algn="l">
              <a:lnSpc>
                <a:spcPts val="1181"/>
              </a:lnSpc>
              <a:buNone/>
            </a:pPr>
            <a:r>
              <a:rPr lang="en-US" sz="800" b="1" dirty="0">
                <a:solidFill>
                  <a:srgbClr val="0A0A0A"/>
                </a:solidFill>
                <a:latin typeface="Liberation Sans Narrow" pitchFamily="34" charset="0"/>
                <a:ea typeface="Liberation Sans Narrow" pitchFamily="34" charset="-122"/>
                <a:cs typeface="Liberation Sans Narrow" pitchFamily="34" charset="-120"/>
              </a:rPr>
              <a:t>03</a:t>
            </a:r>
            <a:endParaRPr lang="en-US" sz="800" dirty="0"/>
          </a:p>
        </p:txBody>
      </p:sp>
      <p:sp>
        <p:nvSpPr>
          <p:cNvPr id="18" name="Text 16"/>
          <p:cNvSpPr/>
          <p:nvPr/>
        </p:nvSpPr>
        <p:spPr>
          <a:xfrm>
            <a:off x="5250656" y="2937756"/>
            <a:ext cx="3200400" cy="173352"/>
          </a:xfrm>
          <a:prstGeom prst="rect">
            <a:avLst/>
          </a:prstGeom>
          <a:noFill/>
          <a:ln/>
        </p:spPr>
        <p:txBody>
          <a:bodyPr wrap="square" lIns="0" tIns="0" rIns="0" bIns="0" rtlCol="0" anchor="t"/>
          <a:lstStyle/>
          <a:p>
            <a:pPr marL="0" indent="0" algn="l">
              <a:lnSpc>
                <a:spcPts val="1264"/>
              </a:lnSpc>
              <a:buNone/>
            </a:pPr>
            <a:r>
              <a:rPr lang="en-US" sz="816" dirty="0">
                <a:solidFill>
                  <a:srgbClr val="1F1F1F"/>
                </a:solidFill>
                <a:latin typeface="Carlito" pitchFamily="34" charset="0"/>
                <a:ea typeface="Carlito" pitchFamily="34" charset="-122"/>
                <a:cs typeface="Carlito" pitchFamily="34" charset="-120"/>
              </a:rPr>
              <a:t>Stores indefinitely at negligible cost</a:t>
            </a:r>
            <a:endParaRPr lang="en-US" sz="816" dirty="0"/>
          </a:p>
        </p:txBody>
      </p:sp>
      <p:sp>
        <p:nvSpPr>
          <p:cNvPr id="19" name="Text 17"/>
          <p:cNvSpPr/>
          <p:nvPr/>
        </p:nvSpPr>
        <p:spPr>
          <a:xfrm>
            <a:off x="4950619" y="3183992"/>
            <a:ext cx="3500438" cy="7144"/>
          </a:xfrm>
          <a:prstGeom prst="rect">
            <a:avLst/>
          </a:prstGeom>
          <a:solidFill>
            <a:srgbClr val="D9D9D9"/>
          </a:solidFill>
          <a:ln/>
        </p:spPr>
        <p:txBody>
          <a:bodyPr wrap="square" rtlCol="0" anchor="ctr"/>
          <a:lstStyle/>
          <a:p>
            <a:pPr marL="0" indent="0">
              <a:buNone/>
            </a:pPr>
            <a:endParaRPr lang="en-US" dirty="0"/>
          </a:p>
        </p:txBody>
      </p:sp>
      <p:sp>
        <p:nvSpPr>
          <p:cNvPr id="20" name="Text 18"/>
          <p:cNvSpPr/>
          <p:nvPr/>
        </p:nvSpPr>
        <p:spPr>
          <a:xfrm>
            <a:off x="4950619" y="3284004"/>
            <a:ext cx="320040" cy="164592"/>
          </a:xfrm>
          <a:prstGeom prst="rect">
            <a:avLst/>
          </a:prstGeom>
          <a:noFill/>
          <a:ln/>
        </p:spPr>
        <p:txBody>
          <a:bodyPr wrap="none" lIns="0" tIns="0" rIns="0" bIns="0" rtlCol="0" anchor="t"/>
          <a:lstStyle/>
          <a:p>
            <a:pPr marL="0" indent="0" algn="l">
              <a:lnSpc>
                <a:spcPts val="1181"/>
              </a:lnSpc>
              <a:buNone/>
            </a:pPr>
            <a:r>
              <a:rPr lang="en-US" sz="800" b="1" dirty="0">
                <a:solidFill>
                  <a:srgbClr val="0A0A0A"/>
                </a:solidFill>
                <a:latin typeface="Liberation Sans Narrow" pitchFamily="34" charset="0"/>
                <a:ea typeface="Liberation Sans Narrow" pitchFamily="34" charset="-122"/>
                <a:cs typeface="Liberation Sans Narrow" pitchFamily="34" charset="-120"/>
              </a:rPr>
              <a:t>04</a:t>
            </a:r>
            <a:endParaRPr lang="en-US" sz="800" dirty="0"/>
          </a:p>
        </p:txBody>
      </p:sp>
      <p:sp>
        <p:nvSpPr>
          <p:cNvPr id="21" name="Text 19"/>
          <p:cNvSpPr/>
          <p:nvPr/>
        </p:nvSpPr>
        <p:spPr>
          <a:xfrm>
            <a:off x="5250656" y="3276860"/>
            <a:ext cx="3200400" cy="173352"/>
          </a:xfrm>
          <a:prstGeom prst="rect">
            <a:avLst/>
          </a:prstGeom>
          <a:noFill/>
          <a:ln/>
        </p:spPr>
        <p:txBody>
          <a:bodyPr wrap="square" lIns="0" tIns="0" rIns="0" bIns="0" rtlCol="0" anchor="t"/>
          <a:lstStyle/>
          <a:p>
            <a:pPr marL="0" indent="0" algn="l">
              <a:lnSpc>
                <a:spcPts val="1264"/>
              </a:lnSpc>
              <a:buNone/>
            </a:pPr>
            <a:r>
              <a:rPr lang="en-US" sz="816" dirty="0">
                <a:solidFill>
                  <a:srgbClr val="1F1F1F"/>
                </a:solidFill>
                <a:latin typeface="Carlito" pitchFamily="34" charset="0"/>
                <a:ea typeface="Carlito" pitchFamily="34" charset="-122"/>
                <a:cs typeface="Carlito" pitchFamily="34" charset="-120"/>
              </a:rPr>
              <a:t>Decrypts once a CRQC exists</a:t>
            </a:r>
            <a:endParaRPr lang="en-US" sz="816" dirty="0"/>
          </a:p>
        </p:txBody>
      </p:sp>
      <p:sp>
        <p:nvSpPr>
          <p:cNvPr id="22" name="Shape 20"/>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23" name="Text 21"/>
          <p:cNvSpPr/>
          <p:nvPr/>
        </p:nvSpPr>
        <p:spPr>
          <a:xfrm>
            <a:off x="1463040" y="4846320"/>
            <a:ext cx="7132320" cy="137160"/>
          </a:xfrm>
          <a:prstGeom prst="rect">
            <a:avLst/>
          </a:prstGeom>
          <a:noFill/>
          <a:ln/>
        </p:spPr>
        <p:txBody>
          <a:bodyPr wrap="squar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01 — PROBLEM IDENTIFICATION</a:t>
            </a:r>
            <a:endParaRPr lang="en-US" sz="800" dirty="0"/>
          </a:p>
        </p:txBody>
      </p:sp>
      <p:sp>
        <p:nvSpPr>
          <p:cNvPr id="24" name="Text 22"/>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03 / 39</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206803"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6735440" y="400050"/>
            <a:ext cx="2003938" cy="117872"/>
          </a:xfrm>
          <a:prstGeom prst="rect">
            <a:avLst/>
          </a:prstGeom>
          <a:noFill/>
          <a:ln/>
        </p:spPr>
        <p:txBody>
          <a:bodyPr wrap="squar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SECTION 01 — PROBLEM IDENTIFICATION</a:t>
            </a:r>
            <a:endParaRPr lang="en-US" sz="619" dirty="0"/>
          </a:p>
        </p:txBody>
      </p:sp>
      <p:sp>
        <p:nvSpPr>
          <p:cNvPr id="5" name="Text 3"/>
          <p:cNvSpPr/>
          <p:nvPr/>
        </p:nvSpPr>
        <p:spPr>
          <a:xfrm>
            <a:off x="514350" y="853678"/>
            <a:ext cx="8629650" cy="164592"/>
          </a:xfrm>
          <a:prstGeom prst="rect">
            <a:avLst/>
          </a:prstGeom>
          <a:noFill/>
          <a:ln/>
        </p:spPr>
        <p:txBody>
          <a:bodyPr wrap="square" lIns="0" tIns="0" rIns="0" bIns="0" rtlCol="0" anchor="t"/>
          <a:lstStyle/>
          <a:p>
            <a:pPr marL="0" indent="0" algn="l">
              <a:lnSpc>
                <a:spcPts val="928"/>
              </a:lnSpc>
              <a:buNone/>
            </a:pPr>
            <a:r>
              <a:rPr lang="en-US" sz="800" kern="0" spc="136" dirty="0">
                <a:solidFill>
                  <a:srgbClr val="4A4A4A"/>
                </a:solidFill>
                <a:latin typeface="Carlito" pitchFamily="34" charset="0"/>
                <a:ea typeface="Carlito" pitchFamily="34" charset="-122"/>
                <a:cs typeface="Carlito" pitchFamily="34" charset="-120"/>
              </a:rPr>
              <a:t>1.1 THE DEADLINE — MOSCA'S INEQUALITY</a:t>
            </a:r>
            <a:endParaRPr lang="en-US" sz="800" dirty="0"/>
          </a:p>
        </p:txBody>
      </p:sp>
      <p:sp>
        <p:nvSpPr>
          <p:cNvPr id="6" name="Text 4"/>
          <p:cNvSpPr/>
          <p:nvPr/>
        </p:nvSpPr>
        <p:spPr>
          <a:xfrm>
            <a:off x="514350" y="1057275"/>
            <a:ext cx="8629650" cy="345619"/>
          </a:xfrm>
          <a:prstGeom prst="rect">
            <a:avLst/>
          </a:prstGeom>
          <a:noFill/>
          <a:ln/>
        </p:spPr>
        <p:txBody>
          <a:bodyPr wrap="squar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The deadline that has already passed.</a:t>
            </a:r>
            <a:endParaRPr lang="en-US" sz="2250" dirty="0"/>
          </a:p>
        </p:txBody>
      </p:sp>
      <p:sp>
        <p:nvSpPr>
          <p:cNvPr id="7" name="Text 5"/>
          <p:cNvSpPr/>
          <p:nvPr/>
        </p:nvSpPr>
        <p:spPr>
          <a:xfrm>
            <a:off x="514350" y="1520168"/>
            <a:ext cx="400050" cy="28575"/>
          </a:xfrm>
          <a:prstGeom prst="rect">
            <a:avLst/>
          </a:prstGeom>
          <a:solidFill>
            <a:srgbClr val="0A0A0A"/>
          </a:solidFill>
          <a:ln/>
        </p:spPr>
        <p:txBody>
          <a:bodyPr wrap="square" rtlCol="0" anchor="ctr"/>
          <a:lstStyle/>
          <a:p>
            <a:pPr marL="0" indent="0">
              <a:buNone/>
            </a:pPr>
            <a:endParaRPr lang="en-US" dirty="0"/>
          </a:p>
        </p:txBody>
      </p:sp>
      <p:sp>
        <p:nvSpPr>
          <p:cNvPr id="8" name="Text 6"/>
          <p:cNvSpPr/>
          <p:nvPr/>
        </p:nvSpPr>
        <p:spPr>
          <a:xfrm>
            <a:off x="517922" y="1996232"/>
            <a:ext cx="8108156" cy="1078706"/>
          </a:xfrm>
          <a:prstGeom prst="rect">
            <a:avLst/>
          </a:prstGeom>
          <a:solidFill>
            <a:srgbClr val="F4F4F4"/>
          </a:solidFill>
          <a:ln w="7144">
            <a:solidFill>
              <a:srgbClr val="D9D9D9"/>
            </a:solidFill>
            <a:prstDash val="solid"/>
          </a:ln>
        </p:spPr>
        <p:txBody>
          <a:bodyPr wrap="square" rtlCol="0" anchor="ctr"/>
          <a:lstStyle/>
          <a:p>
            <a:pPr marL="0" indent="0">
              <a:buNone/>
            </a:pPr>
            <a:endParaRPr lang="en-US" dirty="0"/>
          </a:p>
        </p:txBody>
      </p:sp>
      <p:sp>
        <p:nvSpPr>
          <p:cNvPr id="9" name="Text 7"/>
          <p:cNvSpPr/>
          <p:nvPr/>
        </p:nvSpPr>
        <p:spPr>
          <a:xfrm>
            <a:off x="750094" y="2256979"/>
            <a:ext cx="7643813" cy="557213"/>
          </a:xfrm>
          <a:prstGeom prst="rect">
            <a:avLst/>
          </a:prstGeom>
          <a:noFill/>
          <a:ln/>
        </p:spPr>
        <p:txBody>
          <a:bodyPr wrap="none" lIns="0" tIns="0" rIns="0" bIns="0" rtlCol="0" anchor="t"/>
          <a:lstStyle/>
          <a:p>
            <a:pPr marL="0" indent="0" algn="ctr">
              <a:lnSpc>
                <a:spcPts val="4388"/>
              </a:lnSpc>
              <a:buNone/>
            </a:pPr>
            <a:r>
              <a:rPr lang="en-US" sz="4388" b="1" kern="0" spc="263" dirty="0">
                <a:solidFill>
                  <a:srgbClr val="0A0A0A"/>
                </a:solidFill>
                <a:latin typeface="Courier New" pitchFamily="34" charset="0"/>
                <a:ea typeface="Courier New" pitchFamily="34" charset="-122"/>
                <a:cs typeface="Courier New" pitchFamily="34" charset="-120"/>
              </a:rPr>
              <a:t>x + y &gt; z</a:t>
            </a:r>
            <a:endParaRPr lang="en-US" sz="4388" dirty="0"/>
          </a:p>
        </p:txBody>
      </p:sp>
      <p:sp>
        <p:nvSpPr>
          <p:cNvPr id="10" name="Text 8"/>
          <p:cNvSpPr/>
          <p:nvPr/>
        </p:nvSpPr>
        <p:spPr>
          <a:xfrm>
            <a:off x="514350" y="3249960"/>
            <a:ext cx="8115300" cy="7144"/>
          </a:xfrm>
          <a:prstGeom prst="rect">
            <a:avLst/>
          </a:prstGeom>
          <a:solidFill>
            <a:srgbClr val="D9D9D9"/>
          </a:solidFill>
          <a:ln/>
        </p:spPr>
        <p:txBody>
          <a:bodyPr wrap="square" rtlCol="0" anchor="ctr"/>
          <a:lstStyle/>
          <a:p>
            <a:pPr marL="0" indent="0">
              <a:buNone/>
            </a:pPr>
            <a:endParaRPr lang="en-US" dirty="0"/>
          </a:p>
        </p:txBody>
      </p:sp>
      <p:sp>
        <p:nvSpPr>
          <p:cNvPr id="11" name="Text 9"/>
          <p:cNvSpPr/>
          <p:nvPr/>
        </p:nvSpPr>
        <p:spPr>
          <a:xfrm>
            <a:off x="514350" y="3399979"/>
            <a:ext cx="4084260" cy="108299"/>
          </a:xfrm>
          <a:prstGeom prst="rect">
            <a:avLst/>
          </a:prstGeom>
          <a:noFill/>
          <a:ln/>
        </p:spPr>
        <p:txBody>
          <a:bodyPr wrap="none" lIns="0" tIns="0" rIns="0" bIns="0" rtlCol="0" anchor="t">
            <a:normAutofit/>
          </a:bodyPr>
          <a:lstStyle/>
          <a:p>
            <a:pPr marL="0" indent="0" algn="l">
              <a:lnSpc>
                <a:spcPts val="844"/>
              </a:lnSpc>
              <a:buNone/>
            </a:pPr>
            <a:r>
              <a:rPr lang="en-US" sz="800" kern="0" spc="101" dirty="0">
                <a:solidFill>
                  <a:srgbClr val="0A0A0A"/>
                </a:solidFill>
                <a:latin typeface="Courier New" pitchFamily="34" charset="0"/>
                <a:ea typeface="Courier New" pitchFamily="34" charset="-122"/>
                <a:cs typeface="Courier New" pitchFamily="34" charset="-120"/>
              </a:rPr>
              <a:t>X</a:t>
            </a:r>
            <a:endParaRPr lang="en-US" sz="800" dirty="0"/>
          </a:p>
        </p:txBody>
      </p:sp>
      <p:sp>
        <p:nvSpPr>
          <p:cNvPr id="12" name="Text 10"/>
          <p:cNvSpPr/>
          <p:nvPr/>
        </p:nvSpPr>
        <p:spPr>
          <a:xfrm>
            <a:off x="514350" y="3535710"/>
            <a:ext cx="2756876" cy="170053"/>
          </a:xfrm>
          <a:prstGeom prst="rect">
            <a:avLst/>
          </a:prstGeom>
          <a:noFill/>
          <a:ln/>
        </p:spPr>
        <p:txBody>
          <a:bodyPr wrap="square" lIns="0" tIns="0" rIns="0" bIns="0" rtlCol="0" anchor="t"/>
          <a:lstStyle/>
          <a:p>
            <a:pPr marL="0" indent="0" algn="l">
              <a:lnSpc>
                <a:spcPts val="1177"/>
              </a:lnSpc>
              <a:buNone/>
            </a:pPr>
            <a:r>
              <a:rPr lang="en-US" sz="800" dirty="0">
                <a:solidFill>
                  <a:srgbClr val="1F1F1F"/>
                </a:solidFill>
                <a:latin typeface="Carlito" pitchFamily="34" charset="0"/>
                <a:ea typeface="Carlito" pitchFamily="34" charset="-122"/>
                <a:cs typeface="Carlito" pitchFamily="34" charset="-120"/>
              </a:rPr>
              <a:t>years data must stay confidential</a:t>
            </a:r>
            <a:endParaRPr lang="en-US" sz="800" dirty="0"/>
          </a:p>
        </p:txBody>
      </p:sp>
      <p:sp>
        <p:nvSpPr>
          <p:cNvPr id="13" name="Shape 11"/>
          <p:cNvSpPr/>
          <p:nvPr/>
        </p:nvSpPr>
        <p:spPr>
          <a:xfrm>
            <a:off x="3299185" y="3399979"/>
            <a:ext cx="0" cy="285192"/>
          </a:xfrm>
          <a:prstGeom prst="line">
            <a:avLst/>
          </a:prstGeom>
          <a:noFill/>
          <a:ln w="7144">
            <a:solidFill>
              <a:srgbClr val="D9D9D9"/>
            </a:solidFill>
            <a:prstDash val="solid"/>
          </a:ln>
        </p:spPr>
        <p:txBody>
          <a:bodyPr/>
          <a:lstStyle/>
          <a:p>
            <a:endParaRPr lang="en-US"/>
          </a:p>
        </p:txBody>
      </p:sp>
      <p:sp>
        <p:nvSpPr>
          <p:cNvPr id="14" name="Text 12"/>
          <p:cNvSpPr/>
          <p:nvPr/>
        </p:nvSpPr>
        <p:spPr>
          <a:xfrm>
            <a:off x="3474207" y="3399979"/>
            <a:ext cx="2374069" cy="108299"/>
          </a:xfrm>
          <a:prstGeom prst="rect">
            <a:avLst/>
          </a:prstGeom>
          <a:noFill/>
          <a:ln/>
        </p:spPr>
        <p:txBody>
          <a:bodyPr wrap="none" lIns="0" tIns="0" rIns="0" bIns="0" rtlCol="0" anchor="t">
            <a:normAutofit/>
          </a:bodyPr>
          <a:lstStyle/>
          <a:p>
            <a:pPr marL="0" indent="0" algn="l">
              <a:lnSpc>
                <a:spcPts val="844"/>
              </a:lnSpc>
              <a:buNone/>
            </a:pPr>
            <a:r>
              <a:rPr lang="en-US" sz="800" kern="0" spc="101" dirty="0">
                <a:solidFill>
                  <a:srgbClr val="0A0A0A"/>
                </a:solidFill>
                <a:latin typeface="Courier New" pitchFamily="34" charset="0"/>
                <a:ea typeface="Courier New" pitchFamily="34" charset="-122"/>
                <a:cs typeface="Courier New" pitchFamily="34" charset="-120"/>
              </a:rPr>
              <a:t>Y</a:t>
            </a:r>
            <a:endParaRPr lang="en-US" sz="800" dirty="0"/>
          </a:p>
        </p:txBody>
      </p:sp>
      <p:sp>
        <p:nvSpPr>
          <p:cNvPr id="15" name="Text 13"/>
          <p:cNvSpPr/>
          <p:nvPr/>
        </p:nvSpPr>
        <p:spPr>
          <a:xfrm>
            <a:off x="3474207" y="3535710"/>
            <a:ext cx="2483797" cy="149461"/>
          </a:xfrm>
          <a:prstGeom prst="rect">
            <a:avLst/>
          </a:prstGeom>
          <a:noFill/>
          <a:ln/>
        </p:spPr>
        <p:txBody>
          <a:bodyPr wrap="square" lIns="0" tIns="0" rIns="0" bIns="0" rtlCol="0" anchor="t"/>
          <a:lstStyle/>
          <a:p>
            <a:pPr marL="0" indent="0" algn="l">
              <a:lnSpc>
                <a:spcPts val="1177"/>
              </a:lnSpc>
              <a:buNone/>
            </a:pPr>
            <a:r>
              <a:rPr lang="en-US" sz="800" dirty="0">
                <a:solidFill>
                  <a:srgbClr val="1F1F1F"/>
                </a:solidFill>
                <a:latin typeface="Carlito" pitchFamily="34" charset="0"/>
                <a:ea typeface="Carlito" pitchFamily="34" charset="-122"/>
                <a:cs typeface="Carlito" pitchFamily="34" charset="-120"/>
              </a:rPr>
              <a:t>years to complete migration</a:t>
            </a:r>
            <a:endParaRPr lang="en-US" sz="800" dirty="0"/>
          </a:p>
        </p:txBody>
      </p:sp>
      <p:sp>
        <p:nvSpPr>
          <p:cNvPr id="16" name="Shape 14"/>
          <p:cNvSpPr/>
          <p:nvPr/>
        </p:nvSpPr>
        <p:spPr>
          <a:xfrm>
            <a:off x="6080447" y="3399979"/>
            <a:ext cx="0" cy="285192"/>
          </a:xfrm>
          <a:prstGeom prst="line">
            <a:avLst/>
          </a:prstGeom>
          <a:noFill/>
          <a:ln w="7144">
            <a:solidFill>
              <a:srgbClr val="D9D9D9"/>
            </a:solidFill>
            <a:prstDash val="solid"/>
          </a:ln>
        </p:spPr>
        <p:txBody>
          <a:bodyPr/>
          <a:lstStyle/>
          <a:p>
            <a:endParaRPr lang="en-US"/>
          </a:p>
        </p:txBody>
      </p:sp>
      <p:sp>
        <p:nvSpPr>
          <p:cNvPr id="17" name="Text 15"/>
          <p:cNvSpPr/>
          <p:nvPr/>
        </p:nvSpPr>
        <p:spPr>
          <a:xfrm>
            <a:off x="6255469" y="3399979"/>
            <a:ext cx="2374181" cy="108299"/>
          </a:xfrm>
          <a:prstGeom prst="rect">
            <a:avLst/>
          </a:prstGeom>
          <a:noFill/>
          <a:ln/>
        </p:spPr>
        <p:txBody>
          <a:bodyPr wrap="none" lIns="0" tIns="0" rIns="0" bIns="0" rtlCol="0" anchor="t">
            <a:normAutofit/>
          </a:bodyPr>
          <a:lstStyle/>
          <a:p>
            <a:pPr marL="0" indent="0" algn="l">
              <a:lnSpc>
                <a:spcPts val="844"/>
              </a:lnSpc>
              <a:buNone/>
            </a:pPr>
            <a:r>
              <a:rPr lang="en-US" sz="800" kern="0" spc="101" dirty="0">
                <a:solidFill>
                  <a:srgbClr val="0A0A0A"/>
                </a:solidFill>
                <a:latin typeface="Courier New" pitchFamily="34" charset="0"/>
                <a:ea typeface="Courier New" pitchFamily="34" charset="-122"/>
                <a:cs typeface="Courier New" pitchFamily="34" charset="-120"/>
              </a:rPr>
              <a:t>Z</a:t>
            </a:r>
            <a:endParaRPr lang="en-US" sz="800" dirty="0"/>
          </a:p>
        </p:txBody>
      </p:sp>
      <p:sp>
        <p:nvSpPr>
          <p:cNvPr id="18" name="Text 16"/>
          <p:cNvSpPr/>
          <p:nvPr/>
        </p:nvSpPr>
        <p:spPr>
          <a:xfrm>
            <a:off x="6255469" y="3535710"/>
            <a:ext cx="2374181" cy="149461"/>
          </a:xfrm>
          <a:prstGeom prst="rect">
            <a:avLst/>
          </a:prstGeom>
          <a:noFill/>
          <a:ln/>
        </p:spPr>
        <p:txBody>
          <a:bodyPr wrap="none" lIns="0" tIns="0" rIns="0" bIns="0" rtlCol="0" anchor="t"/>
          <a:lstStyle/>
          <a:p>
            <a:pPr marL="0" indent="0" algn="l">
              <a:lnSpc>
                <a:spcPts val="1177"/>
              </a:lnSpc>
              <a:buNone/>
            </a:pPr>
            <a:r>
              <a:rPr lang="en-US" sz="800" dirty="0">
                <a:solidFill>
                  <a:srgbClr val="1F1F1F"/>
                </a:solidFill>
                <a:latin typeface="Carlito" pitchFamily="34" charset="0"/>
                <a:ea typeface="Carlito" pitchFamily="34" charset="-122"/>
                <a:cs typeface="Carlito" pitchFamily="34" charset="-120"/>
              </a:rPr>
              <a:t>years until a CRQC</a:t>
            </a:r>
            <a:endParaRPr lang="en-US" sz="800" dirty="0"/>
          </a:p>
        </p:txBody>
      </p:sp>
      <p:sp>
        <p:nvSpPr>
          <p:cNvPr id="19" name="Text 17"/>
          <p:cNvSpPr/>
          <p:nvPr/>
        </p:nvSpPr>
        <p:spPr>
          <a:xfrm>
            <a:off x="514350" y="3885195"/>
            <a:ext cx="7858125" cy="370332"/>
          </a:xfrm>
          <a:prstGeom prst="rect">
            <a:avLst/>
          </a:prstGeom>
          <a:noFill/>
          <a:ln/>
        </p:spPr>
        <p:txBody>
          <a:bodyPr wrap="square" lIns="0" tIns="0" rIns="0" bIns="0" rtlCol="0" anchor="t"/>
          <a:lstStyle/>
          <a:p>
            <a:pPr marL="0" indent="0" algn="l">
              <a:lnSpc>
                <a:spcPts val="1350"/>
              </a:lnSpc>
              <a:buNone/>
            </a:pPr>
            <a:r>
              <a:rPr lang="en-US" sz="844" dirty="0">
                <a:solidFill>
                  <a:srgbClr val="1F1F1F"/>
                </a:solidFill>
                <a:latin typeface="Carlito" pitchFamily="34" charset="0"/>
                <a:ea typeface="Carlito" pitchFamily="34" charset="-122"/>
                <a:cs typeface="Carlito" pitchFamily="34" charset="-120"/>
              </a:rPr>
              <a:t>For sectors with 25–50 year retention obligations — health records, life insurance, legal archives, genomic data — the inequality is already violated. Critically, HNDL exposure is a property of the data, not of the algorithm: two identical RSA.encrypt() calls carry radically different risk.</a:t>
            </a:r>
            <a:endParaRPr lang="en-US" sz="844" dirty="0"/>
          </a:p>
        </p:txBody>
      </p:sp>
      <p:sp>
        <p:nvSpPr>
          <p:cNvPr id="20" name="Shape 18"/>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21" name="Text 19"/>
          <p:cNvSpPr/>
          <p:nvPr/>
        </p:nvSpPr>
        <p:spPr>
          <a:xfrm>
            <a:off x="1463040" y="4846320"/>
            <a:ext cx="7132320" cy="137160"/>
          </a:xfrm>
          <a:prstGeom prst="rect">
            <a:avLst/>
          </a:prstGeom>
          <a:noFill/>
          <a:ln/>
        </p:spPr>
        <p:txBody>
          <a:bodyPr wrap="squar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01 — PROBLEM IDENTIFICATION</a:t>
            </a:r>
            <a:endParaRPr lang="en-US" sz="800" dirty="0"/>
          </a:p>
        </p:txBody>
      </p:sp>
      <p:sp>
        <p:nvSpPr>
          <p:cNvPr id="22" name="Text 20"/>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04 / 39</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206803"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6735440" y="400050"/>
            <a:ext cx="2003938" cy="117872"/>
          </a:xfrm>
          <a:prstGeom prst="rect">
            <a:avLst/>
          </a:prstGeom>
          <a:noFill/>
          <a:ln/>
        </p:spPr>
        <p:txBody>
          <a:bodyPr wrap="squar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SECTION 01 — PROBLEM IDENTIFICATION</a:t>
            </a:r>
            <a:endParaRPr lang="en-US" sz="619" dirty="0"/>
          </a:p>
        </p:txBody>
      </p:sp>
      <p:sp>
        <p:nvSpPr>
          <p:cNvPr id="5" name="Text 3"/>
          <p:cNvSpPr/>
          <p:nvPr/>
        </p:nvSpPr>
        <p:spPr>
          <a:xfrm>
            <a:off x="514350" y="853678"/>
            <a:ext cx="8629650" cy="164592"/>
          </a:xfrm>
          <a:prstGeom prst="rect">
            <a:avLst/>
          </a:prstGeom>
          <a:noFill/>
          <a:ln/>
        </p:spPr>
        <p:txBody>
          <a:bodyPr wrap="none" lIns="0" tIns="0" rIns="0" bIns="0" rtlCol="0" anchor="t"/>
          <a:lstStyle/>
          <a:p>
            <a:pPr marL="0" indent="0" algn="l">
              <a:lnSpc>
                <a:spcPts val="928"/>
              </a:lnSpc>
              <a:buNone/>
            </a:pPr>
            <a:r>
              <a:rPr lang="en-US" sz="800" kern="0" spc="136" dirty="0">
                <a:solidFill>
                  <a:srgbClr val="4A4A4A"/>
                </a:solidFill>
                <a:latin typeface="Liberation Sans Narrow" pitchFamily="34" charset="0"/>
                <a:ea typeface="Liberation Sans Narrow" pitchFamily="34" charset="-122"/>
                <a:cs typeface="Liberation Sans Narrow" pitchFamily="34" charset="-120"/>
              </a:rPr>
              <a:t>1.2 THE SPECIFIC GAP</a:t>
            </a:r>
            <a:endParaRPr lang="en-US" sz="800" dirty="0"/>
          </a:p>
        </p:txBody>
      </p:sp>
      <p:sp>
        <p:nvSpPr>
          <p:cNvPr id="6" name="Text 4"/>
          <p:cNvSpPr/>
          <p:nvPr/>
        </p:nvSpPr>
        <p:spPr>
          <a:xfrm>
            <a:off x="514350" y="1057275"/>
            <a:ext cx="8629650" cy="345619"/>
          </a:xfrm>
          <a:prstGeom prst="rect">
            <a:avLst/>
          </a:prstGeom>
          <a:noFill/>
          <a:ln/>
        </p:spPr>
        <p:txBody>
          <a:bodyPr wrap="squar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Inventories are semantically flat.</a:t>
            </a:r>
            <a:endParaRPr lang="en-US" sz="2250" dirty="0"/>
          </a:p>
        </p:txBody>
      </p:sp>
      <p:sp>
        <p:nvSpPr>
          <p:cNvPr id="7" name="Text 5"/>
          <p:cNvSpPr/>
          <p:nvPr/>
        </p:nvSpPr>
        <p:spPr>
          <a:xfrm>
            <a:off x="514350" y="1520168"/>
            <a:ext cx="400050" cy="28575"/>
          </a:xfrm>
          <a:prstGeom prst="rect">
            <a:avLst/>
          </a:prstGeom>
          <a:solidFill>
            <a:srgbClr val="0A0A0A"/>
          </a:solidFill>
          <a:ln/>
        </p:spPr>
        <p:txBody>
          <a:bodyPr wrap="square" rtlCol="0" anchor="ctr"/>
          <a:lstStyle/>
          <a:p>
            <a:pPr marL="0" indent="0">
              <a:buNone/>
            </a:pPr>
            <a:endParaRPr lang="en-US" dirty="0"/>
          </a:p>
        </p:txBody>
      </p:sp>
      <p:sp>
        <p:nvSpPr>
          <p:cNvPr id="8" name="Text 6"/>
          <p:cNvSpPr/>
          <p:nvPr/>
        </p:nvSpPr>
        <p:spPr>
          <a:xfrm>
            <a:off x="514350" y="1641726"/>
            <a:ext cx="7858125" cy="649166"/>
          </a:xfrm>
          <a:prstGeom prst="rect">
            <a:avLst/>
          </a:prstGeom>
          <a:noFill/>
          <a:ln/>
        </p:spPr>
        <p:txBody>
          <a:bodyPr wrap="square" lIns="0" tIns="0" rIns="0" bIns="0" rtlCol="0" anchor="t"/>
          <a:lstStyle/>
          <a:p>
            <a:pPr marL="0" indent="0" algn="l">
              <a:lnSpc>
                <a:spcPts val="1578"/>
              </a:lnSpc>
              <a:buNone/>
            </a:pPr>
            <a:r>
              <a:rPr lang="en-US" sz="956" dirty="0">
                <a:solidFill>
                  <a:srgbClr val="1F1F1F"/>
                </a:solidFill>
                <a:latin typeface="Carlito" pitchFamily="34" charset="0"/>
                <a:ea typeface="Carlito" pitchFamily="34" charset="-122"/>
                <a:cs typeface="Carlito" pitchFamily="34" charset="-120"/>
              </a:rPr>
              <a:t>Cryptographic discovery tooling has matured rapidly — </a:t>
            </a:r>
            <a:r>
              <a:rPr lang="en-US" sz="956" dirty="0">
                <a:solidFill>
                  <a:srgbClr val="0A0A0A"/>
                </a:solidFill>
                <a:latin typeface="Carlito" pitchFamily="34" charset="0"/>
                <a:ea typeface="Carlito" pitchFamily="34" charset="-122"/>
                <a:cs typeface="Carlito" pitchFamily="34" charset="-120"/>
              </a:rPr>
              <a:t>CBOMkit</a:t>
            </a:r>
            <a:r>
              <a:rPr lang="en-US" sz="956" dirty="0">
                <a:solidFill>
                  <a:srgbClr val="1F1F1F"/>
                </a:solidFill>
                <a:latin typeface="Carlito" pitchFamily="34" charset="0"/>
                <a:ea typeface="Carlito" pitchFamily="34" charset="-122"/>
                <a:cs typeface="Carlito" pitchFamily="34" charset="-120"/>
              </a:rPr>
              <a:t>, </a:t>
            </a:r>
            <a:r>
              <a:rPr lang="en-US" sz="956" dirty="0">
                <a:solidFill>
                  <a:srgbClr val="0A0A0A"/>
                </a:solidFill>
                <a:latin typeface="Carlito" pitchFamily="34" charset="0"/>
                <a:ea typeface="Carlito" pitchFamily="34" charset="-122"/>
                <a:cs typeface="Carlito" pitchFamily="34" charset="-120"/>
              </a:rPr>
              <a:t>IBM Quantum Safe Explorer</a:t>
            </a:r>
            <a:r>
              <a:rPr lang="en-US" sz="956" dirty="0">
                <a:solidFill>
                  <a:srgbClr val="1F1F1F"/>
                </a:solidFill>
                <a:latin typeface="Carlito" pitchFamily="34" charset="0"/>
                <a:ea typeface="Carlito" pitchFamily="34" charset="-122"/>
                <a:cs typeface="Carlito" pitchFamily="34" charset="-120"/>
              </a:rPr>
              <a:t>, </a:t>
            </a:r>
            <a:r>
              <a:rPr lang="en-US" sz="956" dirty="0">
                <a:solidFill>
                  <a:srgbClr val="0A0A0A"/>
                </a:solidFill>
                <a:latin typeface="Carlito" pitchFamily="34" charset="0"/>
                <a:ea typeface="Carlito" pitchFamily="34" charset="-122"/>
                <a:cs typeface="Carlito" pitchFamily="34" charset="-120"/>
              </a:rPr>
              <a:t>SandboxAQ AQtive Guard</a:t>
            </a:r>
            <a:r>
              <a:rPr lang="en-US" sz="956" dirty="0">
                <a:solidFill>
                  <a:srgbClr val="1F1F1F"/>
                </a:solidFill>
                <a:latin typeface="Carlito" pitchFamily="34" charset="0"/>
                <a:ea typeface="Carlito" pitchFamily="34" charset="-122"/>
                <a:cs typeface="Carlito" pitchFamily="34" charset="-120"/>
              </a:rPr>
              <a:t>, and the academic scanner </a:t>
            </a:r>
            <a:r>
              <a:rPr lang="en-US" sz="956" dirty="0">
                <a:solidFill>
                  <a:srgbClr val="0A0A0A"/>
                </a:solidFill>
                <a:latin typeface="Carlito" pitchFamily="34" charset="0"/>
                <a:ea typeface="Carlito" pitchFamily="34" charset="-122"/>
                <a:cs typeface="Carlito" pitchFamily="34" charset="-120"/>
              </a:rPr>
              <a:t>Crypsy</a:t>
            </a:r>
            <a:r>
              <a:rPr lang="en-US" sz="956" dirty="0">
                <a:solidFill>
                  <a:srgbClr val="1F1F1F"/>
                </a:solidFill>
                <a:latin typeface="Carlito" pitchFamily="34" charset="0"/>
                <a:ea typeface="Carlito" pitchFamily="34" charset="-122"/>
                <a:cs typeface="Carlito" pitchFamily="34" charset="-120"/>
              </a:rPr>
              <a:t>. The Cryptography Bill of Materials (CBOM) has been standardised as a </a:t>
            </a:r>
            <a:r>
              <a:rPr lang="en-US" sz="956" dirty="0">
                <a:solidFill>
                  <a:srgbClr val="0A0A0A"/>
                </a:solidFill>
                <a:latin typeface="Liberation Sans Narrow" pitchFamily="34" charset="0"/>
                <a:ea typeface="Liberation Sans Narrow" pitchFamily="34" charset="-122"/>
                <a:cs typeface="Liberation Sans Narrow" pitchFamily="34" charset="-120"/>
              </a:rPr>
              <a:t>CycloneDX 1.6</a:t>
            </a:r>
            <a:r>
              <a:rPr lang="en-US" sz="956" dirty="0">
                <a:solidFill>
                  <a:srgbClr val="1F1F1F"/>
                </a:solidFill>
                <a:latin typeface="Carlito" pitchFamily="34" charset="0"/>
                <a:ea typeface="Carlito" pitchFamily="34" charset="-122"/>
                <a:cs typeface="Carlito" pitchFamily="34" charset="-120"/>
              </a:rPr>
              <a:t> extension. Yet the output of every existing tool is the same flat list: </a:t>
            </a:r>
            <a:r>
              <a:rPr lang="en-US" sz="872" dirty="0">
                <a:solidFill>
                  <a:srgbClr val="1F1F1F"/>
                </a:solidFill>
                <a:latin typeface="Courier New" pitchFamily="34" charset="0"/>
                <a:ea typeface="Courier New" pitchFamily="34" charset="-122"/>
                <a:cs typeface="Courier New" pitchFamily="34" charset="-120"/>
              </a:rPr>
              <a:t>RSA-2048 appears at payments/crypto.py:214</a:t>
            </a:r>
            <a:r>
              <a:rPr lang="en-US" sz="956" dirty="0">
                <a:solidFill>
                  <a:srgbClr val="1F1F1F"/>
                </a:solidFill>
                <a:latin typeface="Carlito" pitchFamily="34" charset="0"/>
                <a:ea typeface="Carlito" pitchFamily="34" charset="-122"/>
                <a:cs typeface="Carlito" pitchFamily="34" charset="-120"/>
              </a:rPr>
              <a:t>. No tool records what that call protects, for how long, or who can reach it.</a:t>
            </a:r>
            <a:endParaRPr lang="en-US" sz="956" dirty="0"/>
          </a:p>
        </p:txBody>
      </p:sp>
      <p:sp>
        <p:nvSpPr>
          <p:cNvPr id="9" name="Text 7"/>
          <p:cNvSpPr/>
          <p:nvPr/>
        </p:nvSpPr>
        <p:spPr>
          <a:xfrm>
            <a:off x="514350" y="2529056"/>
            <a:ext cx="8108156" cy="752884"/>
          </a:xfrm>
          <a:prstGeom prst="rect">
            <a:avLst/>
          </a:prstGeom>
          <a:solidFill>
            <a:srgbClr val="F4F4F4"/>
          </a:solidFill>
          <a:ln w="7144">
            <a:solidFill>
              <a:srgbClr val="D9D9D9"/>
            </a:solidFill>
            <a:prstDash val="solid"/>
          </a:ln>
        </p:spPr>
        <p:txBody>
          <a:bodyPr wrap="square" rtlCol="0" anchor="ctr"/>
          <a:lstStyle/>
          <a:p>
            <a:pPr marL="0" indent="0">
              <a:buNone/>
            </a:pPr>
            <a:endParaRPr lang="en-US" dirty="0"/>
          </a:p>
        </p:txBody>
      </p:sp>
      <p:sp>
        <p:nvSpPr>
          <p:cNvPr id="10" name="Text 8"/>
          <p:cNvSpPr/>
          <p:nvPr/>
        </p:nvSpPr>
        <p:spPr>
          <a:xfrm>
            <a:off x="714375" y="2726587"/>
            <a:ext cx="7643813" cy="345691"/>
          </a:xfrm>
          <a:prstGeom prst="rect">
            <a:avLst/>
          </a:prstGeom>
          <a:noFill/>
          <a:ln/>
        </p:spPr>
        <p:txBody>
          <a:bodyPr wrap="square" lIns="0" tIns="42863" rIns="0" bIns="42863" rtlCol="0" anchor="t"/>
          <a:lstStyle/>
          <a:p>
            <a:pPr marL="0" indent="0" algn="l">
              <a:lnSpc>
                <a:spcPts val="2047"/>
              </a:lnSpc>
              <a:buNone/>
            </a:pPr>
            <a:r>
              <a:rPr lang="en-US" sz="1463" i="1" dirty="0">
                <a:solidFill>
                  <a:srgbClr val="0A0A0A"/>
                </a:solidFill>
                <a:latin typeface="Tinos" pitchFamily="34" charset="0"/>
                <a:ea typeface="Tinos" pitchFamily="34" charset="-122"/>
                <a:cs typeface="Tinos" pitchFamily="34" charset="-120"/>
              </a:rPr>
              <a:t>“Reports what cryptography exists. Does not answer what to migrate first.”</a:t>
            </a:r>
            <a:endParaRPr lang="en-US" sz="1463" dirty="0"/>
          </a:p>
        </p:txBody>
      </p:sp>
      <p:sp>
        <p:nvSpPr>
          <p:cNvPr id="11" name="Shape 9"/>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12" name="Text 10"/>
          <p:cNvSpPr/>
          <p:nvPr/>
        </p:nvSpPr>
        <p:spPr>
          <a:xfrm>
            <a:off x="1463040" y="4846320"/>
            <a:ext cx="7132320" cy="137160"/>
          </a:xfrm>
          <a:prstGeom prst="rect">
            <a:avLst/>
          </a:prstGeom>
          <a:noFill/>
          <a:ln/>
        </p:spPr>
        <p:txBody>
          <a:bodyPr wrap="squar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01 — PROBLEM IDENTIFICATION</a:t>
            </a:r>
            <a:endParaRPr lang="en-US" sz="800" dirty="0"/>
          </a:p>
        </p:txBody>
      </p:sp>
      <p:sp>
        <p:nvSpPr>
          <p:cNvPr id="13" name="Text 11"/>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05 / 39</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206803"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6735440" y="400050"/>
            <a:ext cx="2003938" cy="117872"/>
          </a:xfrm>
          <a:prstGeom prst="rect">
            <a:avLst/>
          </a:prstGeom>
          <a:noFill/>
          <a:ln/>
        </p:spPr>
        <p:txBody>
          <a:bodyPr wrap="squar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SECTION 01 — PROBLEM IDENTIFICATION</a:t>
            </a:r>
            <a:endParaRPr lang="en-US" sz="619" dirty="0"/>
          </a:p>
        </p:txBody>
      </p:sp>
      <p:sp>
        <p:nvSpPr>
          <p:cNvPr id="5" name="Text 3"/>
          <p:cNvSpPr/>
          <p:nvPr/>
        </p:nvSpPr>
        <p:spPr>
          <a:xfrm>
            <a:off x="514350" y="853678"/>
            <a:ext cx="8629650" cy="164592"/>
          </a:xfrm>
          <a:prstGeom prst="rect">
            <a:avLst/>
          </a:prstGeom>
          <a:noFill/>
          <a:ln/>
        </p:spPr>
        <p:txBody>
          <a:bodyPr wrap="none" lIns="0" tIns="0" rIns="0" bIns="0" rtlCol="0" anchor="t"/>
          <a:lstStyle/>
          <a:p>
            <a:pPr marL="0" indent="0" algn="l">
              <a:lnSpc>
                <a:spcPts val="928"/>
              </a:lnSpc>
              <a:buNone/>
            </a:pPr>
            <a:r>
              <a:rPr lang="en-US" sz="800" kern="0" spc="136" dirty="0">
                <a:solidFill>
                  <a:srgbClr val="4A4A4A"/>
                </a:solidFill>
                <a:latin typeface="Liberation Sans Narrow" pitchFamily="34" charset="0"/>
                <a:ea typeface="Liberation Sans Narrow" pitchFamily="34" charset="-122"/>
                <a:cs typeface="Liberation Sans Narrow" pitchFamily="34" charset="-120"/>
              </a:rPr>
              <a:t>1.2 CONSEQUENCE 1</a:t>
            </a:r>
            <a:endParaRPr lang="en-US" sz="800" dirty="0"/>
          </a:p>
        </p:txBody>
      </p:sp>
      <p:sp>
        <p:nvSpPr>
          <p:cNvPr id="6" name="Text 4"/>
          <p:cNvSpPr/>
          <p:nvPr/>
        </p:nvSpPr>
        <p:spPr>
          <a:xfrm>
            <a:off x="514350" y="1057275"/>
            <a:ext cx="8629650" cy="345619"/>
          </a:xfrm>
          <a:prstGeom prst="rect">
            <a:avLst/>
          </a:prstGeom>
          <a:noFill/>
          <a:ln/>
        </p:spPr>
        <p:txBody>
          <a:bodyPr wrap="squar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Two of three findings are noise.</a:t>
            </a:r>
            <a:endParaRPr lang="en-US" sz="2250" dirty="0"/>
          </a:p>
        </p:txBody>
      </p:sp>
      <p:sp>
        <p:nvSpPr>
          <p:cNvPr id="7" name="Text 5"/>
          <p:cNvSpPr/>
          <p:nvPr/>
        </p:nvSpPr>
        <p:spPr>
          <a:xfrm>
            <a:off x="514350" y="1520168"/>
            <a:ext cx="400050" cy="28575"/>
          </a:xfrm>
          <a:prstGeom prst="rect">
            <a:avLst/>
          </a:prstGeom>
          <a:solidFill>
            <a:srgbClr val="0A0A0A"/>
          </a:solidFill>
          <a:ln/>
        </p:spPr>
        <p:txBody>
          <a:bodyPr wrap="square" rtlCol="0" anchor="ctr"/>
          <a:lstStyle/>
          <a:p>
            <a:pPr marL="0" indent="0">
              <a:buNone/>
            </a:pPr>
            <a:endParaRPr lang="en-US" dirty="0"/>
          </a:p>
        </p:txBody>
      </p:sp>
      <p:sp>
        <p:nvSpPr>
          <p:cNvPr id="8" name="Shape 6"/>
          <p:cNvSpPr/>
          <p:nvPr/>
        </p:nvSpPr>
        <p:spPr>
          <a:xfrm>
            <a:off x="4336256" y="1961510"/>
            <a:ext cx="0" cy="1387227"/>
          </a:xfrm>
          <a:prstGeom prst="line">
            <a:avLst/>
          </a:prstGeom>
          <a:noFill/>
          <a:ln w="7144">
            <a:solidFill>
              <a:srgbClr val="D9D9D9"/>
            </a:solidFill>
            <a:prstDash val="solid"/>
          </a:ln>
        </p:spPr>
        <p:txBody>
          <a:bodyPr/>
          <a:lstStyle/>
          <a:p>
            <a:endParaRPr lang="en-US"/>
          </a:p>
        </p:txBody>
      </p:sp>
      <p:sp>
        <p:nvSpPr>
          <p:cNvPr id="9" name="Text 7"/>
          <p:cNvSpPr/>
          <p:nvPr/>
        </p:nvSpPr>
        <p:spPr>
          <a:xfrm>
            <a:off x="514350" y="1770933"/>
            <a:ext cx="3479006" cy="925830"/>
          </a:xfrm>
          <a:prstGeom prst="rect">
            <a:avLst/>
          </a:prstGeom>
          <a:noFill/>
          <a:ln/>
        </p:spPr>
        <p:txBody>
          <a:bodyPr wrap="none" lIns="0" tIns="0" rIns="0" bIns="0" rtlCol="0" anchor="t"/>
          <a:lstStyle/>
          <a:p>
            <a:pPr marL="0" indent="0" algn="l">
              <a:lnSpc>
                <a:spcPts val="6750"/>
              </a:lnSpc>
              <a:buNone/>
            </a:pPr>
            <a:r>
              <a:rPr lang="en-US" sz="6750" b="1" kern="0" spc="-270" dirty="0">
                <a:solidFill>
                  <a:srgbClr val="0A0A0A"/>
                </a:solidFill>
                <a:latin typeface="Liberation Sans Narrow" pitchFamily="34" charset="0"/>
                <a:ea typeface="Liberation Sans Narrow" pitchFamily="34" charset="-122"/>
                <a:cs typeface="Liberation Sans Narrow" pitchFamily="34" charset="-120"/>
              </a:rPr>
              <a:t>~0.30</a:t>
            </a:r>
            <a:endParaRPr lang="en-US" sz="6750" dirty="0"/>
          </a:p>
        </p:txBody>
      </p:sp>
      <p:sp>
        <p:nvSpPr>
          <p:cNvPr id="10" name="Text 8"/>
          <p:cNvSpPr/>
          <p:nvPr/>
        </p:nvSpPr>
        <p:spPr>
          <a:xfrm>
            <a:off x="484853" y="2703763"/>
            <a:ext cx="3479006" cy="164592"/>
          </a:xfrm>
          <a:prstGeom prst="rect">
            <a:avLst/>
          </a:prstGeom>
          <a:noFill/>
          <a:ln/>
        </p:spPr>
        <p:txBody>
          <a:bodyPr wrap="square" lIns="0" tIns="0" rIns="0" bIns="0" rtlCol="0" anchor="t"/>
          <a:lstStyle/>
          <a:p>
            <a:pPr marL="0" indent="0" algn="l">
              <a:lnSpc>
                <a:spcPts val="928"/>
              </a:lnSpc>
              <a:buNone/>
            </a:pPr>
            <a:r>
              <a:rPr lang="en-US" sz="619" kern="0" spc="136" dirty="0">
                <a:solidFill>
                  <a:srgbClr val="4A4A4A"/>
                </a:solidFill>
                <a:latin typeface="Carlito" pitchFamily="34" charset="0"/>
                <a:ea typeface="Carlito" pitchFamily="34" charset="-122"/>
                <a:cs typeface="Carlito" pitchFamily="34" charset="-120"/>
              </a:rPr>
              <a:t>REAL-WORLD ACTIONABLE-FINDING PRECISION (CRYPSY, 2026)</a:t>
            </a:r>
            <a:endParaRPr lang="en-US" sz="619" dirty="0"/>
          </a:p>
        </p:txBody>
      </p:sp>
      <p:sp>
        <p:nvSpPr>
          <p:cNvPr id="11" name="Text 9"/>
          <p:cNvSpPr/>
          <p:nvPr/>
        </p:nvSpPr>
        <p:spPr>
          <a:xfrm>
            <a:off x="484853" y="2985706"/>
            <a:ext cx="3479006" cy="154930"/>
          </a:xfrm>
          <a:prstGeom prst="rect">
            <a:avLst/>
          </a:prstGeom>
          <a:noFill/>
          <a:ln/>
        </p:spPr>
        <p:txBody>
          <a:bodyPr wrap="square" lIns="0" tIns="0" rIns="0" bIns="0" rtlCol="0" anchor="t"/>
          <a:lstStyle/>
          <a:p>
            <a:pPr marL="0" indent="0" algn="l">
              <a:lnSpc>
                <a:spcPts val="1221"/>
              </a:lnSpc>
              <a:buNone/>
            </a:pPr>
            <a:r>
              <a:rPr lang="en-US" sz="788" dirty="0">
                <a:solidFill>
                  <a:srgbClr val="1F1F1F"/>
                </a:solidFill>
                <a:latin typeface="Carlito" pitchFamily="34" charset="0"/>
                <a:ea typeface="Carlito" pitchFamily="34" charset="-122"/>
                <a:cs typeface="Carlito" pitchFamily="34" charset="-120"/>
              </a:rPr>
              <a:t>Assessment rules fire on all matching invocations regardless of usage context.</a:t>
            </a:r>
            <a:endParaRPr lang="en-US" sz="788" dirty="0"/>
          </a:p>
        </p:txBody>
      </p:sp>
      <p:sp>
        <p:nvSpPr>
          <p:cNvPr id="12" name="Text 10"/>
          <p:cNvSpPr/>
          <p:nvPr/>
        </p:nvSpPr>
        <p:spPr>
          <a:xfrm>
            <a:off x="4800600" y="2359329"/>
            <a:ext cx="3829050" cy="1018051"/>
          </a:xfrm>
          <a:prstGeom prst="rect">
            <a:avLst/>
          </a:prstGeom>
          <a:noFill/>
          <a:ln/>
        </p:spPr>
        <p:txBody>
          <a:bodyPr wrap="square" lIns="0" tIns="0" rIns="0" bIns="0" rtlCol="0" anchor="t"/>
          <a:lstStyle/>
          <a:p>
            <a:pPr marL="0" indent="0" algn="l">
              <a:lnSpc>
                <a:spcPts val="1485"/>
              </a:lnSpc>
              <a:buNone/>
            </a:pPr>
            <a:r>
              <a:rPr lang="en-US" sz="900" dirty="0">
                <a:solidFill>
                  <a:srgbClr val="1F1F1F"/>
                </a:solidFill>
                <a:latin typeface="Carlito" pitchFamily="34" charset="0"/>
                <a:ea typeface="Carlito" pitchFamily="34" charset="-122"/>
                <a:cs typeface="Carlito" pitchFamily="34" charset="-120"/>
              </a:rPr>
              <a:t>A rule for weak password hashing cannot tell a password from a cache key because the rule sees only the call, not the value flowing into it. Non-security hashing — cache keys, ETags, checksums — is matched identically to password hashing. Triage becomes manual, expensive, and unbounded in scale.</a:t>
            </a:r>
            <a:endParaRPr lang="en-US" sz="900" dirty="0"/>
          </a:p>
        </p:txBody>
      </p:sp>
      <p:sp>
        <p:nvSpPr>
          <p:cNvPr id="13" name="Shape 11"/>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14" name="Text 12"/>
          <p:cNvSpPr/>
          <p:nvPr/>
        </p:nvSpPr>
        <p:spPr>
          <a:xfrm>
            <a:off x="1463040" y="4846320"/>
            <a:ext cx="7132320" cy="137160"/>
          </a:xfrm>
          <a:prstGeom prst="rect">
            <a:avLst/>
          </a:prstGeom>
          <a:noFill/>
          <a:ln/>
        </p:spPr>
        <p:txBody>
          <a:bodyPr wrap="squar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01 — PROBLEM IDENTIFICATION</a:t>
            </a:r>
            <a:endParaRPr lang="en-US" sz="800" dirty="0"/>
          </a:p>
        </p:txBody>
      </p:sp>
      <p:sp>
        <p:nvSpPr>
          <p:cNvPr id="15" name="Text 13"/>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06 / 39</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206803"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6735440" y="400050"/>
            <a:ext cx="2003938" cy="117872"/>
          </a:xfrm>
          <a:prstGeom prst="rect">
            <a:avLst/>
          </a:prstGeom>
          <a:noFill/>
          <a:ln/>
        </p:spPr>
        <p:txBody>
          <a:bodyPr wrap="squar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SECTION 01 — PROBLEM IDENTIFICATION</a:t>
            </a:r>
            <a:endParaRPr lang="en-US" sz="619" dirty="0"/>
          </a:p>
        </p:txBody>
      </p:sp>
      <p:sp>
        <p:nvSpPr>
          <p:cNvPr id="5" name="Text 3"/>
          <p:cNvSpPr/>
          <p:nvPr/>
        </p:nvSpPr>
        <p:spPr>
          <a:xfrm>
            <a:off x="514350" y="853678"/>
            <a:ext cx="8629650" cy="164592"/>
          </a:xfrm>
          <a:prstGeom prst="rect">
            <a:avLst/>
          </a:prstGeom>
          <a:noFill/>
          <a:ln/>
        </p:spPr>
        <p:txBody>
          <a:bodyPr wrap="none" lIns="0" tIns="0" rIns="0" bIns="0" rtlCol="0" anchor="t"/>
          <a:lstStyle/>
          <a:p>
            <a:pPr marL="0" indent="0" algn="l">
              <a:lnSpc>
                <a:spcPts val="928"/>
              </a:lnSpc>
              <a:buNone/>
            </a:pPr>
            <a:r>
              <a:rPr lang="en-US" sz="800" kern="0" spc="136" dirty="0">
                <a:solidFill>
                  <a:srgbClr val="4A4A4A"/>
                </a:solidFill>
                <a:latin typeface="Liberation Sans Narrow" pitchFamily="34" charset="0"/>
                <a:ea typeface="Liberation Sans Narrow" pitchFamily="34" charset="-122"/>
                <a:cs typeface="Liberation Sans Narrow" pitchFamily="34" charset="-120"/>
              </a:rPr>
              <a:t>1.2 CONSEQUENCE 2</a:t>
            </a:r>
            <a:endParaRPr lang="en-US" sz="800" dirty="0"/>
          </a:p>
        </p:txBody>
      </p:sp>
      <p:sp>
        <p:nvSpPr>
          <p:cNvPr id="6" name="Text 4"/>
          <p:cNvSpPr/>
          <p:nvPr/>
        </p:nvSpPr>
        <p:spPr>
          <a:xfrm>
            <a:off x="514350" y="1057275"/>
            <a:ext cx="8629650" cy="345619"/>
          </a:xfrm>
          <a:prstGeom prst="rect">
            <a:avLst/>
          </a:prstGeom>
          <a:noFill/>
          <a:ln/>
        </p:spPr>
        <p:txBody>
          <a:bodyPr wrap="squar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Identical scores for identical algorithms.</a:t>
            </a:r>
            <a:endParaRPr lang="en-US" sz="2250" dirty="0"/>
          </a:p>
        </p:txBody>
      </p:sp>
      <p:sp>
        <p:nvSpPr>
          <p:cNvPr id="7" name="Text 5"/>
          <p:cNvSpPr/>
          <p:nvPr/>
        </p:nvSpPr>
        <p:spPr>
          <a:xfrm>
            <a:off x="514350" y="1520168"/>
            <a:ext cx="400050" cy="28575"/>
          </a:xfrm>
          <a:prstGeom prst="rect">
            <a:avLst/>
          </a:prstGeom>
          <a:solidFill>
            <a:srgbClr val="0A0A0A"/>
          </a:solidFill>
          <a:ln/>
        </p:spPr>
        <p:txBody>
          <a:bodyPr wrap="square" rtlCol="0" anchor="ctr"/>
          <a:lstStyle/>
          <a:p>
            <a:pPr marL="0" indent="0">
              <a:buNone/>
            </a:pPr>
            <a:endParaRPr lang="en-US" dirty="0"/>
          </a:p>
        </p:txBody>
      </p:sp>
      <p:sp>
        <p:nvSpPr>
          <p:cNvPr id="8" name="Shape 6"/>
          <p:cNvSpPr/>
          <p:nvPr/>
        </p:nvSpPr>
        <p:spPr>
          <a:xfrm>
            <a:off x="4339828" y="2489262"/>
            <a:ext cx="0" cy="1542157"/>
          </a:xfrm>
          <a:prstGeom prst="line">
            <a:avLst/>
          </a:prstGeom>
          <a:noFill/>
          <a:ln w="7144">
            <a:solidFill>
              <a:srgbClr val="D9D9D9"/>
            </a:solidFill>
            <a:prstDash val="solid"/>
          </a:ln>
        </p:spPr>
        <p:txBody>
          <a:bodyPr/>
          <a:lstStyle/>
          <a:p>
            <a:endParaRPr lang="en-US"/>
          </a:p>
        </p:txBody>
      </p:sp>
      <p:sp>
        <p:nvSpPr>
          <p:cNvPr id="9" name="Text 7"/>
          <p:cNvSpPr/>
          <p:nvPr/>
        </p:nvSpPr>
        <p:spPr>
          <a:xfrm>
            <a:off x="514350" y="2489262"/>
            <a:ext cx="3479006" cy="925830"/>
          </a:xfrm>
          <a:prstGeom prst="rect">
            <a:avLst/>
          </a:prstGeom>
          <a:noFill/>
          <a:ln/>
        </p:spPr>
        <p:txBody>
          <a:bodyPr wrap="none" lIns="0" tIns="0" rIns="0" bIns="0" rtlCol="0" anchor="t"/>
          <a:lstStyle/>
          <a:p>
            <a:pPr marL="0" indent="0" algn="l">
              <a:lnSpc>
                <a:spcPts val="6750"/>
              </a:lnSpc>
              <a:buNone/>
            </a:pPr>
            <a:r>
              <a:rPr lang="en-US" sz="6750" b="1" kern="0" spc="-270" dirty="0">
                <a:solidFill>
                  <a:srgbClr val="0A0A0A"/>
                </a:solidFill>
                <a:latin typeface="Liberation Sans Narrow" pitchFamily="34" charset="0"/>
                <a:ea typeface="Liberation Sans Narrow" pitchFamily="34" charset="-122"/>
                <a:cs typeface="Liberation Sans Narrow" pitchFamily="34" charset="-120"/>
              </a:rPr>
              <a:t>0–10</a:t>
            </a:r>
            <a:endParaRPr lang="en-US" sz="6750" dirty="0"/>
          </a:p>
        </p:txBody>
      </p:sp>
      <p:sp>
        <p:nvSpPr>
          <p:cNvPr id="10" name="Text 8"/>
          <p:cNvSpPr/>
          <p:nvPr/>
        </p:nvSpPr>
        <p:spPr>
          <a:xfrm>
            <a:off x="514350" y="3460812"/>
            <a:ext cx="3588734" cy="164592"/>
          </a:xfrm>
          <a:prstGeom prst="rect">
            <a:avLst/>
          </a:prstGeom>
          <a:noFill/>
          <a:ln/>
        </p:spPr>
        <p:txBody>
          <a:bodyPr wrap="square" lIns="0" tIns="0" rIns="0" bIns="0" rtlCol="0" anchor="t"/>
          <a:lstStyle/>
          <a:p>
            <a:pPr marL="0" indent="0" algn="l">
              <a:lnSpc>
                <a:spcPts val="928"/>
              </a:lnSpc>
              <a:buNone/>
            </a:pPr>
            <a:r>
              <a:rPr lang="en-US" sz="800" kern="0" spc="136" dirty="0">
                <a:solidFill>
                  <a:srgbClr val="4A4A4A"/>
                </a:solidFill>
                <a:latin typeface="Carlito" pitchFamily="34" charset="0"/>
                <a:ea typeface="Carlito" pitchFamily="34" charset="-122"/>
                <a:cs typeface="Carlito" pitchFamily="34" charset="-120"/>
              </a:rPr>
              <a:t>ALGORITHM-INTRINSIC THREAT SCORE (SHAW, 2026)</a:t>
            </a:r>
            <a:endParaRPr lang="en-US" sz="800" dirty="0"/>
          </a:p>
        </p:txBody>
      </p:sp>
      <p:sp>
        <p:nvSpPr>
          <p:cNvPr id="11" name="Text 9"/>
          <p:cNvSpPr/>
          <p:nvPr/>
        </p:nvSpPr>
        <p:spPr>
          <a:xfrm>
            <a:off x="514350" y="3721559"/>
            <a:ext cx="3479006" cy="309860"/>
          </a:xfrm>
          <a:prstGeom prst="rect">
            <a:avLst/>
          </a:prstGeom>
          <a:noFill/>
          <a:ln/>
        </p:spPr>
        <p:txBody>
          <a:bodyPr wrap="square" lIns="0" tIns="0" rIns="0" bIns="0" rtlCol="0" anchor="t"/>
          <a:lstStyle/>
          <a:p>
            <a:pPr marL="0" indent="0" algn="l">
              <a:lnSpc>
                <a:spcPts val="1221"/>
              </a:lnSpc>
              <a:buNone/>
            </a:pPr>
            <a:r>
              <a:rPr lang="en-US" sz="800" dirty="0">
                <a:solidFill>
                  <a:srgbClr val="1F1F1F"/>
                </a:solidFill>
                <a:latin typeface="Carlito" pitchFamily="34" charset="0"/>
                <a:ea typeface="Carlito" pitchFamily="34" charset="-122"/>
                <a:cs typeface="Carlito" pitchFamily="34" charset="-120"/>
              </a:rPr>
              <a:t>A function of key size, Shor-path qubit cost, Grover factor, forward-security exposure.</a:t>
            </a:r>
            <a:endParaRPr lang="en-US" sz="800" dirty="0"/>
          </a:p>
        </p:txBody>
      </p:sp>
      <p:sp>
        <p:nvSpPr>
          <p:cNvPr id="12" name="Text 10"/>
          <p:cNvSpPr/>
          <p:nvPr/>
        </p:nvSpPr>
        <p:spPr>
          <a:xfrm>
            <a:off x="4800600" y="2789076"/>
            <a:ext cx="3829050" cy="1018051"/>
          </a:xfrm>
          <a:prstGeom prst="rect">
            <a:avLst/>
          </a:prstGeom>
          <a:noFill/>
          <a:ln/>
        </p:spPr>
        <p:txBody>
          <a:bodyPr wrap="square" lIns="0" tIns="0" rIns="0" bIns="0" rtlCol="0" anchor="t"/>
          <a:lstStyle/>
          <a:p>
            <a:pPr marL="0" indent="0" algn="l">
              <a:lnSpc>
                <a:spcPts val="1485"/>
              </a:lnSpc>
              <a:buNone/>
            </a:pPr>
            <a:r>
              <a:rPr lang="en-US" sz="900" dirty="0">
                <a:solidFill>
                  <a:srgbClr val="1F1F1F"/>
                </a:solidFill>
                <a:latin typeface="Carlito" pitchFamily="34" charset="0"/>
                <a:ea typeface="Carlito" pitchFamily="34" charset="-122"/>
                <a:cs typeface="Carlito" pitchFamily="34" charset="-120"/>
              </a:rPr>
              <a:t>Every RSA-2048 call site in a codebase receives an identical score. A prioritisation signal that is constant across the set it is meant to order carries no information about that set. Properties of the primitive alone cannot distinguish a ten-year financial record from a 900-second session token wrapped by the same primitive.</a:t>
            </a:r>
            <a:endParaRPr lang="en-US" sz="900" dirty="0"/>
          </a:p>
        </p:txBody>
      </p:sp>
      <p:sp>
        <p:nvSpPr>
          <p:cNvPr id="13" name="Shape 11"/>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14" name="Text 12"/>
          <p:cNvSpPr/>
          <p:nvPr/>
        </p:nvSpPr>
        <p:spPr>
          <a:xfrm>
            <a:off x="1463040" y="4846320"/>
            <a:ext cx="7132320" cy="137160"/>
          </a:xfrm>
          <a:prstGeom prst="rect">
            <a:avLst/>
          </a:prstGeom>
          <a:noFill/>
          <a:ln/>
        </p:spPr>
        <p:txBody>
          <a:bodyPr wrap="squar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01 — PROBLEM IDENTIFICATION</a:t>
            </a:r>
            <a:endParaRPr lang="en-US" sz="800" dirty="0"/>
          </a:p>
        </p:txBody>
      </p:sp>
      <p:sp>
        <p:nvSpPr>
          <p:cNvPr id="15" name="Text 13"/>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07 / 39</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206803"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6735440" y="400050"/>
            <a:ext cx="2003938" cy="117872"/>
          </a:xfrm>
          <a:prstGeom prst="rect">
            <a:avLst/>
          </a:prstGeom>
          <a:noFill/>
          <a:ln/>
        </p:spPr>
        <p:txBody>
          <a:bodyPr wrap="squar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SECTION 01 — PROBLEM IDENTIFICATION</a:t>
            </a:r>
            <a:endParaRPr lang="en-US" sz="619" dirty="0"/>
          </a:p>
        </p:txBody>
      </p:sp>
      <p:sp>
        <p:nvSpPr>
          <p:cNvPr id="5" name="Text 3"/>
          <p:cNvSpPr/>
          <p:nvPr/>
        </p:nvSpPr>
        <p:spPr>
          <a:xfrm>
            <a:off x="514350" y="853678"/>
            <a:ext cx="8629650" cy="164592"/>
          </a:xfrm>
          <a:prstGeom prst="rect">
            <a:avLst/>
          </a:prstGeom>
          <a:noFill/>
          <a:ln/>
        </p:spPr>
        <p:txBody>
          <a:bodyPr wrap="none" lIns="0" tIns="0" rIns="0" bIns="0" rtlCol="0" anchor="t"/>
          <a:lstStyle/>
          <a:p>
            <a:pPr marL="0" indent="0" algn="l">
              <a:lnSpc>
                <a:spcPts val="928"/>
              </a:lnSpc>
              <a:buNone/>
            </a:pPr>
            <a:r>
              <a:rPr lang="en-US" sz="800" kern="0" spc="136" dirty="0">
                <a:solidFill>
                  <a:srgbClr val="4A4A4A"/>
                </a:solidFill>
                <a:latin typeface="Carlito" pitchFamily="34" charset="0"/>
                <a:ea typeface="Carlito" pitchFamily="34" charset="-122"/>
                <a:cs typeface="Carlito" pitchFamily="34" charset="-120"/>
              </a:rPr>
              <a:t>PROBLEM STATEMENT</a:t>
            </a:r>
            <a:endParaRPr lang="en-US" sz="800" dirty="0"/>
          </a:p>
        </p:txBody>
      </p:sp>
      <p:sp>
        <p:nvSpPr>
          <p:cNvPr id="6" name="Text 4"/>
          <p:cNvSpPr/>
          <p:nvPr/>
        </p:nvSpPr>
        <p:spPr>
          <a:xfrm>
            <a:off x="514350" y="1057275"/>
            <a:ext cx="8629650" cy="296193"/>
          </a:xfrm>
          <a:prstGeom prst="rect">
            <a:avLst/>
          </a:prstGeom>
          <a:noFill/>
          <a:ln/>
        </p:spPr>
        <p:txBody>
          <a:bodyPr wrap="square" lIns="0" tIns="0" rIns="0" bIns="0" rtlCol="0" anchor="t"/>
          <a:lstStyle/>
          <a:p>
            <a:pPr marL="0" indent="0" algn="l">
              <a:lnSpc>
                <a:spcPts val="2160"/>
              </a:lnSpc>
              <a:buNone/>
            </a:pPr>
            <a:r>
              <a:rPr lang="en-US" sz="1688" kern="0" spc="-20" dirty="0">
                <a:solidFill>
                  <a:srgbClr val="0A0A0A"/>
                </a:solidFill>
                <a:latin typeface="Carlito" pitchFamily="34" charset="0"/>
                <a:ea typeface="Carlito" pitchFamily="34" charset="-122"/>
                <a:cs typeface="Carlito" pitchFamily="34" charset="-120"/>
              </a:rPr>
              <a:t>The operational question, unanswered.</a:t>
            </a:r>
            <a:endParaRPr lang="en-US" sz="1688" dirty="0"/>
          </a:p>
        </p:txBody>
      </p:sp>
      <p:sp>
        <p:nvSpPr>
          <p:cNvPr id="7" name="Text 5"/>
          <p:cNvSpPr/>
          <p:nvPr/>
        </p:nvSpPr>
        <p:spPr>
          <a:xfrm>
            <a:off x="514350" y="1474403"/>
            <a:ext cx="400050" cy="28575"/>
          </a:xfrm>
          <a:prstGeom prst="rect">
            <a:avLst/>
          </a:prstGeom>
          <a:solidFill>
            <a:srgbClr val="0A0A0A"/>
          </a:solidFill>
          <a:ln/>
        </p:spPr>
        <p:txBody>
          <a:bodyPr wrap="square" rtlCol="0" anchor="ctr"/>
          <a:lstStyle/>
          <a:p>
            <a:pPr marL="0" indent="0">
              <a:buNone/>
            </a:pPr>
            <a:endParaRPr lang="en-US" dirty="0"/>
          </a:p>
        </p:txBody>
      </p:sp>
      <p:sp>
        <p:nvSpPr>
          <p:cNvPr id="8" name="Text 6"/>
          <p:cNvSpPr/>
          <p:nvPr/>
        </p:nvSpPr>
        <p:spPr>
          <a:xfrm>
            <a:off x="714375" y="1806470"/>
            <a:ext cx="7715250" cy="1934840"/>
          </a:xfrm>
          <a:prstGeom prst="rect">
            <a:avLst/>
          </a:prstGeom>
          <a:noFill/>
          <a:ln/>
        </p:spPr>
        <p:txBody>
          <a:bodyPr wrap="square" lIns="0" tIns="0" rIns="0" bIns="0" rtlCol="0" anchor="t"/>
          <a:lstStyle/>
          <a:p>
            <a:pPr marL="0" indent="0" algn="ctr">
              <a:lnSpc>
                <a:spcPts val="2821"/>
              </a:lnSpc>
              <a:buNone/>
            </a:pPr>
            <a:r>
              <a:rPr lang="en-US" sz="2138" i="1" dirty="0">
                <a:solidFill>
                  <a:srgbClr val="0A0A0A"/>
                </a:solidFill>
                <a:latin typeface="Tinos" pitchFamily="34" charset="0"/>
                <a:ea typeface="Tinos" pitchFamily="34" charset="-122"/>
                <a:cs typeface="Tinos" pitchFamily="34" charset="-120"/>
              </a:rPr>
              <a:t>“Given a source repository, no existing technique binds each cryptographic operation to the data it protects, that data's confidentiality lifetime, and its exposure surface — and therefore no existing technique can produce a defensible migration order or suppress context-irrelevant findings.”</a:t>
            </a:r>
            <a:endParaRPr lang="en-US" sz="2138" dirty="0"/>
          </a:p>
        </p:txBody>
      </p:sp>
      <p:sp>
        <p:nvSpPr>
          <p:cNvPr id="9" name="Text 7"/>
          <p:cNvSpPr/>
          <p:nvPr/>
        </p:nvSpPr>
        <p:spPr>
          <a:xfrm>
            <a:off x="3428944" y="4079081"/>
            <a:ext cx="2286000" cy="7144"/>
          </a:xfrm>
          <a:prstGeom prst="rect">
            <a:avLst/>
          </a:prstGeom>
          <a:solidFill>
            <a:srgbClr val="D9D9D9"/>
          </a:solidFill>
          <a:ln/>
        </p:spPr>
        <p:txBody>
          <a:bodyPr wrap="square" rtlCol="0" anchor="ctr"/>
          <a:lstStyle/>
          <a:p>
            <a:pPr marL="0" indent="0">
              <a:buNone/>
            </a:pPr>
            <a:endParaRPr lang="en-US" dirty="0"/>
          </a:p>
        </p:txBody>
      </p:sp>
      <p:sp>
        <p:nvSpPr>
          <p:cNvPr id="10" name="Text 8"/>
          <p:cNvSpPr/>
          <p:nvPr/>
        </p:nvSpPr>
        <p:spPr>
          <a:xfrm>
            <a:off x="3758928" y="4614863"/>
            <a:ext cx="1626032" cy="139654"/>
          </a:xfrm>
          <a:prstGeom prst="rect">
            <a:avLst/>
          </a:prstGeom>
          <a:noFill/>
          <a:ln/>
        </p:spPr>
        <p:txBody>
          <a:bodyPr wrap="none" lIns="0" tIns="0" rIns="0" bIns="0" rtlCol="0" anchor="t"/>
          <a:lstStyle/>
          <a:p>
            <a:pPr marL="0" indent="0" algn="ctr">
              <a:lnSpc>
                <a:spcPts val="928"/>
              </a:lnSpc>
              <a:buNone/>
            </a:pPr>
            <a:r>
              <a:rPr lang="en-US" sz="800" kern="0" spc="136" dirty="0">
                <a:solidFill>
                  <a:srgbClr val="4A4A4A"/>
                </a:solidFill>
                <a:latin typeface="Liberation Sans Narrow" pitchFamily="34" charset="0"/>
                <a:ea typeface="Liberation Sans Narrow" pitchFamily="34" charset="-122"/>
                <a:cs typeface="Liberation Sans Narrow" pitchFamily="34" charset="-120"/>
              </a:rPr>
              <a:t>REVIEW REPORT I — §1.2</a:t>
            </a:r>
            <a:endParaRPr lang="en-US" sz="800" dirty="0"/>
          </a:p>
        </p:txBody>
      </p:sp>
      <p:sp>
        <p:nvSpPr>
          <p:cNvPr id="11" name="Shape 9"/>
          <p:cNvSpPr/>
          <p:nvPr/>
        </p:nvSpPr>
        <p:spPr>
          <a:xfrm>
            <a:off x="514294" y="4476193"/>
            <a:ext cx="8115300" cy="0"/>
          </a:xfrm>
          <a:prstGeom prst="line">
            <a:avLst/>
          </a:prstGeom>
          <a:noFill/>
          <a:ln w="7144">
            <a:solidFill>
              <a:srgbClr val="D9D9D9"/>
            </a:solidFill>
            <a:prstDash val="solid"/>
          </a:ln>
        </p:spPr>
        <p:txBody>
          <a:bodyPr/>
          <a:lstStyle/>
          <a:p>
            <a:endParaRPr lang="en-US"/>
          </a:p>
        </p:txBody>
      </p:sp>
      <p:sp>
        <p:nvSpPr>
          <p:cNvPr id="12" name="Text 10"/>
          <p:cNvSpPr/>
          <p:nvPr/>
        </p:nvSpPr>
        <p:spPr>
          <a:xfrm>
            <a:off x="1463040" y="4846320"/>
            <a:ext cx="7132320" cy="137160"/>
          </a:xfrm>
          <a:prstGeom prst="rect">
            <a:avLst/>
          </a:prstGeom>
          <a:noFill/>
          <a:ln/>
        </p:spPr>
        <p:txBody>
          <a:bodyPr wrap="squar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01 — PROBLEM IDENTIFICATION</a:t>
            </a:r>
            <a:endParaRPr lang="en-US" sz="800" dirty="0"/>
          </a:p>
        </p:txBody>
      </p:sp>
      <p:sp>
        <p:nvSpPr>
          <p:cNvPr id="13" name="Text 11"/>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08 / 39</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206803"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6735440" y="400050"/>
            <a:ext cx="2003938" cy="117872"/>
          </a:xfrm>
          <a:prstGeom prst="rect">
            <a:avLst/>
          </a:prstGeom>
          <a:noFill/>
          <a:ln/>
        </p:spPr>
        <p:txBody>
          <a:bodyPr wrap="squar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SECTION 01 — PROBLEM IDENTIFICATION</a:t>
            </a:r>
            <a:endParaRPr lang="en-US" sz="619" dirty="0"/>
          </a:p>
        </p:txBody>
      </p:sp>
      <p:sp>
        <p:nvSpPr>
          <p:cNvPr id="5" name="Text 3"/>
          <p:cNvSpPr/>
          <p:nvPr/>
        </p:nvSpPr>
        <p:spPr>
          <a:xfrm>
            <a:off x="514350" y="853678"/>
            <a:ext cx="8629650" cy="164592"/>
          </a:xfrm>
          <a:prstGeom prst="rect">
            <a:avLst/>
          </a:prstGeom>
          <a:noFill/>
          <a:ln/>
        </p:spPr>
        <p:txBody>
          <a:bodyPr wrap="square" lIns="0" tIns="0" rIns="0" bIns="0" rtlCol="0" anchor="t"/>
          <a:lstStyle/>
          <a:p>
            <a:pPr marL="0" indent="0" algn="l">
              <a:lnSpc>
                <a:spcPts val="928"/>
              </a:lnSpc>
              <a:buNone/>
            </a:pPr>
            <a:r>
              <a:rPr lang="en-US" sz="800" kern="0" spc="136" dirty="0">
                <a:solidFill>
                  <a:srgbClr val="4A4A4A"/>
                </a:solidFill>
                <a:latin typeface="Liberation Sans Narrow" pitchFamily="34" charset="0"/>
                <a:ea typeface="Liberation Sans Narrow" pitchFamily="34" charset="-122"/>
                <a:cs typeface="Liberation Sans Narrow" pitchFamily="34" charset="-120"/>
              </a:rPr>
              <a:t>1.3 PRELIMINARIES — ASSET MODEL</a:t>
            </a:r>
            <a:endParaRPr lang="en-US" sz="800" dirty="0"/>
          </a:p>
        </p:txBody>
      </p:sp>
      <p:sp>
        <p:nvSpPr>
          <p:cNvPr id="6" name="Text 4"/>
          <p:cNvSpPr/>
          <p:nvPr/>
        </p:nvSpPr>
        <p:spPr>
          <a:xfrm>
            <a:off x="514350" y="1057275"/>
            <a:ext cx="8629650" cy="345619"/>
          </a:xfrm>
          <a:prstGeom prst="rect">
            <a:avLst/>
          </a:prstGeom>
          <a:noFill/>
          <a:ln/>
        </p:spPr>
        <p:txBody>
          <a:bodyPr wrap="squar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Three classes of cryptographic asset.</a:t>
            </a:r>
            <a:endParaRPr lang="en-US" sz="2250" dirty="0"/>
          </a:p>
        </p:txBody>
      </p:sp>
      <p:sp>
        <p:nvSpPr>
          <p:cNvPr id="7" name="Text 5"/>
          <p:cNvSpPr/>
          <p:nvPr/>
        </p:nvSpPr>
        <p:spPr>
          <a:xfrm>
            <a:off x="514350" y="1520168"/>
            <a:ext cx="400050" cy="28575"/>
          </a:xfrm>
          <a:prstGeom prst="rect">
            <a:avLst/>
          </a:prstGeom>
          <a:solidFill>
            <a:srgbClr val="0A0A0A"/>
          </a:solidFill>
          <a:ln/>
        </p:spPr>
        <p:txBody>
          <a:bodyPr wrap="square" rtlCol="0" anchor="ctr"/>
          <a:lstStyle/>
          <a:p>
            <a:pPr marL="0" indent="0">
              <a:buNone/>
            </a:pPr>
            <a:endParaRPr lang="en-US" dirty="0"/>
          </a:p>
        </p:txBody>
      </p:sp>
      <p:sp>
        <p:nvSpPr>
          <p:cNvPr id="8" name="Text 6"/>
          <p:cNvSpPr/>
          <p:nvPr/>
        </p:nvSpPr>
        <p:spPr>
          <a:xfrm>
            <a:off x="514350" y="1720193"/>
            <a:ext cx="7000875" cy="197462"/>
          </a:xfrm>
          <a:prstGeom prst="rect">
            <a:avLst/>
          </a:prstGeom>
          <a:noFill/>
          <a:ln/>
        </p:spPr>
        <p:txBody>
          <a:bodyPr wrap="square" lIns="0" tIns="0" rIns="0" bIns="0" rtlCol="0" anchor="t"/>
          <a:lstStyle/>
          <a:p>
            <a:pPr marL="0" indent="0" algn="l">
              <a:lnSpc>
                <a:spcPts val="1440"/>
              </a:lnSpc>
              <a:buNone/>
            </a:pPr>
            <a:r>
              <a:rPr lang="en-US" sz="900" dirty="0">
                <a:solidFill>
                  <a:srgbClr val="1F1F1F"/>
                </a:solidFill>
                <a:latin typeface="Carlito" pitchFamily="34" charset="0"/>
                <a:ea typeface="Carlito" pitchFamily="34" charset="-122"/>
                <a:cs typeface="Carlito" pitchFamily="34" charset="-120"/>
              </a:rPr>
              <a:t>Following the CycloneDX 1.6 CBOM object model, a cryptographic asset is one of three categories:</a:t>
            </a:r>
            <a:endParaRPr lang="en-US" sz="900" dirty="0"/>
          </a:p>
        </p:txBody>
      </p:sp>
      <p:sp>
        <p:nvSpPr>
          <p:cNvPr id="9" name="Text 7"/>
          <p:cNvSpPr/>
          <p:nvPr/>
        </p:nvSpPr>
        <p:spPr>
          <a:xfrm>
            <a:off x="517922" y="2078050"/>
            <a:ext cx="2583582" cy="2313570"/>
          </a:xfrm>
          <a:prstGeom prst="rect">
            <a:avLst/>
          </a:prstGeom>
          <a:solidFill>
            <a:srgbClr val="FFFFFF"/>
          </a:solidFill>
          <a:ln w="7144">
            <a:solidFill>
              <a:srgbClr val="0A0A0A"/>
            </a:solidFill>
            <a:prstDash val="solid"/>
          </a:ln>
        </p:spPr>
        <p:txBody>
          <a:bodyPr wrap="square" rtlCol="0" anchor="ctr"/>
          <a:lstStyle/>
          <a:p>
            <a:pPr marL="0" indent="0">
              <a:buNone/>
            </a:pPr>
            <a:endParaRPr lang="en-US" dirty="0"/>
          </a:p>
        </p:txBody>
      </p:sp>
      <p:sp>
        <p:nvSpPr>
          <p:cNvPr id="10" name="Text 8"/>
          <p:cNvSpPr/>
          <p:nvPr/>
        </p:nvSpPr>
        <p:spPr>
          <a:xfrm>
            <a:off x="681971" y="2226783"/>
            <a:ext cx="246639" cy="224028"/>
          </a:xfrm>
          <a:prstGeom prst="rect">
            <a:avLst/>
          </a:prstGeom>
          <a:noFill/>
          <a:ln w="7144">
            <a:solidFill>
              <a:srgbClr val="0A0A0A"/>
            </a:solidFill>
            <a:prstDash val="solid"/>
          </a:ln>
        </p:spPr>
        <p:txBody>
          <a:bodyPr wrap="square" rtlCol="0" anchor="ctr"/>
          <a:lstStyle/>
          <a:p>
            <a:pPr marL="0" indent="0">
              <a:buNone/>
            </a:pPr>
            <a:endParaRPr lang="en-US" dirty="0"/>
          </a:p>
        </p:txBody>
      </p:sp>
      <p:sp>
        <p:nvSpPr>
          <p:cNvPr id="11" name="Text 9"/>
          <p:cNvSpPr/>
          <p:nvPr/>
        </p:nvSpPr>
        <p:spPr>
          <a:xfrm>
            <a:off x="692944" y="2238784"/>
            <a:ext cx="224693" cy="256032"/>
          </a:xfrm>
          <a:prstGeom prst="rect">
            <a:avLst/>
          </a:prstGeom>
          <a:noFill/>
          <a:ln/>
        </p:spPr>
        <p:txBody>
          <a:bodyPr wrap="none" lIns="57150" tIns="28575" rIns="57150" bIns="28575" rtlCol="0" anchor="t"/>
          <a:lstStyle/>
          <a:p>
            <a:pPr marL="0" indent="0" algn="l">
              <a:lnSpc>
                <a:spcPts val="1013"/>
              </a:lnSpc>
              <a:buNone/>
            </a:pPr>
            <a:r>
              <a:rPr lang="en-US" sz="800" kern="0" spc="41" dirty="0">
                <a:solidFill>
                  <a:srgbClr val="0A0A0A"/>
                </a:solidFill>
                <a:latin typeface="Liberation Sans Narrow" pitchFamily="34" charset="0"/>
                <a:ea typeface="Liberation Sans Narrow" pitchFamily="34" charset="-122"/>
                <a:cs typeface="Liberation Sans Narrow" pitchFamily="34" charset="-120"/>
              </a:rPr>
              <a:t>01</a:t>
            </a:r>
            <a:endParaRPr lang="en-US" sz="800" dirty="0"/>
          </a:p>
        </p:txBody>
      </p:sp>
      <p:sp>
        <p:nvSpPr>
          <p:cNvPr id="12" name="Text 10"/>
          <p:cNvSpPr/>
          <p:nvPr/>
        </p:nvSpPr>
        <p:spPr>
          <a:xfrm>
            <a:off x="692944" y="2553109"/>
            <a:ext cx="2233538" cy="217233"/>
          </a:xfrm>
          <a:prstGeom prst="rect">
            <a:avLst/>
          </a:prstGeom>
          <a:noFill/>
          <a:ln/>
        </p:spPr>
        <p:txBody>
          <a:bodyPr wrap="none" lIns="0" tIns="0" rIns="0" bIns="0" rtlCol="0" anchor="t"/>
          <a:lstStyle/>
          <a:p>
            <a:pPr marL="0" indent="0" algn="l">
              <a:lnSpc>
                <a:spcPts val="1584"/>
              </a:lnSpc>
              <a:buNone/>
            </a:pPr>
            <a:r>
              <a:rPr lang="en-US" sz="1238" kern="0" spc="-7" dirty="0">
                <a:solidFill>
                  <a:srgbClr val="0A0A0A"/>
                </a:solidFill>
                <a:latin typeface="Carlito" pitchFamily="34" charset="0"/>
                <a:ea typeface="Carlito" pitchFamily="34" charset="-122"/>
                <a:cs typeface="Carlito" pitchFamily="34" charset="-120"/>
              </a:rPr>
              <a:t>MATERIAL</a:t>
            </a:r>
            <a:endParaRPr lang="en-US" sz="1238" dirty="0"/>
          </a:p>
        </p:txBody>
      </p:sp>
      <p:sp>
        <p:nvSpPr>
          <p:cNvPr id="13" name="Text 11"/>
          <p:cNvSpPr/>
          <p:nvPr/>
        </p:nvSpPr>
        <p:spPr>
          <a:xfrm>
            <a:off x="692944" y="2839975"/>
            <a:ext cx="2233538" cy="7144"/>
          </a:xfrm>
          <a:prstGeom prst="rect">
            <a:avLst/>
          </a:prstGeom>
          <a:solidFill>
            <a:srgbClr val="D9D9D9"/>
          </a:solidFill>
          <a:ln/>
        </p:spPr>
        <p:txBody>
          <a:bodyPr wrap="square" rtlCol="0" anchor="ctr"/>
          <a:lstStyle/>
          <a:p>
            <a:pPr marL="0" indent="0">
              <a:buNone/>
            </a:pPr>
            <a:endParaRPr lang="en-US" dirty="0"/>
          </a:p>
        </p:txBody>
      </p:sp>
      <p:sp>
        <p:nvSpPr>
          <p:cNvPr id="14" name="Text 12"/>
          <p:cNvSpPr/>
          <p:nvPr/>
        </p:nvSpPr>
        <p:spPr>
          <a:xfrm>
            <a:off x="692944" y="2932844"/>
            <a:ext cx="2233538" cy="346704"/>
          </a:xfrm>
          <a:prstGeom prst="rect">
            <a:avLst/>
          </a:prstGeom>
          <a:noFill/>
          <a:ln/>
        </p:spPr>
        <p:txBody>
          <a:bodyPr wrap="square" lIns="0" tIns="0" rIns="0" bIns="0" rtlCol="0" anchor="t"/>
          <a:lstStyle/>
          <a:p>
            <a:pPr marL="0" indent="0" algn="l">
              <a:lnSpc>
                <a:spcPts val="1264"/>
              </a:lnSpc>
              <a:buNone/>
            </a:pPr>
            <a:r>
              <a:rPr lang="en-US" sz="816" dirty="0">
                <a:solidFill>
                  <a:srgbClr val="1F1F1F"/>
                </a:solidFill>
                <a:latin typeface="Carlito" pitchFamily="34" charset="0"/>
                <a:ea typeface="Carlito" pitchFamily="34" charset="-122"/>
                <a:cs typeface="Carlito" pitchFamily="34" charset="-120"/>
              </a:rPr>
              <a:t>Keys, certificates, secrets — consumed as context, not analysed.</a:t>
            </a:r>
            <a:endParaRPr lang="en-US" sz="816" dirty="0"/>
          </a:p>
        </p:txBody>
      </p:sp>
      <p:sp>
        <p:nvSpPr>
          <p:cNvPr id="15" name="Text 13"/>
          <p:cNvSpPr/>
          <p:nvPr/>
        </p:nvSpPr>
        <p:spPr>
          <a:xfrm>
            <a:off x="3280097" y="2078050"/>
            <a:ext cx="2583693" cy="2313570"/>
          </a:xfrm>
          <a:prstGeom prst="rect">
            <a:avLst/>
          </a:prstGeom>
          <a:solidFill>
            <a:srgbClr val="FFFFFF"/>
          </a:solidFill>
          <a:ln w="7144">
            <a:solidFill>
              <a:srgbClr val="0A0A0A"/>
            </a:solidFill>
            <a:prstDash val="solid"/>
          </a:ln>
        </p:spPr>
        <p:txBody>
          <a:bodyPr wrap="square" rtlCol="0" anchor="ctr"/>
          <a:lstStyle/>
          <a:p>
            <a:pPr marL="0" indent="0">
              <a:buNone/>
            </a:pPr>
            <a:endParaRPr lang="en-US" dirty="0"/>
          </a:p>
        </p:txBody>
      </p:sp>
      <p:sp>
        <p:nvSpPr>
          <p:cNvPr id="16" name="Text 14"/>
          <p:cNvSpPr/>
          <p:nvPr/>
        </p:nvSpPr>
        <p:spPr>
          <a:xfrm>
            <a:off x="3444147" y="2226783"/>
            <a:ext cx="246639" cy="224028"/>
          </a:xfrm>
          <a:prstGeom prst="rect">
            <a:avLst/>
          </a:prstGeom>
          <a:noFill/>
          <a:ln w="7144">
            <a:solidFill>
              <a:srgbClr val="0A0A0A"/>
            </a:solidFill>
            <a:prstDash val="solid"/>
          </a:ln>
        </p:spPr>
        <p:txBody>
          <a:bodyPr wrap="square" rtlCol="0" anchor="ctr"/>
          <a:lstStyle/>
          <a:p>
            <a:pPr marL="0" indent="0">
              <a:buNone/>
            </a:pPr>
            <a:endParaRPr lang="en-US" dirty="0"/>
          </a:p>
        </p:txBody>
      </p:sp>
      <p:sp>
        <p:nvSpPr>
          <p:cNvPr id="17" name="Text 15"/>
          <p:cNvSpPr/>
          <p:nvPr/>
        </p:nvSpPr>
        <p:spPr>
          <a:xfrm>
            <a:off x="3455119" y="2238784"/>
            <a:ext cx="224693" cy="256032"/>
          </a:xfrm>
          <a:prstGeom prst="rect">
            <a:avLst/>
          </a:prstGeom>
          <a:noFill/>
          <a:ln/>
        </p:spPr>
        <p:txBody>
          <a:bodyPr wrap="none" lIns="57150" tIns="28575" rIns="57150" bIns="28575" rtlCol="0" anchor="t"/>
          <a:lstStyle/>
          <a:p>
            <a:pPr marL="0" indent="0" algn="l">
              <a:lnSpc>
                <a:spcPts val="1013"/>
              </a:lnSpc>
              <a:buNone/>
            </a:pPr>
            <a:r>
              <a:rPr lang="en-US" sz="800" kern="0" spc="41" dirty="0">
                <a:solidFill>
                  <a:srgbClr val="0A0A0A"/>
                </a:solidFill>
                <a:latin typeface="Liberation Sans Narrow" pitchFamily="34" charset="0"/>
                <a:ea typeface="Liberation Sans Narrow" pitchFamily="34" charset="-122"/>
                <a:cs typeface="Liberation Sans Narrow" pitchFamily="34" charset="-120"/>
              </a:rPr>
              <a:t>02</a:t>
            </a:r>
            <a:endParaRPr lang="en-US" sz="800" dirty="0"/>
          </a:p>
        </p:txBody>
      </p:sp>
      <p:sp>
        <p:nvSpPr>
          <p:cNvPr id="18" name="Text 16"/>
          <p:cNvSpPr/>
          <p:nvPr/>
        </p:nvSpPr>
        <p:spPr>
          <a:xfrm>
            <a:off x="3455119" y="2553109"/>
            <a:ext cx="2233650" cy="217233"/>
          </a:xfrm>
          <a:prstGeom prst="rect">
            <a:avLst/>
          </a:prstGeom>
          <a:noFill/>
          <a:ln/>
        </p:spPr>
        <p:txBody>
          <a:bodyPr wrap="none" lIns="0" tIns="0" rIns="0" bIns="0" rtlCol="0" anchor="t"/>
          <a:lstStyle/>
          <a:p>
            <a:pPr marL="0" indent="0" algn="l">
              <a:lnSpc>
                <a:spcPts val="1584"/>
              </a:lnSpc>
              <a:buNone/>
            </a:pPr>
            <a:r>
              <a:rPr lang="en-US" sz="1238" kern="0" spc="-7" dirty="0">
                <a:solidFill>
                  <a:srgbClr val="0A0A0A"/>
                </a:solidFill>
                <a:latin typeface="Carlito" pitchFamily="34" charset="0"/>
                <a:ea typeface="Carlito" pitchFamily="34" charset="-122"/>
                <a:cs typeface="Carlito" pitchFamily="34" charset="-120"/>
              </a:rPr>
              <a:t>ARTEFACTS</a:t>
            </a:r>
            <a:endParaRPr lang="en-US" sz="1238" dirty="0"/>
          </a:p>
        </p:txBody>
      </p:sp>
      <p:sp>
        <p:nvSpPr>
          <p:cNvPr id="19" name="Text 17"/>
          <p:cNvSpPr/>
          <p:nvPr/>
        </p:nvSpPr>
        <p:spPr>
          <a:xfrm>
            <a:off x="3455119" y="2839975"/>
            <a:ext cx="2233650" cy="7144"/>
          </a:xfrm>
          <a:prstGeom prst="rect">
            <a:avLst/>
          </a:prstGeom>
          <a:solidFill>
            <a:srgbClr val="D9D9D9"/>
          </a:solidFill>
          <a:ln/>
        </p:spPr>
        <p:txBody>
          <a:bodyPr wrap="square" rtlCol="0" anchor="ctr"/>
          <a:lstStyle/>
          <a:p>
            <a:pPr marL="0" indent="0">
              <a:buNone/>
            </a:pPr>
            <a:endParaRPr lang="en-US" dirty="0"/>
          </a:p>
        </p:txBody>
      </p:sp>
      <p:sp>
        <p:nvSpPr>
          <p:cNvPr id="20" name="Text 18"/>
          <p:cNvSpPr/>
          <p:nvPr/>
        </p:nvSpPr>
        <p:spPr>
          <a:xfrm>
            <a:off x="3455119" y="2932844"/>
            <a:ext cx="2233650" cy="346704"/>
          </a:xfrm>
          <a:prstGeom prst="rect">
            <a:avLst/>
          </a:prstGeom>
          <a:noFill/>
          <a:ln/>
        </p:spPr>
        <p:txBody>
          <a:bodyPr wrap="square" lIns="0" tIns="0" rIns="0" bIns="0" rtlCol="0" anchor="t"/>
          <a:lstStyle/>
          <a:p>
            <a:pPr marL="0" indent="0" algn="l">
              <a:lnSpc>
                <a:spcPts val="1264"/>
              </a:lnSpc>
              <a:buNone/>
            </a:pPr>
            <a:r>
              <a:rPr lang="en-US" sz="816" dirty="0">
                <a:solidFill>
                  <a:srgbClr val="1F1F1F"/>
                </a:solidFill>
                <a:latin typeface="Carlito" pitchFamily="34" charset="0"/>
                <a:ea typeface="Carlito" pitchFamily="34" charset="-122"/>
                <a:cs typeface="Carlito" pitchFamily="34" charset="-120"/>
              </a:rPr>
              <a:t>Protocol or file-format configuration — consumed as context.</a:t>
            </a:r>
            <a:endParaRPr lang="en-US" sz="816" dirty="0"/>
          </a:p>
        </p:txBody>
      </p:sp>
      <p:sp>
        <p:nvSpPr>
          <p:cNvPr id="21" name="Text 19"/>
          <p:cNvSpPr/>
          <p:nvPr/>
        </p:nvSpPr>
        <p:spPr>
          <a:xfrm>
            <a:off x="6042385" y="2078050"/>
            <a:ext cx="2583582" cy="2313570"/>
          </a:xfrm>
          <a:prstGeom prst="rect">
            <a:avLst/>
          </a:prstGeom>
          <a:solidFill>
            <a:srgbClr val="FFFFFF"/>
          </a:solidFill>
          <a:ln w="7144">
            <a:solidFill>
              <a:srgbClr val="0A0A0A"/>
            </a:solidFill>
            <a:prstDash val="solid"/>
          </a:ln>
        </p:spPr>
        <p:txBody>
          <a:bodyPr wrap="square" rtlCol="0" anchor="ctr"/>
          <a:lstStyle/>
          <a:p>
            <a:pPr marL="0" indent="0">
              <a:buNone/>
            </a:pPr>
            <a:endParaRPr lang="en-US" dirty="0"/>
          </a:p>
        </p:txBody>
      </p:sp>
      <p:sp>
        <p:nvSpPr>
          <p:cNvPr id="22" name="Text 20"/>
          <p:cNvSpPr/>
          <p:nvPr/>
        </p:nvSpPr>
        <p:spPr>
          <a:xfrm>
            <a:off x="6206434" y="2226783"/>
            <a:ext cx="246639" cy="224028"/>
          </a:xfrm>
          <a:prstGeom prst="rect">
            <a:avLst/>
          </a:prstGeom>
          <a:noFill/>
          <a:ln w="7144">
            <a:solidFill>
              <a:srgbClr val="0A0A0A"/>
            </a:solidFill>
            <a:prstDash val="solid"/>
          </a:ln>
        </p:spPr>
        <p:txBody>
          <a:bodyPr wrap="square" rtlCol="0" anchor="ctr"/>
          <a:lstStyle/>
          <a:p>
            <a:pPr marL="0" indent="0">
              <a:buNone/>
            </a:pPr>
            <a:endParaRPr lang="en-US" dirty="0"/>
          </a:p>
        </p:txBody>
      </p:sp>
      <p:sp>
        <p:nvSpPr>
          <p:cNvPr id="23" name="Text 21"/>
          <p:cNvSpPr/>
          <p:nvPr/>
        </p:nvSpPr>
        <p:spPr>
          <a:xfrm>
            <a:off x="6217407" y="2238784"/>
            <a:ext cx="224693" cy="256032"/>
          </a:xfrm>
          <a:prstGeom prst="rect">
            <a:avLst/>
          </a:prstGeom>
          <a:noFill/>
          <a:ln/>
        </p:spPr>
        <p:txBody>
          <a:bodyPr wrap="none" lIns="57150" tIns="28575" rIns="57150" bIns="28575" rtlCol="0" anchor="t"/>
          <a:lstStyle/>
          <a:p>
            <a:pPr marL="0" indent="0" algn="l">
              <a:lnSpc>
                <a:spcPts val="1013"/>
              </a:lnSpc>
              <a:buNone/>
            </a:pPr>
            <a:r>
              <a:rPr lang="en-US" sz="800" kern="0" spc="41" dirty="0">
                <a:solidFill>
                  <a:srgbClr val="0A0A0A"/>
                </a:solidFill>
                <a:latin typeface="Liberation Sans Narrow" pitchFamily="34" charset="0"/>
                <a:ea typeface="Liberation Sans Narrow" pitchFamily="34" charset="-122"/>
                <a:cs typeface="Liberation Sans Narrow" pitchFamily="34" charset="-120"/>
              </a:rPr>
              <a:t>03</a:t>
            </a:r>
            <a:endParaRPr lang="en-US" sz="800" dirty="0"/>
          </a:p>
        </p:txBody>
      </p:sp>
      <p:sp>
        <p:nvSpPr>
          <p:cNvPr id="24" name="Text 22"/>
          <p:cNvSpPr/>
          <p:nvPr/>
        </p:nvSpPr>
        <p:spPr>
          <a:xfrm>
            <a:off x="6217407" y="2553109"/>
            <a:ext cx="2233538" cy="217233"/>
          </a:xfrm>
          <a:prstGeom prst="rect">
            <a:avLst/>
          </a:prstGeom>
          <a:noFill/>
          <a:ln/>
        </p:spPr>
        <p:txBody>
          <a:bodyPr wrap="none" lIns="0" tIns="0" rIns="0" bIns="0" rtlCol="0" anchor="t"/>
          <a:lstStyle/>
          <a:p>
            <a:pPr marL="0" indent="0" algn="l">
              <a:lnSpc>
                <a:spcPts val="1584"/>
              </a:lnSpc>
              <a:buNone/>
            </a:pPr>
            <a:r>
              <a:rPr lang="en-US" sz="1238" kern="0" spc="-7" dirty="0">
                <a:solidFill>
                  <a:srgbClr val="0A0A0A"/>
                </a:solidFill>
                <a:latin typeface="Carlito" pitchFamily="34" charset="0"/>
                <a:ea typeface="Carlito" pitchFamily="34" charset="-122"/>
                <a:cs typeface="Carlito" pitchFamily="34" charset="-120"/>
              </a:rPr>
              <a:t>INVOCATIONS</a:t>
            </a:r>
            <a:endParaRPr lang="en-US" sz="1238" dirty="0"/>
          </a:p>
        </p:txBody>
      </p:sp>
      <p:sp>
        <p:nvSpPr>
          <p:cNvPr id="25" name="Text 23"/>
          <p:cNvSpPr/>
          <p:nvPr/>
        </p:nvSpPr>
        <p:spPr>
          <a:xfrm>
            <a:off x="6217407" y="2839975"/>
            <a:ext cx="2233538" cy="7144"/>
          </a:xfrm>
          <a:prstGeom prst="rect">
            <a:avLst/>
          </a:prstGeom>
          <a:solidFill>
            <a:srgbClr val="D9D9D9"/>
          </a:solidFill>
          <a:ln/>
        </p:spPr>
        <p:txBody>
          <a:bodyPr wrap="square" rtlCol="0" anchor="ctr"/>
          <a:lstStyle/>
          <a:p>
            <a:pPr marL="0" indent="0">
              <a:buNone/>
            </a:pPr>
            <a:endParaRPr lang="en-US" dirty="0"/>
          </a:p>
        </p:txBody>
      </p:sp>
      <p:sp>
        <p:nvSpPr>
          <p:cNvPr id="26" name="Text 24"/>
          <p:cNvSpPr/>
          <p:nvPr/>
        </p:nvSpPr>
        <p:spPr>
          <a:xfrm>
            <a:off x="6217407" y="2932844"/>
            <a:ext cx="2233538" cy="346704"/>
          </a:xfrm>
          <a:prstGeom prst="rect">
            <a:avLst/>
          </a:prstGeom>
          <a:noFill/>
          <a:ln/>
        </p:spPr>
        <p:txBody>
          <a:bodyPr wrap="square" lIns="0" tIns="0" rIns="0" bIns="0" rtlCol="0" anchor="t"/>
          <a:lstStyle/>
          <a:p>
            <a:pPr marL="0" indent="0" algn="l">
              <a:lnSpc>
                <a:spcPts val="1264"/>
              </a:lnSpc>
              <a:buNone/>
            </a:pPr>
            <a:r>
              <a:rPr lang="en-US" sz="816" dirty="0">
                <a:solidFill>
                  <a:srgbClr val="1F1F1F"/>
                </a:solidFill>
                <a:latin typeface="Carlito" pitchFamily="34" charset="0"/>
                <a:ea typeface="Carlito" pitchFamily="34" charset="-122"/>
                <a:cs typeface="Carlito" pitchFamily="34" charset="-120"/>
              </a:rPr>
              <a:t>Calls into a cryptographic API — the unit our analysis operates on.</a:t>
            </a:r>
            <a:endParaRPr lang="en-US" sz="816" dirty="0"/>
          </a:p>
        </p:txBody>
      </p:sp>
      <p:sp>
        <p:nvSpPr>
          <p:cNvPr id="27" name="Text 25"/>
          <p:cNvSpPr/>
          <p:nvPr/>
        </p:nvSpPr>
        <p:spPr>
          <a:xfrm>
            <a:off x="514350" y="4538067"/>
            <a:ext cx="8115300" cy="7144"/>
          </a:xfrm>
          <a:prstGeom prst="rect">
            <a:avLst/>
          </a:prstGeom>
          <a:solidFill>
            <a:srgbClr val="D9D9D9"/>
          </a:solidFill>
          <a:ln/>
        </p:spPr>
        <p:txBody>
          <a:bodyPr wrap="square" rtlCol="0" anchor="ctr"/>
          <a:lstStyle/>
          <a:p>
            <a:pPr marL="0" indent="0">
              <a:buNone/>
            </a:pPr>
            <a:endParaRPr lang="en-US" dirty="0"/>
          </a:p>
        </p:txBody>
      </p:sp>
      <p:sp>
        <p:nvSpPr>
          <p:cNvPr id="28" name="Text 26"/>
          <p:cNvSpPr/>
          <p:nvPr/>
        </p:nvSpPr>
        <p:spPr>
          <a:xfrm>
            <a:off x="514350" y="4630936"/>
            <a:ext cx="8629650" cy="91440"/>
          </a:xfrm>
          <a:prstGeom prst="rect">
            <a:avLst/>
          </a:prstGeom>
          <a:noFill/>
          <a:ln/>
        </p:spPr>
        <p:txBody>
          <a:bodyPr wrap="square" lIns="0" tIns="0" rIns="0" bIns="0" rtlCol="0" anchor="t">
            <a:normAutofit fontScale="25000" lnSpcReduction="20000"/>
          </a:bodyPr>
          <a:lstStyle/>
          <a:p>
            <a:pPr marL="0" indent="0" algn="l">
              <a:lnSpc>
                <a:spcPts val="886"/>
              </a:lnSpc>
              <a:buNone/>
            </a:pPr>
            <a:r>
              <a:rPr lang="en-US" sz="800" kern="0" spc="130" dirty="0">
                <a:solidFill>
                  <a:srgbClr val="4A4A4A"/>
                </a:solidFill>
                <a:latin typeface="Carlito" pitchFamily="34" charset="0"/>
                <a:ea typeface="Carlito" pitchFamily="34" charset="-122"/>
                <a:cs typeface="Carlito" pitchFamily="34" charset="-120"/>
              </a:rPr>
              <a:t>FOOTNOTE — ANALYSIS OPERATES OVER INVOCATIONS AND THE DATA FLOWING THROUGH THEM.</a:t>
            </a:r>
            <a:endParaRPr lang="en-US" sz="800" dirty="0"/>
          </a:p>
        </p:txBody>
      </p:sp>
      <p:sp>
        <p:nvSpPr>
          <p:cNvPr id="29" name="Shape 27"/>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30" name="Text 28"/>
          <p:cNvSpPr/>
          <p:nvPr/>
        </p:nvSpPr>
        <p:spPr>
          <a:xfrm>
            <a:off x="1463040" y="4846320"/>
            <a:ext cx="7132320" cy="137160"/>
          </a:xfrm>
          <a:prstGeom prst="rect">
            <a:avLst/>
          </a:prstGeom>
          <a:noFill/>
          <a:ln/>
        </p:spPr>
        <p:txBody>
          <a:bodyPr wrap="squar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01 — PROBLEM IDENTIFICATION</a:t>
            </a:r>
            <a:endParaRPr lang="en-US" sz="800" dirty="0"/>
          </a:p>
        </p:txBody>
      </p:sp>
      <p:sp>
        <p:nvSpPr>
          <p:cNvPr id="31" name="Text 29"/>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09 / 39</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206803"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6735440" y="400050"/>
            <a:ext cx="2003938" cy="117872"/>
          </a:xfrm>
          <a:prstGeom prst="rect">
            <a:avLst/>
          </a:prstGeom>
          <a:noFill/>
          <a:ln/>
        </p:spPr>
        <p:txBody>
          <a:bodyPr wrap="squar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SECTION 01 — PROBLEM IDENTIFICATION</a:t>
            </a:r>
            <a:endParaRPr lang="en-US" sz="619" dirty="0"/>
          </a:p>
        </p:txBody>
      </p:sp>
      <p:sp>
        <p:nvSpPr>
          <p:cNvPr id="5" name="Text 3"/>
          <p:cNvSpPr/>
          <p:nvPr/>
        </p:nvSpPr>
        <p:spPr>
          <a:xfrm>
            <a:off x="514350" y="853678"/>
            <a:ext cx="8629650" cy="164592"/>
          </a:xfrm>
          <a:prstGeom prst="rect">
            <a:avLst/>
          </a:prstGeom>
          <a:noFill/>
          <a:ln/>
        </p:spPr>
        <p:txBody>
          <a:bodyPr wrap="square" lIns="0" tIns="0" rIns="0" bIns="0" rtlCol="0" anchor="t"/>
          <a:lstStyle/>
          <a:p>
            <a:pPr marL="0" indent="0" algn="l">
              <a:lnSpc>
                <a:spcPts val="928"/>
              </a:lnSpc>
              <a:buNone/>
            </a:pPr>
            <a:r>
              <a:rPr lang="en-US" sz="800" kern="0" spc="136" dirty="0">
                <a:solidFill>
                  <a:srgbClr val="4A4A4A"/>
                </a:solidFill>
                <a:latin typeface="Carlito" pitchFamily="34" charset="0"/>
                <a:ea typeface="Carlito" pitchFamily="34" charset="-122"/>
                <a:cs typeface="Carlito" pitchFamily="34" charset="-120"/>
              </a:rPr>
              <a:t>1.3 PRELIMINARIES — STANDARDISED REPLACEMENTS</a:t>
            </a:r>
            <a:endParaRPr lang="en-US" sz="800" dirty="0"/>
          </a:p>
        </p:txBody>
      </p:sp>
      <p:sp>
        <p:nvSpPr>
          <p:cNvPr id="6" name="Text 4"/>
          <p:cNvSpPr/>
          <p:nvPr/>
        </p:nvSpPr>
        <p:spPr>
          <a:xfrm>
            <a:off x="514350" y="1057275"/>
            <a:ext cx="8521065" cy="345619"/>
          </a:xfrm>
          <a:prstGeom prst="rect">
            <a:avLst/>
          </a:prstGeom>
          <a:noFill/>
          <a:ln/>
        </p:spPr>
        <p:txBody>
          <a:bodyPr wrap="non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NIST standards are final.</a:t>
            </a:r>
            <a:endParaRPr lang="en-US" sz="2250" dirty="0"/>
          </a:p>
        </p:txBody>
      </p:sp>
      <p:sp>
        <p:nvSpPr>
          <p:cNvPr id="7" name="Text 5"/>
          <p:cNvSpPr/>
          <p:nvPr/>
        </p:nvSpPr>
        <p:spPr>
          <a:xfrm>
            <a:off x="514350" y="1520168"/>
            <a:ext cx="400050" cy="28575"/>
          </a:xfrm>
          <a:prstGeom prst="rect">
            <a:avLst/>
          </a:prstGeom>
          <a:solidFill>
            <a:srgbClr val="0A0A0A"/>
          </a:solidFill>
          <a:ln/>
        </p:spPr>
        <p:txBody>
          <a:bodyPr wrap="square" rtlCol="0" anchor="ctr"/>
          <a:lstStyle/>
          <a:p>
            <a:pPr marL="0" indent="0">
              <a:buNone/>
            </a:pPr>
            <a:endParaRPr lang="en-US" dirty="0"/>
          </a:p>
        </p:txBody>
      </p:sp>
      <p:sp>
        <p:nvSpPr>
          <p:cNvPr id="8" name="Text 6"/>
          <p:cNvSpPr/>
          <p:nvPr/>
        </p:nvSpPr>
        <p:spPr>
          <a:xfrm>
            <a:off x="514350" y="1720193"/>
            <a:ext cx="7715250" cy="197462"/>
          </a:xfrm>
          <a:prstGeom prst="rect">
            <a:avLst/>
          </a:prstGeom>
          <a:noFill/>
          <a:ln/>
        </p:spPr>
        <p:txBody>
          <a:bodyPr wrap="square" lIns="0" tIns="0" rIns="0" bIns="0" rtlCol="0" anchor="t"/>
          <a:lstStyle/>
          <a:p>
            <a:pPr marL="0" indent="0" algn="l">
              <a:lnSpc>
                <a:spcPts val="1440"/>
              </a:lnSpc>
              <a:buNone/>
            </a:pPr>
            <a:r>
              <a:rPr lang="en-US" sz="900" dirty="0">
                <a:solidFill>
                  <a:srgbClr val="1F1F1F"/>
                </a:solidFill>
                <a:latin typeface="Carlito" pitchFamily="34" charset="0"/>
                <a:ea typeface="Carlito" pitchFamily="34" charset="-122"/>
                <a:cs typeface="Carlito" pitchFamily="34" charset="-120"/>
              </a:rPr>
              <a:t>What to migrate to is settled. Deployment practice is hybrid — classical and post-quantum primitives combined so that security holds if either survives.</a:t>
            </a:r>
            <a:endParaRPr lang="en-US" sz="900" dirty="0"/>
          </a:p>
        </p:txBody>
      </p:sp>
      <p:sp>
        <p:nvSpPr>
          <p:cNvPr id="9" name="Text 7"/>
          <p:cNvSpPr/>
          <p:nvPr/>
        </p:nvSpPr>
        <p:spPr>
          <a:xfrm>
            <a:off x="517922" y="2078050"/>
            <a:ext cx="2583582" cy="1101812"/>
          </a:xfrm>
          <a:prstGeom prst="rect">
            <a:avLst/>
          </a:prstGeom>
          <a:solidFill>
            <a:srgbClr val="FFFFFF"/>
          </a:solidFill>
          <a:ln w="7144">
            <a:solidFill>
              <a:srgbClr val="0A0A0A"/>
            </a:solidFill>
            <a:prstDash val="solid"/>
          </a:ln>
        </p:spPr>
        <p:txBody>
          <a:bodyPr wrap="square" rtlCol="0" anchor="ctr"/>
          <a:lstStyle/>
          <a:p>
            <a:pPr marL="0" indent="0">
              <a:buNone/>
            </a:pPr>
            <a:endParaRPr lang="en-US" dirty="0"/>
          </a:p>
        </p:txBody>
      </p:sp>
      <p:sp>
        <p:nvSpPr>
          <p:cNvPr id="10" name="Text 8"/>
          <p:cNvSpPr/>
          <p:nvPr/>
        </p:nvSpPr>
        <p:spPr>
          <a:xfrm>
            <a:off x="692944" y="2238784"/>
            <a:ext cx="2233538"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Liberation Sans Narrow" pitchFamily="34" charset="0"/>
                <a:ea typeface="Liberation Sans Narrow" pitchFamily="34" charset="-122"/>
                <a:cs typeface="Liberation Sans Narrow" pitchFamily="34" charset="-120"/>
              </a:rPr>
              <a:t>STANDARD · FIPS 203</a:t>
            </a:r>
            <a:endParaRPr lang="en-US" sz="800" dirty="0"/>
          </a:p>
        </p:txBody>
      </p:sp>
      <p:sp>
        <p:nvSpPr>
          <p:cNvPr id="11" name="Text 9"/>
          <p:cNvSpPr/>
          <p:nvPr/>
        </p:nvSpPr>
        <p:spPr>
          <a:xfrm>
            <a:off x="692944" y="2442381"/>
            <a:ext cx="2233538" cy="256653"/>
          </a:xfrm>
          <a:prstGeom prst="rect">
            <a:avLst/>
          </a:prstGeom>
          <a:noFill/>
          <a:ln/>
        </p:spPr>
        <p:txBody>
          <a:bodyPr wrap="none" lIns="0" tIns="0" rIns="0" bIns="0" rtlCol="0" anchor="t"/>
          <a:lstStyle/>
          <a:p>
            <a:pPr marL="0" indent="0" algn="l">
              <a:lnSpc>
                <a:spcPts val="1872"/>
              </a:lnSpc>
              <a:buNone/>
            </a:pPr>
            <a:r>
              <a:rPr lang="en-US" sz="1463" kern="0" spc="-18" dirty="0">
                <a:solidFill>
                  <a:srgbClr val="0A0A0A"/>
                </a:solidFill>
                <a:latin typeface="Carlito" pitchFamily="34" charset="0"/>
                <a:ea typeface="Carlito" pitchFamily="34" charset="-122"/>
                <a:cs typeface="Carlito" pitchFamily="34" charset="-120"/>
              </a:rPr>
              <a:t>ML-KEM</a:t>
            </a:r>
            <a:endParaRPr lang="en-US" sz="1463" dirty="0"/>
          </a:p>
        </p:txBody>
      </p:sp>
      <p:sp>
        <p:nvSpPr>
          <p:cNvPr id="12" name="Text 10"/>
          <p:cNvSpPr/>
          <p:nvPr/>
        </p:nvSpPr>
        <p:spPr>
          <a:xfrm>
            <a:off x="692944" y="2765747"/>
            <a:ext cx="2233538" cy="7144"/>
          </a:xfrm>
          <a:prstGeom prst="rect">
            <a:avLst/>
          </a:prstGeom>
          <a:solidFill>
            <a:srgbClr val="D9D9D9"/>
          </a:solidFill>
          <a:ln/>
        </p:spPr>
        <p:txBody>
          <a:bodyPr wrap="square" rtlCol="0" anchor="ctr"/>
          <a:lstStyle/>
          <a:p>
            <a:pPr marL="0" indent="0">
              <a:buNone/>
            </a:pPr>
            <a:endParaRPr lang="en-US" dirty="0"/>
          </a:p>
        </p:txBody>
      </p:sp>
      <p:sp>
        <p:nvSpPr>
          <p:cNvPr id="13" name="Text 11"/>
          <p:cNvSpPr/>
          <p:nvPr/>
        </p:nvSpPr>
        <p:spPr>
          <a:xfrm>
            <a:off x="692944" y="2858616"/>
            <a:ext cx="2343266" cy="160511"/>
          </a:xfrm>
          <a:prstGeom prst="rect">
            <a:avLst/>
          </a:prstGeom>
          <a:noFill/>
          <a:ln/>
        </p:spPr>
        <p:txBody>
          <a:bodyPr wrap="square" lIns="0" tIns="0" rIns="0" bIns="0" rtlCol="0" anchor="t"/>
          <a:lstStyle/>
          <a:p>
            <a:pPr marL="0" indent="0" algn="l">
              <a:lnSpc>
                <a:spcPts val="1264"/>
              </a:lnSpc>
              <a:buNone/>
            </a:pPr>
            <a:r>
              <a:rPr lang="en-US" sz="816" dirty="0">
                <a:solidFill>
                  <a:srgbClr val="1F1F1F"/>
                </a:solidFill>
                <a:latin typeface="Carlito" pitchFamily="34" charset="0"/>
                <a:ea typeface="Carlito" pitchFamily="34" charset="-122"/>
                <a:cs typeface="Carlito" pitchFamily="34" charset="-120"/>
              </a:rPr>
              <a:t>Key encapsulation. Lattice-based.</a:t>
            </a:r>
            <a:endParaRPr lang="en-US" sz="816" dirty="0"/>
          </a:p>
        </p:txBody>
      </p:sp>
      <p:sp>
        <p:nvSpPr>
          <p:cNvPr id="14" name="Text 12"/>
          <p:cNvSpPr/>
          <p:nvPr/>
        </p:nvSpPr>
        <p:spPr>
          <a:xfrm>
            <a:off x="3280097" y="2078050"/>
            <a:ext cx="2583693" cy="1101812"/>
          </a:xfrm>
          <a:prstGeom prst="rect">
            <a:avLst/>
          </a:prstGeom>
          <a:solidFill>
            <a:srgbClr val="FFFFFF"/>
          </a:solidFill>
          <a:ln w="7144">
            <a:solidFill>
              <a:srgbClr val="0A0A0A"/>
            </a:solidFill>
            <a:prstDash val="solid"/>
          </a:ln>
        </p:spPr>
        <p:txBody>
          <a:bodyPr wrap="square" rtlCol="0" anchor="ctr"/>
          <a:lstStyle/>
          <a:p>
            <a:pPr marL="0" indent="0">
              <a:buNone/>
            </a:pPr>
            <a:endParaRPr lang="en-US" dirty="0"/>
          </a:p>
        </p:txBody>
      </p:sp>
      <p:sp>
        <p:nvSpPr>
          <p:cNvPr id="15" name="Text 13"/>
          <p:cNvSpPr/>
          <p:nvPr/>
        </p:nvSpPr>
        <p:spPr>
          <a:xfrm>
            <a:off x="3455119" y="2238784"/>
            <a:ext cx="2233650"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Liberation Sans Narrow" pitchFamily="34" charset="0"/>
                <a:ea typeface="Liberation Sans Narrow" pitchFamily="34" charset="-122"/>
                <a:cs typeface="Liberation Sans Narrow" pitchFamily="34" charset="-120"/>
              </a:rPr>
              <a:t>STANDARD · FIPS 204</a:t>
            </a:r>
            <a:endParaRPr lang="en-US" sz="800" dirty="0"/>
          </a:p>
        </p:txBody>
      </p:sp>
      <p:sp>
        <p:nvSpPr>
          <p:cNvPr id="16" name="Text 14"/>
          <p:cNvSpPr/>
          <p:nvPr/>
        </p:nvSpPr>
        <p:spPr>
          <a:xfrm>
            <a:off x="3455119" y="2442381"/>
            <a:ext cx="2233650" cy="256653"/>
          </a:xfrm>
          <a:prstGeom prst="rect">
            <a:avLst/>
          </a:prstGeom>
          <a:noFill/>
          <a:ln/>
        </p:spPr>
        <p:txBody>
          <a:bodyPr wrap="none" lIns="0" tIns="0" rIns="0" bIns="0" rtlCol="0" anchor="t"/>
          <a:lstStyle/>
          <a:p>
            <a:pPr marL="0" indent="0" algn="l">
              <a:lnSpc>
                <a:spcPts val="1872"/>
              </a:lnSpc>
              <a:buNone/>
            </a:pPr>
            <a:r>
              <a:rPr lang="en-US" sz="1463" kern="0" spc="-18" dirty="0">
                <a:solidFill>
                  <a:srgbClr val="0A0A0A"/>
                </a:solidFill>
                <a:latin typeface="Carlito" pitchFamily="34" charset="0"/>
                <a:ea typeface="Carlito" pitchFamily="34" charset="-122"/>
                <a:cs typeface="Carlito" pitchFamily="34" charset="-120"/>
              </a:rPr>
              <a:t>ML-DSA</a:t>
            </a:r>
            <a:endParaRPr lang="en-US" sz="1463" dirty="0"/>
          </a:p>
        </p:txBody>
      </p:sp>
      <p:sp>
        <p:nvSpPr>
          <p:cNvPr id="17" name="Text 15"/>
          <p:cNvSpPr/>
          <p:nvPr/>
        </p:nvSpPr>
        <p:spPr>
          <a:xfrm>
            <a:off x="3455119" y="2765747"/>
            <a:ext cx="2233650" cy="7144"/>
          </a:xfrm>
          <a:prstGeom prst="rect">
            <a:avLst/>
          </a:prstGeom>
          <a:solidFill>
            <a:srgbClr val="D9D9D9"/>
          </a:solidFill>
          <a:ln/>
        </p:spPr>
        <p:txBody>
          <a:bodyPr wrap="square" rtlCol="0" anchor="ctr"/>
          <a:lstStyle/>
          <a:p>
            <a:pPr marL="0" indent="0">
              <a:buNone/>
            </a:pPr>
            <a:endParaRPr lang="en-US" dirty="0"/>
          </a:p>
        </p:txBody>
      </p:sp>
      <p:sp>
        <p:nvSpPr>
          <p:cNvPr id="18" name="Text 16"/>
          <p:cNvSpPr/>
          <p:nvPr/>
        </p:nvSpPr>
        <p:spPr>
          <a:xfrm>
            <a:off x="3455119" y="2858616"/>
            <a:ext cx="2343378" cy="160511"/>
          </a:xfrm>
          <a:prstGeom prst="rect">
            <a:avLst/>
          </a:prstGeom>
          <a:noFill/>
          <a:ln/>
        </p:spPr>
        <p:txBody>
          <a:bodyPr wrap="square" lIns="0" tIns="0" rIns="0" bIns="0" rtlCol="0" anchor="t"/>
          <a:lstStyle/>
          <a:p>
            <a:pPr marL="0" indent="0" algn="l">
              <a:lnSpc>
                <a:spcPts val="1264"/>
              </a:lnSpc>
              <a:buNone/>
            </a:pPr>
            <a:r>
              <a:rPr lang="en-US" sz="816" dirty="0">
                <a:solidFill>
                  <a:srgbClr val="1F1F1F"/>
                </a:solidFill>
                <a:latin typeface="Carlito" pitchFamily="34" charset="0"/>
                <a:ea typeface="Carlito" pitchFamily="34" charset="-122"/>
                <a:cs typeface="Carlito" pitchFamily="34" charset="-120"/>
              </a:rPr>
              <a:t>Digital signatures. Lattice-based.</a:t>
            </a:r>
            <a:endParaRPr lang="en-US" sz="816" dirty="0"/>
          </a:p>
        </p:txBody>
      </p:sp>
      <p:sp>
        <p:nvSpPr>
          <p:cNvPr id="19" name="Text 17"/>
          <p:cNvSpPr/>
          <p:nvPr/>
        </p:nvSpPr>
        <p:spPr>
          <a:xfrm>
            <a:off x="6042385" y="2078050"/>
            <a:ext cx="2583582" cy="1101812"/>
          </a:xfrm>
          <a:prstGeom prst="rect">
            <a:avLst/>
          </a:prstGeom>
          <a:solidFill>
            <a:srgbClr val="FFFFFF"/>
          </a:solidFill>
          <a:ln w="7144">
            <a:solidFill>
              <a:srgbClr val="0A0A0A"/>
            </a:solidFill>
            <a:prstDash val="solid"/>
          </a:ln>
        </p:spPr>
        <p:txBody>
          <a:bodyPr wrap="square" rtlCol="0" anchor="ctr"/>
          <a:lstStyle/>
          <a:p>
            <a:pPr marL="0" indent="0">
              <a:buNone/>
            </a:pPr>
            <a:endParaRPr lang="en-US" dirty="0"/>
          </a:p>
        </p:txBody>
      </p:sp>
      <p:sp>
        <p:nvSpPr>
          <p:cNvPr id="20" name="Text 18"/>
          <p:cNvSpPr/>
          <p:nvPr/>
        </p:nvSpPr>
        <p:spPr>
          <a:xfrm>
            <a:off x="6217407" y="2238784"/>
            <a:ext cx="2233538"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Liberation Sans Narrow" pitchFamily="34" charset="0"/>
                <a:ea typeface="Liberation Sans Narrow" pitchFamily="34" charset="-122"/>
                <a:cs typeface="Liberation Sans Narrow" pitchFamily="34" charset="-120"/>
              </a:rPr>
              <a:t>STANDARD · FIPS 205</a:t>
            </a:r>
            <a:endParaRPr lang="en-US" sz="800" dirty="0"/>
          </a:p>
        </p:txBody>
      </p:sp>
      <p:sp>
        <p:nvSpPr>
          <p:cNvPr id="21" name="Text 19"/>
          <p:cNvSpPr/>
          <p:nvPr/>
        </p:nvSpPr>
        <p:spPr>
          <a:xfrm>
            <a:off x="6217407" y="2442381"/>
            <a:ext cx="2233538" cy="256653"/>
          </a:xfrm>
          <a:prstGeom prst="rect">
            <a:avLst/>
          </a:prstGeom>
          <a:noFill/>
          <a:ln/>
        </p:spPr>
        <p:txBody>
          <a:bodyPr wrap="none" lIns="0" tIns="0" rIns="0" bIns="0" rtlCol="0" anchor="t"/>
          <a:lstStyle/>
          <a:p>
            <a:pPr marL="0" indent="0" algn="l">
              <a:lnSpc>
                <a:spcPts val="1872"/>
              </a:lnSpc>
              <a:buNone/>
            </a:pPr>
            <a:r>
              <a:rPr lang="en-US" sz="1463" kern="0" spc="-18" dirty="0">
                <a:solidFill>
                  <a:srgbClr val="0A0A0A"/>
                </a:solidFill>
                <a:latin typeface="Carlito" pitchFamily="34" charset="0"/>
                <a:ea typeface="Carlito" pitchFamily="34" charset="-122"/>
                <a:cs typeface="Carlito" pitchFamily="34" charset="-120"/>
              </a:rPr>
              <a:t>SLH-DSA</a:t>
            </a:r>
            <a:endParaRPr lang="en-US" sz="1463" dirty="0"/>
          </a:p>
        </p:txBody>
      </p:sp>
      <p:sp>
        <p:nvSpPr>
          <p:cNvPr id="22" name="Text 20"/>
          <p:cNvSpPr/>
          <p:nvPr/>
        </p:nvSpPr>
        <p:spPr>
          <a:xfrm>
            <a:off x="6217407" y="2765747"/>
            <a:ext cx="2233538" cy="7144"/>
          </a:xfrm>
          <a:prstGeom prst="rect">
            <a:avLst/>
          </a:prstGeom>
          <a:solidFill>
            <a:srgbClr val="D9D9D9"/>
          </a:solidFill>
          <a:ln/>
        </p:spPr>
        <p:txBody>
          <a:bodyPr wrap="square" rtlCol="0" anchor="ctr"/>
          <a:lstStyle/>
          <a:p>
            <a:pPr marL="0" indent="0">
              <a:buNone/>
            </a:pPr>
            <a:endParaRPr lang="en-US" dirty="0"/>
          </a:p>
        </p:txBody>
      </p:sp>
      <p:sp>
        <p:nvSpPr>
          <p:cNvPr id="23" name="Text 21"/>
          <p:cNvSpPr/>
          <p:nvPr/>
        </p:nvSpPr>
        <p:spPr>
          <a:xfrm>
            <a:off x="6217407" y="2858616"/>
            <a:ext cx="2343266" cy="160511"/>
          </a:xfrm>
          <a:prstGeom prst="rect">
            <a:avLst/>
          </a:prstGeom>
          <a:noFill/>
          <a:ln/>
        </p:spPr>
        <p:txBody>
          <a:bodyPr wrap="square" lIns="0" tIns="0" rIns="0" bIns="0" rtlCol="0" anchor="t"/>
          <a:lstStyle/>
          <a:p>
            <a:pPr marL="0" indent="0" algn="l">
              <a:lnSpc>
                <a:spcPts val="1264"/>
              </a:lnSpc>
              <a:buNone/>
            </a:pPr>
            <a:r>
              <a:rPr lang="en-US" sz="816" dirty="0">
                <a:solidFill>
                  <a:srgbClr val="1F1F1F"/>
                </a:solidFill>
                <a:latin typeface="Carlito" pitchFamily="34" charset="0"/>
                <a:ea typeface="Carlito" pitchFamily="34" charset="-122"/>
                <a:cs typeface="Carlito" pitchFamily="34" charset="-120"/>
              </a:rPr>
              <a:t>Hash-based signatures. Conservative.</a:t>
            </a:r>
            <a:endParaRPr lang="en-US" sz="816" dirty="0"/>
          </a:p>
        </p:txBody>
      </p:sp>
      <p:sp>
        <p:nvSpPr>
          <p:cNvPr id="24" name="Text 22"/>
          <p:cNvSpPr/>
          <p:nvPr/>
        </p:nvSpPr>
        <p:spPr>
          <a:xfrm>
            <a:off x="517922" y="3358455"/>
            <a:ext cx="8108156" cy="470036"/>
          </a:xfrm>
          <a:prstGeom prst="rect">
            <a:avLst/>
          </a:prstGeom>
          <a:solidFill>
            <a:srgbClr val="F4F4F4"/>
          </a:solidFill>
          <a:ln w="7144">
            <a:solidFill>
              <a:srgbClr val="D9D9D9"/>
            </a:solidFill>
            <a:prstDash val="solid"/>
          </a:ln>
        </p:spPr>
        <p:txBody>
          <a:bodyPr wrap="square" rtlCol="0" anchor="ctr"/>
          <a:lstStyle/>
          <a:p>
            <a:pPr marL="0" indent="0">
              <a:buNone/>
            </a:pPr>
            <a:endParaRPr lang="en-US" dirty="0"/>
          </a:p>
        </p:txBody>
      </p:sp>
      <p:sp>
        <p:nvSpPr>
          <p:cNvPr id="25" name="Text 23"/>
          <p:cNvSpPr/>
          <p:nvPr/>
        </p:nvSpPr>
        <p:spPr>
          <a:xfrm>
            <a:off x="678656" y="3504902"/>
            <a:ext cx="7786688" cy="177143"/>
          </a:xfrm>
          <a:prstGeom prst="rect">
            <a:avLst/>
          </a:prstGeom>
          <a:noFill/>
          <a:ln/>
        </p:spPr>
        <p:txBody>
          <a:bodyPr wrap="square" lIns="0" tIns="0" rIns="0" bIns="0" rtlCol="0" anchor="t"/>
          <a:lstStyle/>
          <a:p>
            <a:pPr marL="0" indent="0" algn="l">
              <a:lnSpc>
                <a:spcPts val="1395"/>
              </a:lnSpc>
              <a:buNone/>
            </a:pPr>
            <a:r>
              <a:rPr lang="en-US" sz="900" i="1" dirty="0">
                <a:solidFill>
                  <a:srgbClr val="1F1F1F"/>
                </a:solidFill>
                <a:latin typeface="Tinos" pitchFamily="34" charset="0"/>
                <a:ea typeface="Tinos" pitchFamily="34" charset="-122"/>
                <a:cs typeface="Tinos" pitchFamily="34" charset="-120"/>
              </a:rPr>
              <a:t>Hybrid deployment (e.g. X25519 + ML-KEM) is what we generate — a defect in PQC cannot make the system worse than it was.</a:t>
            </a:r>
            <a:endParaRPr lang="en-US" sz="900" dirty="0"/>
          </a:p>
        </p:txBody>
      </p:sp>
      <p:sp>
        <p:nvSpPr>
          <p:cNvPr id="26" name="Shape 24"/>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27" name="Text 25"/>
          <p:cNvSpPr/>
          <p:nvPr/>
        </p:nvSpPr>
        <p:spPr>
          <a:xfrm>
            <a:off x="1463040" y="4846320"/>
            <a:ext cx="7132320" cy="137160"/>
          </a:xfrm>
          <a:prstGeom prst="rect">
            <a:avLst/>
          </a:prstGeom>
          <a:noFill/>
          <a:ln/>
        </p:spPr>
        <p:txBody>
          <a:bodyPr wrap="squar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01 — PROBLEM IDENTIFICATION</a:t>
            </a:r>
            <a:endParaRPr lang="en-US" sz="800" dirty="0"/>
          </a:p>
        </p:txBody>
      </p:sp>
      <p:sp>
        <p:nvSpPr>
          <p:cNvPr id="28" name="Text 26"/>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10 / 39</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206803"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6735440" y="400050"/>
            <a:ext cx="2003938" cy="117872"/>
          </a:xfrm>
          <a:prstGeom prst="rect">
            <a:avLst/>
          </a:prstGeom>
          <a:noFill/>
          <a:ln/>
        </p:spPr>
        <p:txBody>
          <a:bodyPr wrap="squar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SECTION 01 — PROBLEM IDENTIFICATION</a:t>
            </a:r>
            <a:endParaRPr lang="en-US" sz="619" dirty="0"/>
          </a:p>
        </p:txBody>
      </p:sp>
      <p:sp>
        <p:nvSpPr>
          <p:cNvPr id="5" name="Text 3"/>
          <p:cNvSpPr/>
          <p:nvPr/>
        </p:nvSpPr>
        <p:spPr>
          <a:xfrm>
            <a:off x="514350" y="853678"/>
            <a:ext cx="8629650" cy="164592"/>
          </a:xfrm>
          <a:prstGeom prst="rect">
            <a:avLst/>
          </a:prstGeom>
          <a:noFill/>
          <a:ln/>
        </p:spPr>
        <p:txBody>
          <a:bodyPr wrap="none" lIns="0" tIns="0" rIns="0" bIns="0" rtlCol="0" anchor="t"/>
          <a:lstStyle/>
          <a:p>
            <a:pPr marL="0" indent="0" algn="l">
              <a:lnSpc>
                <a:spcPts val="928"/>
              </a:lnSpc>
              <a:buNone/>
            </a:pPr>
            <a:r>
              <a:rPr lang="en-US" sz="800" kern="0" spc="136" dirty="0">
                <a:solidFill>
                  <a:srgbClr val="4A4A4A"/>
                </a:solidFill>
                <a:latin typeface="Liberation Sans Narrow" pitchFamily="34" charset="0"/>
                <a:ea typeface="Liberation Sans Narrow" pitchFamily="34" charset="-122"/>
                <a:cs typeface="Liberation Sans Narrow" pitchFamily="34" charset="-120"/>
              </a:rPr>
              <a:t>1.3 THREAT MODEL</a:t>
            </a:r>
            <a:endParaRPr lang="en-US" sz="800" dirty="0"/>
          </a:p>
        </p:txBody>
      </p:sp>
      <p:sp>
        <p:nvSpPr>
          <p:cNvPr id="6" name="Text 4"/>
          <p:cNvSpPr/>
          <p:nvPr/>
        </p:nvSpPr>
        <p:spPr>
          <a:xfrm>
            <a:off x="514350" y="1057275"/>
            <a:ext cx="8629650" cy="345619"/>
          </a:xfrm>
          <a:prstGeom prst="rect">
            <a:avLst/>
          </a:prstGeom>
          <a:noFill/>
          <a:ln/>
        </p:spPr>
        <p:txBody>
          <a:bodyPr wrap="squar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A passive and patient adversary.</a:t>
            </a:r>
            <a:endParaRPr lang="en-US" sz="2250" dirty="0"/>
          </a:p>
        </p:txBody>
      </p:sp>
      <p:sp>
        <p:nvSpPr>
          <p:cNvPr id="7" name="Text 5"/>
          <p:cNvSpPr/>
          <p:nvPr/>
        </p:nvSpPr>
        <p:spPr>
          <a:xfrm>
            <a:off x="514350" y="1520168"/>
            <a:ext cx="400050" cy="28575"/>
          </a:xfrm>
          <a:prstGeom prst="rect">
            <a:avLst/>
          </a:prstGeom>
          <a:solidFill>
            <a:srgbClr val="0A0A0A"/>
          </a:solidFill>
          <a:ln/>
        </p:spPr>
        <p:txBody>
          <a:bodyPr wrap="square" rtlCol="0" anchor="ctr"/>
          <a:lstStyle/>
          <a:p>
            <a:pPr marL="0" indent="0">
              <a:buNone/>
            </a:pPr>
            <a:endParaRPr lang="en-US" dirty="0"/>
          </a:p>
        </p:txBody>
      </p:sp>
      <p:sp>
        <p:nvSpPr>
          <p:cNvPr id="8" name="Text 6"/>
          <p:cNvSpPr/>
          <p:nvPr/>
        </p:nvSpPr>
        <p:spPr>
          <a:xfrm>
            <a:off x="514350" y="1748768"/>
            <a:ext cx="3857625" cy="2858138"/>
          </a:xfrm>
          <a:prstGeom prst="rect">
            <a:avLst/>
          </a:prstGeom>
          <a:noFill/>
          <a:ln/>
        </p:spPr>
        <p:txBody>
          <a:bodyPr wrap="square" lIns="0" tIns="0" rIns="0" bIns="0" rtlCol="0" anchor="t"/>
          <a:lstStyle/>
          <a:p>
            <a:pPr marL="0" indent="0" algn="l">
              <a:lnSpc>
                <a:spcPts val="1485"/>
              </a:lnSpc>
              <a:buNone/>
            </a:pPr>
            <a:r>
              <a:rPr lang="en-US" sz="900" dirty="0">
                <a:solidFill>
                  <a:srgbClr val="1F1F1F"/>
                </a:solidFill>
                <a:latin typeface="Carlito" pitchFamily="34" charset="0"/>
                <a:ea typeface="Carlito" pitchFamily="34" charset="-122"/>
                <a:cs typeface="Carlito" pitchFamily="34" charset="-120"/>
              </a:rPr>
              <a:t>The adversary cannot break RSA or ECC today. They record ciphertext, store it indefinitely, and decrypt once a CRQC exists. Detection after the fact provides no remedy — this is the property that distinguishes HNDL from every other vulnerability class, and the reason forward secrecy cannot help retroactively.</a:t>
            </a:r>
            <a:endParaRPr lang="en-US" sz="900" dirty="0"/>
          </a:p>
        </p:txBody>
      </p:sp>
      <p:sp>
        <p:nvSpPr>
          <p:cNvPr id="9" name="Text 7"/>
          <p:cNvSpPr/>
          <p:nvPr/>
        </p:nvSpPr>
        <p:spPr>
          <a:xfrm>
            <a:off x="4775597" y="1752340"/>
            <a:ext cx="3850481" cy="2639281"/>
          </a:xfrm>
          <a:prstGeom prst="rect">
            <a:avLst/>
          </a:prstGeom>
          <a:solidFill>
            <a:srgbClr val="FFFFFF"/>
          </a:solidFill>
          <a:ln w="7144">
            <a:solidFill>
              <a:srgbClr val="0A0A0A"/>
            </a:solidFill>
            <a:prstDash val="solid"/>
          </a:ln>
        </p:spPr>
        <p:txBody>
          <a:bodyPr wrap="square" rtlCol="0" anchor="ctr"/>
          <a:lstStyle/>
          <a:p>
            <a:pPr marL="0" indent="0">
              <a:buNone/>
            </a:pPr>
            <a:endParaRPr lang="en-US" dirty="0"/>
          </a:p>
        </p:txBody>
      </p:sp>
      <p:sp>
        <p:nvSpPr>
          <p:cNvPr id="10" name="Text 8"/>
          <p:cNvSpPr/>
          <p:nvPr/>
        </p:nvSpPr>
        <p:spPr>
          <a:xfrm>
            <a:off x="4950619" y="1913074"/>
            <a:ext cx="3500437"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ASSUMPTIONS</a:t>
            </a:r>
            <a:endParaRPr lang="en-US" sz="800" dirty="0"/>
          </a:p>
        </p:txBody>
      </p:sp>
      <p:sp>
        <p:nvSpPr>
          <p:cNvPr id="11" name="Text 9"/>
          <p:cNvSpPr/>
          <p:nvPr/>
        </p:nvSpPr>
        <p:spPr>
          <a:xfrm>
            <a:off x="4950619" y="2230971"/>
            <a:ext cx="320040" cy="164592"/>
          </a:xfrm>
          <a:prstGeom prst="rect">
            <a:avLst/>
          </a:prstGeom>
          <a:noFill/>
          <a:ln/>
        </p:spPr>
        <p:txBody>
          <a:bodyPr wrap="none" lIns="0" tIns="0" rIns="0" bIns="0" rtlCol="0" anchor="t"/>
          <a:lstStyle/>
          <a:p>
            <a:pPr marL="0" indent="0" algn="l">
              <a:lnSpc>
                <a:spcPts val="1181"/>
              </a:lnSpc>
              <a:buNone/>
            </a:pPr>
            <a:r>
              <a:rPr lang="en-US" sz="800" b="1" dirty="0">
                <a:solidFill>
                  <a:srgbClr val="0A0A0A"/>
                </a:solidFill>
                <a:latin typeface="Liberation Sans Narrow" pitchFamily="34" charset="0"/>
                <a:ea typeface="Liberation Sans Narrow" pitchFamily="34" charset="-122"/>
                <a:cs typeface="Liberation Sans Narrow" pitchFamily="34" charset="-120"/>
              </a:rPr>
              <a:t>01</a:t>
            </a:r>
            <a:endParaRPr lang="en-US" sz="800" dirty="0"/>
          </a:p>
        </p:txBody>
      </p:sp>
      <p:sp>
        <p:nvSpPr>
          <p:cNvPr id="12" name="Text 10"/>
          <p:cNvSpPr/>
          <p:nvPr/>
        </p:nvSpPr>
        <p:spPr>
          <a:xfrm>
            <a:off x="5250656" y="2230971"/>
            <a:ext cx="3200400" cy="169980"/>
          </a:xfrm>
          <a:prstGeom prst="rect">
            <a:avLst/>
          </a:prstGeom>
          <a:noFill/>
          <a:ln/>
        </p:spPr>
        <p:txBody>
          <a:bodyPr wrap="square" lIns="0" tIns="0" rIns="0" bIns="0" rtlCol="0" anchor="t"/>
          <a:lstStyle/>
          <a:p>
            <a:pPr marL="0" indent="0" algn="l">
              <a:lnSpc>
                <a:spcPts val="1221"/>
              </a:lnSpc>
              <a:buNone/>
            </a:pPr>
            <a:r>
              <a:rPr lang="en-US" sz="800" dirty="0">
                <a:solidFill>
                  <a:srgbClr val="1F1F1F"/>
                </a:solidFill>
                <a:latin typeface="Carlito" pitchFamily="34" charset="0"/>
                <a:ea typeface="Carlito" pitchFamily="34" charset="-122"/>
                <a:cs typeface="Carlito" pitchFamily="34" charset="-120"/>
              </a:rPr>
              <a:t>Adversary is passive and patient.</a:t>
            </a:r>
            <a:endParaRPr lang="en-US" sz="800" dirty="0"/>
          </a:p>
        </p:txBody>
      </p:sp>
      <p:sp>
        <p:nvSpPr>
          <p:cNvPr id="13" name="Text 11"/>
          <p:cNvSpPr/>
          <p:nvPr/>
        </p:nvSpPr>
        <p:spPr>
          <a:xfrm>
            <a:off x="4950619" y="2471626"/>
            <a:ext cx="3500438" cy="7144"/>
          </a:xfrm>
          <a:prstGeom prst="rect">
            <a:avLst/>
          </a:prstGeom>
          <a:solidFill>
            <a:srgbClr val="D9D9D9"/>
          </a:solidFill>
          <a:ln/>
        </p:spPr>
        <p:txBody>
          <a:bodyPr wrap="square" rtlCol="0" anchor="ctr"/>
          <a:lstStyle/>
          <a:p>
            <a:pPr marL="0" indent="0">
              <a:buNone/>
            </a:pPr>
            <a:endParaRPr lang="en-US" dirty="0"/>
          </a:p>
        </p:txBody>
      </p:sp>
      <p:sp>
        <p:nvSpPr>
          <p:cNvPr id="14" name="Text 12"/>
          <p:cNvSpPr/>
          <p:nvPr/>
        </p:nvSpPr>
        <p:spPr>
          <a:xfrm>
            <a:off x="4950619" y="2564495"/>
            <a:ext cx="320040" cy="164592"/>
          </a:xfrm>
          <a:prstGeom prst="rect">
            <a:avLst/>
          </a:prstGeom>
          <a:noFill/>
          <a:ln/>
        </p:spPr>
        <p:txBody>
          <a:bodyPr wrap="none" lIns="0" tIns="0" rIns="0" bIns="0" rtlCol="0" anchor="t"/>
          <a:lstStyle/>
          <a:p>
            <a:pPr marL="0" indent="0" algn="l">
              <a:lnSpc>
                <a:spcPts val="1181"/>
              </a:lnSpc>
              <a:buNone/>
            </a:pPr>
            <a:r>
              <a:rPr lang="en-US" sz="800" b="1" dirty="0">
                <a:solidFill>
                  <a:srgbClr val="0A0A0A"/>
                </a:solidFill>
                <a:latin typeface="Liberation Sans Narrow" pitchFamily="34" charset="0"/>
                <a:ea typeface="Liberation Sans Narrow" pitchFamily="34" charset="-122"/>
                <a:cs typeface="Liberation Sans Narrow" pitchFamily="34" charset="-120"/>
              </a:rPr>
              <a:t>02</a:t>
            </a:r>
            <a:endParaRPr lang="en-US" sz="800" dirty="0"/>
          </a:p>
        </p:txBody>
      </p:sp>
      <p:sp>
        <p:nvSpPr>
          <p:cNvPr id="15" name="Text 13"/>
          <p:cNvSpPr/>
          <p:nvPr/>
        </p:nvSpPr>
        <p:spPr>
          <a:xfrm>
            <a:off x="5250656" y="2564495"/>
            <a:ext cx="3200400" cy="169980"/>
          </a:xfrm>
          <a:prstGeom prst="rect">
            <a:avLst/>
          </a:prstGeom>
          <a:noFill/>
          <a:ln/>
        </p:spPr>
        <p:txBody>
          <a:bodyPr wrap="square" lIns="0" tIns="0" rIns="0" bIns="0" rtlCol="0" anchor="t"/>
          <a:lstStyle/>
          <a:p>
            <a:pPr marL="0" indent="0" algn="l">
              <a:lnSpc>
                <a:spcPts val="1221"/>
              </a:lnSpc>
              <a:buNone/>
            </a:pPr>
            <a:r>
              <a:rPr lang="en-US" sz="800" dirty="0">
                <a:solidFill>
                  <a:srgbClr val="1F1F1F"/>
                </a:solidFill>
                <a:latin typeface="Carlito" pitchFamily="34" charset="0"/>
                <a:ea typeface="Carlito" pitchFamily="34" charset="-122"/>
                <a:cs typeface="Carlito" pitchFamily="34" charset="-120"/>
              </a:rPr>
              <a:t>Cannot break RSA / ECC today.</a:t>
            </a:r>
            <a:endParaRPr lang="en-US" sz="800" dirty="0"/>
          </a:p>
        </p:txBody>
      </p:sp>
      <p:sp>
        <p:nvSpPr>
          <p:cNvPr id="16" name="Text 14"/>
          <p:cNvSpPr/>
          <p:nvPr/>
        </p:nvSpPr>
        <p:spPr>
          <a:xfrm>
            <a:off x="4950619" y="2805150"/>
            <a:ext cx="3500438" cy="7144"/>
          </a:xfrm>
          <a:prstGeom prst="rect">
            <a:avLst/>
          </a:prstGeom>
          <a:solidFill>
            <a:srgbClr val="D9D9D9"/>
          </a:solidFill>
          <a:ln/>
        </p:spPr>
        <p:txBody>
          <a:bodyPr wrap="square" rtlCol="0" anchor="ctr"/>
          <a:lstStyle/>
          <a:p>
            <a:pPr marL="0" indent="0">
              <a:buNone/>
            </a:pPr>
            <a:endParaRPr lang="en-US" dirty="0"/>
          </a:p>
        </p:txBody>
      </p:sp>
      <p:sp>
        <p:nvSpPr>
          <p:cNvPr id="17" name="Text 15"/>
          <p:cNvSpPr/>
          <p:nvPr/>
        </p:nvSpPr>
        <p:spPr>
          <a:xfrm>
            <a:off x="4950619" y="2898018"/>
            <a:ext cx="320040" cy="164592"/>
          </a:xfrm>
          <a:prstGeom prst="rect">
            <a:avLst/>
          </a:prstGeom>
          <a:noFill/>
          <a:ln/>
        </p:spPr>
        <p:txBody>
          <a:bodyPr wrap="none" lIns="0" tIns="0" rIns="0" bIns="0" rtlCol="0" anchor="t"/>
          <a:lstStyle/>
          <a:p>
            <a:pPr marL="0" indent="0" algn="l">
              <a:lnSpc>
                <a:spcPts val="1181"/>
              </a:lnSpc>
              <a:buNone/>
            </a:pPr>
            <a:r>
              <a:rPr lang="en-US" sz="800" b="1" dirty="0">
                <a:solidFill>
                  <a:srgbClr val="0A0A0A"/>
                </a:solidFill>
                <a:latin typeface="Liberation Sans Narrow" pitchFamily="34" charset="0"/>
                <a:ea typeface="Liberation Sans Narrow" pitchFamily="34" charset="-122"/>
                <a:cs typeface="Liberation Sans Narrow" pitchFamily="34" charset="-120"/>
              </a:rPr>
              <a:t>03</a:t>
            </a:r>
            <a:endParaRPr lang="en-US" sz="800" dirty="0"/>
          </a:p>
        </p:txBody>
      </p:sp>
      <p:sp>
        <p:nvSpPr>
          <p:cNvPr id="18" name="Text 16"/>
          <p:cNvSpPr/>
          <p:nvPr/>
        </p:nvSpPr>
        <p:spPr>
          <a:xfrm>
            <a:off x="5250656" y="2898018"/>
            <a:ext cx="3200400" cy="169980"/>
          </a:xfrm>
          <a:prstGeom prst="rect">
            <a:avLst/>
          </a:prstGeom>
          <a:noFill/>
          <a:ln/>
        </p:spPr>
        <p:txBody>
          <a:bodyPr wrap="square" lIns="0" tIns="0" rIns="0" bIns="0" rtlCol="0" anchor="t"/>
          <a:lstStyle/>
          <a:p>
            <a:pPr marL="0" indent="0" algn="l">
              <a:lnSpc>
                <a:spcPts val="1221"/>
              </a:lnSpc>
              <a:buNone/>
            </a:pPr>
            <a:r>
              <a:rPr lang="en-US" sz="800" dirty="0">
                <a:solidFill>
                  <a:srgbClr val="1F1F1F"/>
                </a:solidFill>
                <a:latin typeface="Carlito" pitchFamily="34" charset="0"/>
                <a:ea typeface="Carlito" pitchFamily="34" charset="-122"/>
                <a:cs typeface="Carlito" pitchFamily="34" charset="-120"/>
              </a:rPr>
              <a:t>Records ciphertext in transit or at rest.</a:t>
            </a:r>
            <a:endParaRPr lang="en-US" sz="800" dirty="0"/>
          </a:p>
        </p:txBody>
      </p:sp>
      <p:sp>
        <p:nvSpPr>
          <p:cNvPr id="19" name="Text 17"/>
          <p:cNvSpPr/>
          <p:nvPr/>
        </p:nvSpPr>
        <p:spPr>
          <a:xfrm>
            <a:off x="4950619" y="3138674"/>
            <a:ext cx="3500438" cy="7144"/>
          </a:xfrm>
          <a:prstGeom prst="rect">
            <a:avLst/>
          </a:prstGeom>
          <a:solidFill>
            <a:srgbClr val="D9D9D9"/>
          </a:solidFill>
          <a:ln/>
        </p:spPr>
        <p:txBody>
          <a:bodyPr wrap="square" rtlCol="0" anchor="ctr"/>
          <a:lstStyle/>
          <a:p>
            <a:pPr marL="0" indent="0">
              <a:buNone/>
            </a:pPr>
            <a:endParaRPr lang="en-US" dirty="0"/>
          </a:p>
        </p:txBody>
      </p:sp>
      <p:sp>
        <p:nvSpPr>
          <p:cNvPr id="20" name="Text 18"/>
          <p:cNvSpPr/>
          <p:nvPr/>
        </p:nvSpPr>
        <p:spPr>
          <a:xfrm>
            <a:off x="4950619" y="3231542"/>
            <a:ext cx="320040" cy="164592"/>
          </a:xfrm>
          <a:prstGeom prst="rect">
            <a:avLst/>
          </a:prstGeom>
          <a:noFill/>
          <a:ln/>
        </p:spPr>
        <p:txBody>
          <a:bodyPr wrap="none" lIns="0" tIns="0" rIns="0" bIns="0" rtlCol="0" anchor="t"/>
          <a:lstStyle/>
          <a:p>
            <a:pPr marL="0" indent="0" algn="l">
              <a:lnSpc>
                <a:spcPts val="1181"/>
              </a:lnSpc>
              <a:buNone/>
            </a:pPr>
            <a:r>
              <a:rPr lang="en-US" sz="800" b="1" dirty="0">
                <a:solidFill>
                  <a:srgbClr val="0A0A0A"/>
                </a:solidFill>
                <a:latin typeface="Liberation Sans Narrow" pitchFamily="34" charset="0"/>
                <a:ea typeface="Liberation Sans Narrow" pitchFamily="34" charset="-122"/>
                <a:cs typeface="Liberation Sans Narrow" pitchFamily="34" charset="-120"/>
              </a:rPr>
              <a:t>04</a:t>
            </a:r>
            <a:endParaRPr lang="en-US" sz="800" dirty="0"/>
          </a:p>
        </p:txBody>
      </p:sp>
      <p:sp>
        <p:nvSpPr>
          <p:cNvPr id="21" name="Text 19"/>
          <p:cNvSpPr/>
          <p:nvPr/>
        </p:nvSpPr>
        <p:spPr>
          <a:xfrm>
            <a:off x="5250656" y="3231542"/>
            <a:ext cx="3200400" cy="169980"/>
          </a:xfrm>
          <a:prstGeom prst="rect">
            <a:avLst/>
          </a:prstGeom>
          <a:noFill/>
          <a:ln/>
        </p:spPr>
        <p:txBody>
          <a:bodyPr wrap="square" lIns="0" tIns="0" rIns="0" bIns="0" rtlCol="0" anchor="t"/>
          <a:lstStyle/>
          <a:p>
            <a:pPr marL="0" indent="0" algn="l">
              <a:lnSpc>
                <a:spcPts val="1221"/>
              </a:lnSpc>
              <a:buNone/>
            </a:pPr>
            <a:r>
              <a:rPr lang="en-US" sz="800" dirty="0">
                <a:solidFill>
                  <a:srgbClr val="1F1F1F"/>
                </a:solidFill>
                <a:latin typeface="Carlito" pitchFamily="34" charset="0"/>
                <a:ea typeface="Carlito" pitchFamily="34" charset="-122"/>
                <a:cs typeface="Carlito" pitchFamily="34" charset="-120"/>
              </a:rPr>
              <a:t>Detection after the fact provides no remedy.</a:t>
            </a:r>
            <a:endParaRPr lang="en-US" sz="800" dirty="0"/>
          </a:p>
        </p:txBody>
      </p:sp>
      <p:sp>
        <p:nvSpPr>
          <p:cNvPr id="22" name="Text 20"/>
          <p:cNvSpPr/>
          <p:nvPr/>
        </p:nvSpPr>
        <p:spPr>
          <a:xfrm>
            <a:off x="514350" y="4538067"/>
            <a:ext cx="8115300" cy="7144"/>
          </a:xfrm>
          <a:prstGeom prst="rect">
            <a:avLst/>
          </a:prstGeom>
          <a:solidFill>
            <a:srgbClr val="D9D9D9"/>
          </a:solidFill>
          <a:ln/>
        </p:spPr>
        <p:txBody>
          <a:bodyPr wrap="square" rtlCol="0" anchor="ctr"/>
          <a:lstStyle/>
          <a:p>
            <a:pPr marL="0" indent="0">
              <a:buNone/>
            </a:pPr>
            <a:endParaRPr lang="en-US" dirty="0"/>
          </a:p>
        </p:txBody>
      </p:sp>
      <p:sp>
        <p:nvSpPr>
          <p:cNvPr id="23" name="Text 21"/>
          <p:cNvSpPr/>
          <p:nvPr/>
        </p:nvSpPr>
        <p:spPr>
          <a:xfrm>
            <a:off x="514350" y="4630936"/>
            <a:ext cx="8629650" cy="91440"/>
          </a:xfrm>
          <a:prstGeom prst="rect">
            <a:avLst/>
          </a:prstGeom>
          <a:noFill/>
          <a:ln/>
        </p:spPr>
        <p:txBody>
          <a:bodyPr wrap="square" lIns="0" tIns="0" rIns="0" bIns="0" rtlCol="0" anchor="t">
            <a:normAutofit fontScale="25000" lnSpcReduction="20000"/>
          </a:bodyPr>
          <a:lstStyle/>
          <a:p>
            <a:pPr marL="0" indent="0" algn="l">
              <a:lnSpc>
                <a:spcPts val="886"/>
              </a:lnSpc>
              <a:buNone/>
            </a:pPr>
            <a:r>
              <a:rPr lang="en-US" sz="800" kern="0" spc="130" dirty="0">
                <a:solidFill>
                  <a:srgbClr val="4A4A4A"/>
                </a:solidFill>
                <a:latin typeface="Carlito" pitchFamily="34" charset="0"/>
                <a:ea typeface="Carlito" pitchFamily="34" charset="-122"/>
                <a:cs typeface="Carlito" pitchFamily="34" charset="-120"/>
              </a:rPr>
              <a:t>FOOTNOTE — EVERY TERM EXCEPT Z IN MOSCA'S INEQUALITY IS RECOVERABLE FROM CODE.</a:t>
            </a:r>
            <a:endParaRPr lang="en-US" sz="800" dirty="0"/>
          </a:p>
        </p:txBody>
      </p:sp>
      <p:sp>
        <p:nvSpPr>
          <p:cNvPr id="24" name="Shape 22"/>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25" name="Text 23"/>
          <p:cNvSpPr/>
          <p:nvPr/>
        </p:nvSpPr>
        <p:spPr>
          <a:xfrm>
            <a:off x="1463040" y="4846320"/>
            <a:ext cx="7132320" cy="137160"/>
          </a:xfrm>
          <a:prstGeom prst="rect">
            <a:avLst/>
          </a:prstGeom>
          <a:noFill/>
          <a:ln/>
        </p:spPr>
        <p:txBody>
          <a:bodyPr wrap="squar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01 — PROBLEM IDENTIFICATION</a:t>
            </a:r>
            <a:endParaRPr lang="en-US" sz="800" dirty="0"/>
          </a:p>
        </p:txBody>
      </p:sp>
      <p:sp>
        <p:nvSpPr>
          <p:cNvPr id="26" name="Text 24"/>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11 / 39</a:t>
            </a:r>
            <a:endParaRPr lang="en-US" sz="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721934"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7250571" y="400050"/>
            <a:ext cx="1461823" cy="117872"/>
          </a:xfrm>
          <a:prstGeom prst="rect">
            <a:avLst/>
          </a:prstGeom>
          <a:noFill/>
          <a:ln/>
        </p:spPr>
        <p:txBody>
          <a:bodyPr wrap="squar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SECTION 02 — JUSTIFICATION</a:t>
            </a:r>
            <a:endParaRPr lang="en-US" sz="619" dirty="0"/>
          </a:p>
        </p:txBody>
      </p:sp>
      <p:sp>
        <p:nvSpPr>
          <p:cNvPr id="5" name="Text 3"/>
          <p:cNvSpPr/>
          <p:nvPr/>
        </p:nvSpPr>
        <p:spPr>
          <a:xfrm>
            <a:off x="514350" y="853678"/>
            <a:ext cx="8629650" cy="164592"/>
          </a:xfrm>
          <a:prstGeom prst="rect">
            <a:avLst/>
          </a:prstGeom>
          <a:noFill/>
          <a:ln/>
        </p:spPr>
        <p:txBody>
          <a:bodyPr wrap="square" lIns="0" tIns="0" rIns="0" bIns="0" rtlCol="0" anchor="t"/>
          <a:lstStyle/>
          <a:p>
            <a:pPr marL="0" indent="0" algn="l">
              <a:lnSpc>
                <a:spcPts val="928"/>
              </a:lnSpc>
              <a:buNone/>
            </a:pPr>
            <a:r>
              <a:rPr lang="en-US" sz="800" kern="0" spc="136" dirty="0">
                <a:solidFill>
                  <a:srgbClr val="4A4A4A"/>
                </a:solidFill>
                <a:latin typeface="Carlito" pitchFamily="34" charset="0"/>
                <a:ea typeface="Carlito" pitchFamily="34" charset="-122"/>
                <a:cs typeface="Carlito" pitchFamily="34" charset="-120"/>
              </a:rPr>
              <a:t>2.1 THE REQUIREMENT IS MANDATED AND DATED</a:t>
            </a:r>
            <a:endParaRPr lang="en-US" sz="800" dirty="0"/>
          </a:p>
        </p:txBody>
      </p:sp>
      <p:sp>
        <p:nvSpPr>
          <p:cNvPr id="6" name="Text 4"/>
          <p:cNvSpPr/>
          <p:nvPr/>
        </p:nvSpPr>
        <p:spPr>
          <a:xfrm>
            <a:off x="514350" y="1057275"/>
            <a:ext cx="8629650" cy="345619"/>
          </a:xfrm>
          <a:prstGeom prst="rect">
            <a:avLst/>
          </a:prstGeom>
          <a:noFill/>
          <a:ln/>
        </p:spPr>
        <p:txBody>
          <a:bodyPr wrap="squar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Compliance deadlines, not predictions.</a:t>
            </a:r>
            <a:endParaRPr lang="en-US" sz="2250" dirty="0"/>
          </a:p>
        </p:txBody>
      </p:sp>
      <p:sp>
        <p:nvSpPr>
          <p:cNvPr id="7" name="Text 5"/>
          <p:cNvSpPr/>
          <p:nvPr/>
        </p:nvSpPr>
        <p:spPr>
          <a:xfrm>
            <a:off x="514350" y="1520168"/>
            <a:ext cx="400050" cy="28575"/>
          </a:xfrm>
          <a:prstGeom prst="rect">
            <a:avLst/>
          </a:prstGeom>
          <a:solidFill>
            <a:srgbClr val="0A0A0A"/>
          </a:solidFill>
          <a:ln/>
        </p:spPr>
        <p:txBody>
          <a:bodyPr wrap="square" rtlCol="0" anchor="ctr"/>
          <a:lstStyle/>
          <a:p>
            <a:pPr marL="0" indent="0">
              <a:buNone/>
            </a:pPr>
            <a:endParaRPr lang="en-US" dirty="0"/>
          </a:p>
        </p:txBody>
      </p:sp>
      <p:sp>
        <p:nvSpPr>
          <p:cNvPr id="8" name="Text 6"/>
          <p:cNvSpPr/>
          <p:nvPr/>
        </p:nvSpPr>
        <p:spPr>
          <a:xfrm>
            <a:off x="514350" y="1691618"/>
            <a:ext cx="7715250" cy="191314"/>
          </a:xfrm>
          <a:prstGeom prst="rect">
            <a:avLst/>
          </a:prstGeom>
          <a:noFill/>
          <a:ln/>
        </p:spPr>
        <p:txBody>
          <a:bodyPr wrap="square" lIns="0" tIns="0" rIns="0" bIns="0" rtlCol="0" anchor="t"/>
          <a:lstStyle/>
          <a:p>
            <a:pPr marL="0" indent="0" algn="l">
              <a:lnSpc>
                <a:spcPts val="1395"/>
              </a:lnSpc>
              <a:buNone/>
            </a:pPr>
            <a:r>
              <a:rPr lang="en-US" sz="872" dirty="0">
                <a:solidFill>
                  <a:srgbClr val="1F1F1F"/>
                </a:solidFill>
                <a:latin typeface="Carlito" pitchFamily="34" charset="0"/>
                <a:ea typeface="Carlito" pitchFamily="34" charset="-122"/>
                <a:cs typeface="Carlito" pitchFamily="34" charset="-120"/>
              </a:rPr>
              <a:t>The project targets a compliance artefact with a legal deadline. Its value does not depend on any prediction about when quantum computers arrive.</a:t>
            </a:r>
            <a:endParaRPr lang="en-US" sz="872" dirty="0"/>
          </a:p>
        </p:txBody>
      </p:sp>
      <p:sp>
        <p:nvSpPr>
          <p:cNvPr id="9" name="Text 7"/>
          <p:cNvSpPr/>
          <p:nvPr/>
        </p:nvSpPr>
        <p:spPr>
          <a:xfrm>
            <a:off x="517922" y="2043782"/>
            <a:ext cx="2593181" cy="2347838"/>
          </a:xfrm>
          <a:prstGeom prst="rect">
            <a:avLst/>
          </a:prstGeom>
          <a:solidFill>
            <a:srgbClr val="FFFFFF"/>
          </a:solidFill>
          <a:ln w="7144">
            <a:solidFill>
              <a:srgbClr val="0A0A0A"/>
            </a:solidFill>
            <a:prstDash val="solid"/>
          </a:ln>
        </p:spPr>
        <p:txBody>
          <a:bodyPr wrap="square" rtlCol="0" anchor="ctr"/>
          <a:lstStyle/>
          <a:p>
            <a:pPr marL="0" indent="0">
              <a:buNone/>
            </a:pPr>
            <a:endParaRPr lang="en-US" dirty="0"/>
          </a:p>
        </p:txBody>
      </p:sp>
      <p:sp>
        <p:nvSpPr>
          <p:cNvPr id="10" name="Text 8"/>
          <p:cNvSpPr/>
          <p:nvPr/>
        </p:nvSpPr>
        <p:spPr>
          <a:xfrm>
            <a:off x="692944" y="2204517"/>
            <a:ext cx="2243138" cy="164592"/>
          </a:xfrm>
          <a:prstGeom prst="rect">
            <a:avLst/>
          </a:prstGeom>
          <a:noFill/>
          <a:ln/>
        </p:spPr>
        <p:txBody>
          <a:bodyPr wrap="none" lIns="0" tIns="0" rIns="0" bIns="0" rtlCol="0" anchor="t"/>
          <a:lstStyle/>
          <a:p>
            <a:pPr marL="0" indent="0" algn="l">
              <a:lnSpc>
                <a:spcPts val="844"/>
              </a:lnSpc>
              <a:buNone/>
            </a:pPr>
            <a:r>
              <a:rPr lang="en-US" sz="800" kern="0" spc="101" dirty="0">
                <a:solidFill>
                  <a:srgbClr val="0A0A0A"/>
                </a:solidFill>
                <a:latin typeface="Courier New" pitchFamily="34" charset="0"/>
                <a:ea typeface="Courier New" pitchFamily="34" charset="-122"/>
                <a:cs typeface="Courier New" pitchFamily="34" charset="-120"/>
              </a:rPr>
              <a:t>INDIA / CII</a:t>
            </a:r>
            <a:endParaRPr lang="en-US" sz="800" dirty="0"/>
          </a:p>
        </p:txBody>
      </p:sp>
      <p:sp>
        <p:nvSpPr>
          <p:cNvPr id="11" name="Text 9"/>
          <p:cNvSpPr/>
          <p:nvPr/>
        </p:nvSpPr>
        <p:spPr>
          <a:xfrm>
            <a:off x="692944" y="2397398"/>
            <a:ext cx="2243138" cy="277749"/>
          </a:xfrm>
          <a:prstGeom prst="rect">
            <a:avLst/>
          </a:prstGeom>
          <a:noFill/>
          <a:ln/>
        </p:spPr>
        <p:txBody>
          <a:bodyPr wrap="none" lIns="0" tIns="0" rIns="0" bIns="0" rtlCol="0" anchor="t"/>
          <a:lstStyle/>
          <a:p>
            <a:pPr marL="0" indent="0" algn="l">
              <a:lnSpc>
                <a:spcPts val="2025"/>
              </a:lnSpc>
              <a:buNone/>
            </a:pPr>
            <a:r>
              <a:rPr lang="en-US" sz="2025" b="1" kern="0" spc="-40" dirty="0">
                <a:solidFill>
                  <a:srgbClr val="0A0A0A"/>
                </a:solidFill>
                <a:latin typeface="Liberation Sans Narrow" pitchFamily="34" charset="0"/>
                <a:ea typeface="Liberation Sans Narrow" pitchFamily="34" charset="-122"/>
                <a:cs typeface="Liberation Sans Narrow" pitchFamily="34" charset="-120"/>
              </a:rPr>
              <a:t>2027–2029</a:t>
            </a:r>
            <a:endParaRPr lang="en-US" sz="2025" dirty="0"/>
          </a:p>
        </p:txBody>
      </p:sp>
      <p:sp>
        <p:nvSpPr>
          <p:cNvPr id="12" name="Text 10"/>
          <p:cNvSpPr/>
          <p:nvPr/>
        </p:nvSpPr>
        <p:spPr>
          <a:xfrm>
            <a:off x="692944" y="2768873"/>
            <a:ext cx="2243138" cy="7144"/>
          </a:xfrm>
          <a:prstGeom prst="rect">
            <a:avLst/>
          </a:prstGeom>
          <a:solidFill>
            <a:srgbClr val="D9D9D9"/>
          </a:solidFill>
          <a:ln/>
        </p:spPr>
        <p:txBody>
          <a:bodyPr wrap="square" rtlCol="0" anchor="ctr"/>
          <a:lstStyle/>
          <a:p>
            <a:pPr marL="0" indent="0">
              <a:buNone/>
            </a:pPr>
            <a:endParaRPr lang="en-US" dirty="0"/>
          </a:p>
        </p:txBody>
      </p:sp>
      <p:sp>
        <p:nvSpPr>
          <p:cNvPr id="13" name="Text 11"/>
          <p:cNvSpPr/>
          <p:nvPr/>
        </p:nvSpPr>
        <p:spPr>
          <a:xfrm>
            <a:off x="692944" y="2861742"/>
            <a:ext cx="2243138" cy="340106"/>
          </a:xfrm>
          <a:prstGeom prst="rect">
            <a:avLst/>
          </a:prstGeom>
          <a:noFill/>
          <a:ln/>
        </p:spPr>
        <p:txBody>
          <a:bodyPr wrap="square" lIns="0" tIns="0" rIns="0" bIns="0" rtlCol="0" anchor="t"/>
          <a:lstStyle/>
          <a:p>
            <a:pPr marL="0" indent="0" algn="l">
              <a:lnSpc>
                <a:spcPts val="1177"/>
              </a:lnSpc>
              <a:buNone/>
            </a:pPr>
            <a:r>
              <a:rPr lang="en-US" sz="800" dirty="0">
                <a:solidFill>
                  <a:srgbClr val="1F1F1F"/>
                </a:solidFill>
                <a:latin typeface="Carlito" pitchFamily="34" charset="0"/>
                <a:ea typeface="Carlito" pitchFamily="34" charset="-122"/>
                <a:cs typeface="Carlito" pitchFamily="34" charset="-120"/>
              </a:rPr>
              <a:t>National quantum-safe task force migration deadline for critical information infrastructure.</a:t>
            </a:r>
            <a:endParaRPr lang="en-US" sz="800" dirty="0"/>
          </a:p>
        </p:txBody>
      </p:sp>
      <p:sp>
        <p:nvSpPr>
          <p:cNvPr id="14" name="Text 12"/>
          <p:cNvSpPr/>
          <p:nvPr/>
        </p:nvSpPr>
        <p:spPr>
          <a:xfrm>
            <a:off x="3275409" y="2043782"/>
            <a:ext cx="2593181" cy="2347838"/>
          </a:xfrm>
          <a:prstGeom prst="rect">
            <a:avLst/>
          </a:prstGeom>
          <a:solidFill>
            <a:srgbClr val="FFFFFF"/>
          </a:solidFill>
          <a:ln w="7144">
            <a:solidFill>
              <a:srgbClr val="0A0A0A"/>
            </a:solidFill>
            <a:prstDash val="solid"/>
          </a:ln>
        </p:spPr>
        <p:txBody>
          <a:bodyPr wrap="square" rtlCol="0" anchor="ctr"/>
          <a:lstStyle/>
          <a:p>
            <a:pPr marL="0" indent="0">
              <a:buNone/>
            </a:pPr>
            <a:endParaRPr lang="en-US" dirty="0"/>
          </a:p>
        </p:txBody>
      </p:sp>
      <p:sp>
        <p:nvSpPr>
          <p:cNvPr id="15" name="Text 13"/>
          <p:cNvSpPr/>
          <p:nvPr/>
        </p:nvSpPr>
        <p:spPr>
          <a:xfrm>
            <a:off x="3450431" y="2204517"/>
            <a:ext cx="2243138" cy="164592"/>
          </a:xfrm>
          <a:prstGeom prst="rect">
            <a:avLst/>
          </a:prstGeom>
          <a:noFill/>
          <a:ln/>
        </p:spPr>
        <p:txBody>
          <a:bodyPr wrap="none" lIns="0" tIns="0" rIns="0" bIns="0" rtlCol="0" anchor="t"/>
          <a:lstStyle/>
          <a:p>
            <a:pPr marL="0" indent="0" algn="l">
              <a:lnSpc>
                <a:spcPts val="844"/>
              </a:lnSpc>
              <a:buNone/>
            </a:pPr>
            <a:r>
              <a:rPr lang="en-US" sz="800" kern="0" spc="101" dirty="0">
                <a:solidFill>
                  <a:srgbClr val="0A0A0A"/>
                </a:solidFill>
                <a:latin typeface="Courier New" pitchFamily="34" charset="0"/>
                <a:ea typeface="Courier New" pitchFamily="34" charset="-122"/>
                <a:cs typeface="Courier New" pitchFamily="34" charset="-120"/>
              </a:rPr>
              <a:t>RBI / Q-SAFE</a:t>
            </a:r>
            <a:endParaRPr lang="en-US" sz="800" dirty="0"/>
          </a:p>
        </p:txBody>
      </p:sp>
      <p:sp>
        <p:nvSpPr>
          <p:cNvPr id="16" name="Text 14"/>
          <p:cNvSpPr/>
          <p:nvPr/>
        </p:nvSpPr>
        <p:spPr>
          <a:xfrm>
            <a:off x="3450431" y="2397398"/>
            <a:ext cx="2243138" cy="277749"/>
          </a:xfrm>
          <a:prstGeom prst="rect">
            <a:avLst/>
          </a:prstGeom>
          <a:noFill/>
          <a:ln/>
        </p:spPr>
        <p:txBody>
          <a:bodyPr wrap="none" lIns="0" tIns="0" rIns="0" bIns="0" rtlCol="0" anchor="t"/>
          <a:lstStyle/>
          <a:p>
            <a:pPr marL="0" indent="0" algn="l">
              <a:lnSpc>
                <a:spcPts val="2025"/>
              </a:lnSpc>
              <a:buNone/>
            </a:pPr>
            <a:r>
              <a:rPr lang="en-US" sz="2025" b="1" kern="0" spc="-40" dirty="0">
                <a:solidFill>
                  <a:srgbClr val="0A0A0A"/>
                </a:solidFill>
                <a:latin typeface="Liberation Sans Narrow" pitchFamily="34" charset="0"/>
                <a:ea typeface="Liberation Sans Narrow" pitchFamily="34" charset="-122"/>
                <a:cs typeface="Liberation Sans Narrow" pitchFamily="34" charset="-120"/>
              </a:rPr>
              <a:t>2026</a:t>
            </a:r>
            <a:endParaRPr lang="en-US" sz="2025" dirty="0"/>
          </a:p>
        </p:txBody>
      </p:sp>
      <p:sp>
        <p:nvSpPr>
          <p:cNvPr id="17" name="Text 15"/>
          <p:cNvSpPr/>
          <p:nvPr/>
        </p:nvSpPr>
        <p:spPr>
          <a:xfrm>
            <a:off x="3450431" y="2768873"/>
            <a:ext cx="2243138" cy="7144"/>
          </a:xfrm>
          <a:prstGeom prst="rect">
            <a:avLst/>
          </a:prstGeom>
          <a:solidFill>
            <a:srgbClr val="D9D9D9"/>
          </a:solidFill>
          <a:ln/>
        </p:spPr>
        <p:txBody>
          <a:bodyPr wrap="square" rtlCol="0" anchor="ctr"/>
          <a:lstStyle/>
          <a:p>
            <a:pPr marL="0" indent="0">
              <a:buNone/>
            </a:pPr>
            <a:endParaRPr lang="en-US" dirty="0"/>
          </a:p>
        </p:txBody>
      </p:sp>
      <p:sp>
        <p:nvSpPr>
          <p:cNvPr id="18" name="Text 16"/>
          <p:cNvSpPr/>
          <p:nvPr/>
        </p:nvSpPr>
        <p:spPr>
          <a:xfrm>
            <a:off x="3450431" y="2861742"/>
            <a:ext cx="2243138" cy="340106"/>
          </a:xfrm>
          <a:prstGeom prst="rect">
            <a:avLst/>
          </a:prstGeom>
          <a:noFill/>
          <a:ln/>
        </p:spPr>
        <p:txBody>
          <a:bodyPr wrap="square" lIns="0" tIns="0" rIns="0" bIns="0" rtlCol="0" anchor="t"/>
          <a:lstStyle/>
          <a:p>
            <a:pPr marL="0" indent="0" algn="l">
              <a:lnSpc>
                <a:spcPts val="1177"/>
              </a:lnSpc>
              <a:buNone/>
            </a:pPr>
            <a:r>
              <a:rPr lang="en-US" sz="800" dirty="0">
                <a:solidFill>
                  <a:srgbClr val="1F1F1F"/>
                </a:solidFill>
                <a:latin typeface="Carlito" pitchFamily="34" charset="0"/>
                <a:ea typeface="Carlito" pitchFamily="34" charset="-122"/>
                <a:cs typeface="Carlito" pitchFamily="34" charset="-120"/>
              </a:rPr>
              <a:t>Committee chaired from IIT Madras; remit includes crypto inventory and agility assessment.</a:t>
            </a:r>
            <a:endParaRPr lang="en-US" sz="800" dirty="0"/>
          </a:p>
        </p:txBody>
      </p:sp>
      <p:sp>
        <p:nvSpPr>
          <p:cNvPr id="19" name="Text 17"/>
          <p:cNvSpPr/>
          <p:nvPr/>
        </p:nvSpPr>
        <p:spPr>
          <a:xfrm>
            <a:off x="6032897" y="2043782"/>
            <a:ext cx="2593181" cy="2347838"/>
          </a:xfrm>
          <a:prstGeom prst="rect">
            <a:avLst/>
          </a:prstGeom>
          <a:solidFill>
            <a:srgbClr val="FFFFFF"/>
          </a:solidFill>
          <a:ln w="7144">
            <a:solidFill>
              <a:srgbClr val="0A0A0A"/>
            </a:solidFill>
            <a:prstDash val="solid"/>
          </a:ln>
        </p:spPr>
        <p:txBody>
          <a:bodyPr wrap="square" rtlCol="0" anchor="ctr"/>
          <a:lstStyle/>
          <a:p>
            <a:pPr marL="0" indent="0">
              <a:buNone/>
            </a:pPr>
            <a:endParaRPr lang="en-US" dirty="0"/>
          </a:p>
        </p:txBody>
      </p:sp>
      <p:sp>
        <p:nvSpPr>
          <p:cNvPr id="20" name="Text 18"/>
          <p:cNvSpPr/>
          <p:nvPr/>
        </p:nvSpPr>
        <p:spPr>
          <a:xfrm>
            <a:off x="6207919" y="2204517"/>
            <a:ext cx="2243138" cy="164592"/>
          </a:xfrm>
          <a:prstGeom prst="rect">
            <a:avLst/>
          </a:prstGeom>
          <a:noFill/>
          <a:ln/>
        </p:spPr>
        <p:txBody>
          <a:bodyPr wrap="none" lIns="0" tIns="0" rIns="0" bIns="0" rtlCol="0" anchor="t"/>
          <a:lstStyle/>
          <a:p>
            <a:pPr marL="0" indent="0" algn="l">
              <a:lnSpc>
                <a:spcPts val="844"/>
              </a:lnSpc>
              <a:buNone/>
            </a:pPr>
            <a:r>
              <a:rPr lang="en-US" sz="800" kern="0" spc="101" dirty="0">
                <a:solidFill>
                  <a:srgbClr val="0A0A0A"/>
                </a:solidFill>
                <a:latin typeface="Liberation Sans Narrow" pitchFamily="34" charset="0"/>
                <a:ea typeface="Liberation Sans Narrow" pitchFamily="34" charset="-122"/>
                <a:cs typeface="Liberation Sans Narrow" pitchFamily="34" charset="-120"/>
              </a:rPr>
              <a:t>USA / EO 14412</a:t>
            </a:r>
            <a:endParaRPr lang="en-US" sz="800" dirty="0"/>
          </a:p>
        </p:txBody>
      </p:sp>
      <p:sp>
        <p:nvSpPr>
          <p:cNvPr id="21" name="Text 19"/>
          <p:cNvSpPr/>
          <p:nvPr/>
        </p:nvSpPr>
        <p:spPr>
          <a:xfrm>
            <a:off x="6207919" y="2397398"/>
            <a:ext cx="2243137" cy="277749"/>
          </a:xfrm>
          <a:prstGeom prst="rect">
            <a:avLst/>
          </a:prstGeom>
          <a:noFill/>
          <a:ln/>
        </p:spPr>
        <p:txBody>
          <a:bodyPr wrap="none" lIns="0" tIns="0" rIns="0" bIns="0" rtlCol="0" anchor="t"/>
          <a:lstStyle/>
          <a:p>
            <a:pPr marL="0" indent="0" algn="l">
              <a:lnSpc>
                <a:spcPts val="2025"/>
              </a:lnSpc>
              <a:buNone/>
            </a:pPr>
            <a:r>
              <a:rPr lang="en-US" sz="2025" b="1" kern="0" spc="-40" dirty="0">
                <a:solidFill>
                  <a:srgbClr val="0A0A0A"/>
                </a:solidFill>
                <a:latin typeface="Liberation Sans Narrow" pitchFamily="34" charset="0"/>
                <a:ea typeface="Liberation Sans Narrow" pitchFamily="34" charset="-122"/>
                <a:cs typeface="Liberation Sans Narrow" pitchFamily="34" charset="-120"/>
              </a:rPr>
              <a:t>June 2026</a:t>
            </a:r>
            <a:endParaRPr lang="en-US" sz="2025" dirty="0"/>
          </a:p>
        </p:txBody>
      </p:sp>
      <p:sp>
        <p:nvSpPr>
          <p:cNvPr id="22" name="Text 20"/>
          <p:cNvSpPr/>
          <p:nvPr/>
        </p:nvSpPr>
        <p:spPr>
          <a:xfrm>
            <a:off x="6207919" y="2768873"/>
            <a:ext cx="2243138" cy="7144"/>
          </a:xfrm>
          <a:prstGeom prst="rect">
            <a:avLst/>
          </a:prstGeom>
          <a:solidFill>
            <a:srgbClr val="D9D9D9"/>
          </a:solidFill>
          <a:ln/>
        </p:spPr>
        <p:txBody>
          <a:bodyPr wrap="square" rtlCol="0" anchor="ctr"/>
          <a:lstStyle/>
          <a:p>
            <a:pPr marL="0" indent="0">
              <a:buNone/>
            </a:pPr>
            <a:endParaRPr lang="en-US" dirty="0"/>
          </a:p>
        </p:txBody>
      </p:sp>
      <p:sp>
        <p:nvSpPr>
          <p:cNvPr id="23" name="Text 21"/>
          <p:cNvSpPr/>
          <p:nvPr/>
        </p:nvSpPr>
        <p:spPr>
          <a:xfrm>
            <a:off x="6207919" y="2861742"/>
            <a:ext cx="2243138" cy="340106"/>
          </a:xfrm>
          <a:prstGeom prst="rect">
            <a:avLst/>
          </a:prstGeom>
          <a:noFill/>
          <a:ln/>
        </p:spPr>
        <p:txBody>
          <a:bodyPr wrap="square" lIns="0" tIns="0" rIns="0" bIns="0" rtlCol="0" anchor="t"/>
          <a:lstStyle/>
          <a:p>
            <a:pPr marL="0" indent="0" algn="l">
              <a:lnSpc>
                <a:spcPts val="1177"/>
              </a:lnSpc>
              <a:buNone/>
            </a:pPr>
            <a:r>
              <a:rPr lang="en-US" sz="800" dirty="0">
                <a:solidFill>
                  <a:srgbClr val="1F1F1F"/>
                </a:solidFill>
                <a:latin typeface="Carlito" pitchFamily="34" charset="0"/>
                <a:ea typeface="Carlito" pitchFamily="34" charset="-122"/>
                <a:cs typeface="Carlito" pitchFamily="34" charset="-120"/>
              </a:rPr>
              <a:t>Directs CISA and NIST to publish minimum elements for a CBOM within 270 days.</a:t>
            </a:r>
            <a:endParaRPr lang="en-US" sz="800" dirty="0"/>
          </a:p>
        </p:txBody>
      </p:sp>
      <p:sp>
        <p:nvSpPr>
          <p:cNvPr id="24" name="Text 22"/>
          <p:cNvSpPr/>
          <p:nvPr/>
        </p:nvSpPr>
        <p:spPr>
          <a:xfrm>
            <a:off x="514350" y="4538067"/>
            <a:ext cx="8115300" cy="7144"/>
          </a:xfrm>
          <a:prstGeom prst="rect">
            <a:avLst/>
          </a:prstGeom>
          <a:solidFill>
            <a:srgbClr val="D9D9D9"/>
          </a:solidFill>
          <a:ln/>
        </p:spPr>
        <p:txBody>
          <a:bodyPr wrap="square" rtlCol="0" anchor="ctr"/>
          <a:lstStyle/>
          <a:p>
            <a:pPr marL="0" indent="0">
              <a:buNone/>
            </a:pPr>
            <a:endParaRPr lang="en-US" dirty="0"/>
          </a:p>
        </p:txBody>
      </p:sp>
      <p:sp>
        <p:nvSpPr>
          <p:cNvPr id="25" name="Text 23"/>
          <p:cNvSpPr/>
          <p:nvPr/>
        </p:nvSpPr>
        <p:spPr>
          <a:xfrm>
            <a:off x="514350" y="4630936"/>
            <a:ext cx="8629650" cy="91440"/>
          </a:xfrm>
          <a:prstGeom prst="rect">
            <a:avLst/>
          </a:prstGeom>
          <a:noFill/>
          <a:ln/>
        </p:spPr>
        <p:txBody>
          <a:bodyPr wrap="square" lIns="0" tIns="0" rIns="0" bIns="0" rtlCol="0" anchor="t">
            <a:normAutofit fontScale="25000" lnSpcReduction="20000"/>
          </a:bodyPr>
          <a:lstStyle/>
          <a:p>
            <a:pPr marL="0" indent="0" algn="l">
              <a:lnSpc>
                <a:spcPts val="886"/>
              </a:lnSpc>
              <a:buNone/>
            </a:pPr>
            <a:r>
              <a:rPr lang="en-US" sz="800" kern="0" spc="130" dirty="0">
                <a:solidFill>
                  <a:srgbClr val="4A4A4A"/>
                </a:solidFill>
                <a:latin typeface="Carlito" pitchFamily="34" charset="0"/>
                <a:ea typeface="Carlito" pitchFamily="34" charset="-122"/>
                <a:cs typeface="Carlito" pitchFamily="34" charset="-120"/>
              </a:rPr>
              <a:t>FOOTNOTE — SEBI CSCRF NAMES HARVEST-NOW-DECRYPT-LATER DIRECTLY.</a:t>
            </a:r>
            <a:endParaRPr lang="en-US" sz="800" dirty="0"/>
          </a:p>
        </p:txBody>
      </p:sp>
      <p:sp>
        <p:nvSpPr>
          <p:cNvPr id="26" name="Shape 24"/>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27" name="Text 25"/>
          <p:cNvSpPr/>
          <p:nvPr/>
        </p:nvSpPr>
        <p:spPr>
          <a:xfrm>
            <a:off x="1463040" y="4846320"/>
            <a:ext cx="7132320" cy="137160"/>
          </a:xfrm>
          <a:prstGeom prst="rect">
            <a:avLst/>
          </a:prstGeom>
          <a:noFill/>
          <a:ln/>
        </p:spPr>
        <p:txBody>
          <a:bodyPr wrap="squar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02 — JUSTIFICATION</a:t>
            </a:r>
            <a:endParaRPr lang="en-US" sz="800" dirty="0"/>
          </a:p>
        </p:txBody>
      </p:sp>
      <p:sp>
        <p:nvSpPr>
          <p:cNvPr id="28" name="Text 26"/>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12 / 39</a:t>
            </a:r>
            <a:endParaRPr lang="en-US" sz="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721934"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7250571" y="400050"/>
            <a:ext cx="1461823" cy="117872"/>
          </a:xfrm>
          <a:prstGeom prst="rect">
            <a:avLst/>
          </a:prstGeom>
          <a:noFill/>
          <a:ln/>
        </p:spPr>
        <p:txBody>
          <a:bodyPr wrap="squar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SECTION 02 — JUSTIFICATION</a:t>
            </a:r>
            <a:endParaRPr lang="en-US" sz="619" dirty="0"/>
          </a:p>
        </p:txBody>
      </p:sp>
      <p:sp>
        <p:nvSpPr>
          <p:cNvPr id="5" name="Text 3"/>
          <p:cNvSpPr/>
          <p:nvPr/>
        </p:nvSpPr>
        <p:spPr>
          <a:xfrm>
            <a:off x="514350" y="853678"/>
            <a:ext cx="8629650" cy="164592"/>
          </a:xfrm>
          <a:prstGeom prst="rect">
            <a:avLst/>
          </a:prstGeom>
          <a:noFill/>
          <a:ln/>
        </p:spPr>
        <p:txBody>
          <a:bodyPr wrap="none" lIns="0" tIns="0" rIns="0" bIns="0" rtlCol="0" anchor="t"/>
          <a:lstStyle/>
          <a:p>
            <a:pPr marL="0" indent="0" algn="l">
              <a:lnSpc>
                <a:spcPts val="928"/>
              </a:lnSpc>
              <a:buNone/>
            </a:pPr>
            <a:r>
              <a:rPr lang="en-US" sz="800" kern="0" spc="136" dirty="0">
                <a:solidFill>
                  <a:srgbClr val="4A4A4A"/>
                </a:solidFill>
                <a:latin typeface="Liberation Sans Narrow" pitchFamily="34" charset="0"/>
                <a:ea typeface="Liberation Sans Narrow" pitchFamily="34" charset="-122"/>
                <a:cs typeface="Liberation Sans Narrow" pitchFamily="34" charset="-120"/>
              </a:rPr>
              <a:t>2.2 INTENT VS EXECUTION</a:t>
            </a:r>
            <a:endParaRPr lang="en-US" sz="800" dirty="0"/>
          </a:p>
        </p:txBody>
      </p:sp>
      <p:sp>
        <p:nvSpPr>
          <p:cNvPr id="6" name="Text 4"/>
          <p:cNvSpPr/>
          <p:nvPr/>
        </p:nvSpPr>
        <p:spPr>
          <a:xfrm>
            <a:off x="514350" y="1057275"/>
            <a:ext cx="8629650" cy="345619"/>
          </a:xfrm>
          <a:prstGeom prst="rect">
            <a:avLst/>
          </a:prstGeom>
          <a:noFill/>
          <a:ln/>
        </p:spPr>
        <p:txBody>
          <a:bodyPr wrap="squar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Willingness is not the bottleneck.</a:t>
            </a:r>
            <a:endParaRPr lang="en-US" sz="2250" dirty="0"/>
          </a:p>
        </p:txBody>
      </p:sp>
      <p:sp>
        <p:nvSpPr>
          <p:cNvPr id="7" name="Text 5"/>
          <p:cNvSpPr/>
          <p:nvPr/>
        </p:nvSpPr>
        <p:spPr>
          <a:xfrm>
            <a:off x="514350" y="1520168"/>
            <a:ext cx="400050" cy="28575"/>
          </a:xfrm>
          <a:prstGeom prst="rect">
            <a:avLst/>
          </a:prstGeom>
          <a:solidFill>
            <a:srgbClr val="0A0A0A"/>
          </a:solidFill>
          <a:ln/>
        </p:spPr>
        <p:txBody>
          <a:bodyPr wrap="square" rtlCol="0" anchor="ctr"/>
          <a:lstStyle/>
          <a:p>
            <a:pPr marL="0" indent="0">
              <a:buNone/>
            </a:pPr>
            <a:endParaRPr lang="en-US" dirty="0"/>
          </a:p>
        </p:txBody>
      </p:sp>
      <p:sp>
        <p:nvSpPr>
          <p:cNvPr id="8" name="Shape 6"/>
          <p:cNvSpPr/>
          <p:nvPr/>
        </p:nvSpPr>
        <p:spPr>
          <a:xfrm>
            <a:off x="4368403" y="1949462"/>
            <a:ext cx="0" cy="2621756"/>
          </a:xfrm>
          <a:prstGeom prst="line">
            <a:avLst/>
          </a:prstGeom>
          <a:noFill/>
          <a:ln w="7144">
            <a:solidFill>
              <a:srgbClr val="D9D9D9"/>
            </a:solidFill>
            <a:prstDash val="solid"/>
          </a:ln>
        </p:spPr>
        <p:txBody>
          <a:bodyPr/>
          <a:lstStyle/>
          <a:p>
            <a:endParaRPr lang="en-US"/>
          </a:p>
        </p:txBody>
      </p:sp>
      <p:sp>
        <p:nvSpPr>
          <p:cNvPr id="9" name="Text 7"/>
          <p:cNvSpPr/>
          <p:nvPr/>
        </p:nvSpPr>
        <p:spPr>
          <a:xfrm>
            <a:off x="514350" y="1949462"/>
            <a:ext cx="3507581" cy="844106"/>
          </a:xfrm>
          <a:prstGeom prst="rect">
            <a:avLst/>
          </a:prstGeom>
          <a:noFill/>
          <a:ln/>
        </p:spPr>
        <p:txBody>
          <a:bodyPr wrap="none" lIns="0" tIns="0" rIns="0" bIns="0" rtlCol="0" anchor="t">
            <a:normAutofit/>
          </a:bodyPr>
          <a:lstStyle/>
          <a:p>
            <a:pPr marL="0" indent="0" algn="l">
              <a:lnSpc>
                <a:spcPts val="6188"/>
              </a:lnSpc>
              <a:buNone/>
            </a:pPr>
            <a:r>
              <a:rPr lang="en-US" sz="6188" b="1" kern="0" spc="-247" dirty="0">
                <a:solidFill>
                  <a:srgbClr val="0A0A0A"/>
                </a:solidFill>
                <a:latin typeface="Liberation Sans Narrow" pitchFamily="34" charset="0"/>
                <a:ea typeface="Liberation Sans Narrow" pitchFamily="34" charset="-122"/>
                <a:cs typeface="Liberation Sans Narrow" pitchFamily="34" charset="-120"/>
              </a:rPr>
              <a:t>87%</a:t>
            </a:r>
            <a:endParaRPr lang="en-US" sz="6188" dirty="0"/>
          </a:p>
        </p:txBody>
      </p:sp>
      <p:sp>
        <p:nvSpPr>
          <p:cNvPr id="10" name="Text 8"/>
          <p:cNvSpPr/>
          <p:nvPr/>
        </p:nvSpPr>
        <p:spPr>
          <a:xfrm>
            <a:off x="514350" y="2821000"/>
            <a:ext cx="3507581" cy="329184"/>
          </a:xfrm>
          <a:prstGeom prst="rect">
            <a:avLst/>
          </a:prstGeom>
          <a:noFill/>
          <a:ln/>
        </p:spPr>
        <p:txBody>
          <a:bodyPr wrap="square" lIns="0" tIns="0" rIns="0" bIns="0" rtlCol="0" anchor="t"/>
          <a:lstStyle/>
          <a:p>
            <a:pPr marL="0" indent="0" algn="l">
              <a:lnSpc>
                <a:spcPts val="928"/>
              </a:lnSpc>
              <a:buNone/>
            </a:pPr>
            <a:r>
              <a:rPr lang="en-US" sz="800" kern="0" spc="136" dirty="0">
                <a:solidFill>
                  <a:srgbClr val="4A4A4A"/>
                </a:solidFill>
                <a:latin typeface="Carlito" pitchFamily="34" charset="0"/>
                <a:ea typeface="Carlito" pitchFamily="34" charset="-122"/>
                <a:cs typeface="Carlito" pitchFamily="34" charset="-120"/>
              </a:rPr>
              <a:t>OF ORGANISATIONS PLANNING OR PILOTING PQC (DIGICERT, JULY 2026)</a:t>
            </a:r>
            <a:endParaRPr lang="en-US" sz="800" dirty="0"/>
          </a:p>
        </p:txBody>
      </p:sp>
      <p:sp>
        <p:nvSpPr>
          <p:cNvPr id="11" name="Text 9"/>
          <p:cNvSpPr/>
          <p:nvPr/>
        </p:nvSpPr>
        <p:spPr>
          <a:xfrm>
            <a:off x="514350" y="3256769"/>
            <a:ext cx="3507581" cy="7144"/>
          </a:xfrm>
          <a:prstGeom prst="rect">
            <a:avLst/>
          </a:prstGeom>
          <a:solidFill>
            <a:srgbClr val="D9D9D9"/>
          </a:solidFill>
          <a:ln/>
        </p:spPr>
        <p:txBody>
          <a:bodyPr wrap="square" rtlCol="0" anchor="ctr"/>
          <a:lstStyle/>
          <a:p>
            <a:pPr marL="0" indent="0">
              <a:buNone/>
            </a:pPr>
            <a:endParaRPr lang="en-US" dirty="0"/>
          </a:p>
        </p:txBody>
      </p:sp>
      <p:sp>
        <p:nvSpPr>
          <p:cNvPr id="12" name="Text 10"/>
          <p:cNvSpPr/>
          <p:nvPr/>
        </p:nvSpPr>
        <p:spPr>
          <a:xfrm>
            <a:off x="514350" y="3463937"/>
            <a:ext cx="3507581" cy="844106"/>
          </a:xfrm>
          <a:prstGeom prst="rect">
            <a:avLst/>
          </a:prstGeom>
          <a:noFill/>
          <a:ln/>
        </p:spPr>
        <p:txBody>
          <a:bodyPr wrap="none" lIns="0" tIns="0" rIns="0" bIns="0" rtlCol="0" anchor="t">
            <a:normAutofit/>
          </a:bodyPr>
          <a:lstStyle/>
          <a:p>
            <a:pPr marL="0" indent="0" algn="l">
              <a:lnSpc>
                <a:spcPts val="6188"/>
              </a:lnSpc>
              <a:buNone/>
            </a:pPr>
            <a:r>
              <a:rPr lang="en-US" sz="6188" b="1" kern="0" spc="-247" dirty="0">
                <a:solidFill>
                  <a:srgbClr val="0A0A0A"/>
                </a:solidFill>
                <a:latin typeface="Liberation Sans Narrow" pitchFamily="34" charset="0"/>
                <a:ea typeface="Liberation Sans Narrow" pitchFamily="34" charset="-122"/>
                <a:cs typeface="Liberation Sans Narrow" pitchFamily="34" charset="-120"/>
              </a:rPr>
              <a:t>7%</a:t>
            </a:r>
            <a:endParaRPr lang="en-US" sz="6188" dirty="0"/>
          </a:p>
        </p:txBody>
      </p:sp>
      <p:sp>
        <p:nvSpPr>
          <p:cNvPr id="13" name="Text 11"/>
          <p:cNvSpPr/>
          <p:nvPr/>
        </p:nvSpPr>
        <p:spPr>
          <a:xfrm>
            <a:off x="514350" y="4335475"/>
            <a:ext cx="3507581" cy="235744"/>
          </a:xfrm>
          <a:prstGeom prst="rect">
            <a:avLst/>
          </a:prstGeom>
          <a:noFill/>
          <a:ln/>
        </p:spPr>
        <p:txBody>
          <a:bodyPr wrap="square" lIns="0" tIns="0" rIns="0" bIns="0" rtlCol="0" anchor="t"/>
          <a:lstStyle/>
          <a:p>
            <a:pPr marL="0" indent="0" algn="l">
              <a:lnSpc>
                <a:spcPts val="928"/>
              </a:lnSpc>
              <a:buNone/>
            </a:pPr>
            <a:r>
              <a:rPr lang="en-US" sz="800" kern="0" spc="136" dirty="0">
                <a:solidFill>
                  <a:srgbClr val="4A4A4A"/>
                </a:solidFill>
                <a:latin typeface="Carlito" pitchFamily="34" charset="0"/>
                <a:ea typeface="Carlito" pitchFamily="34" charset="-122"/>
                <a:cs typeface="Carlito" pitchFamily="34" charset="-120"/>
              </a:rPr>
              <a:t>HAVE DEPLOYED QUANTUM-SAFE CRYPTOGRAPHY ACROSS MOST OF THEIR CERTIFICATE ESTATE</a:t>
            </a:r>
            <a:endParaRPr lang="en-US" sz="800" dirty="0"/>
          </a:p>
        </p:txBody>
      </p:sp>
      <p:sp>
        <p:nvSpPr>
          <p:cNvPr id="14" name="Text 12"/>
          <p:cNvSpPr/>
          <p:nvPr/>
        </p:nvSpPr>
        <p:spPr>
          <a:xfrm>
            <a:off x="4772025" y="2883284"/>
            <a:ext cx="3857625" cy="814441"/>
          </a:xfrm>
          <a:prstGeom prst="rect">
            <a:avLst/>
          </a:prstGeom>
          <a:noFill/>
          <a:ln/>
        </p:spPr>
        <p:txBody>
          <a:bodyPr wrap="square" lIns="0" tIns="0" rIns="0" bIns="0" rtlCol="0" anchor="t"/>
          <a:lstStyle/>
          <a:p>
            <a:pPr marL="0" indent="0" algn="l">
              <a:lnSpc>
                <a:spcPts val="1485"/>
              </a:lnSpc>
              <a:buNone/>
            </a:pPr>
            <a:r>
              <a:rPr lang="en-US" sz="900" dirty="0">
                <a:solidFill>
                  <a:srgbClr val="1F1F1F"/>
                </a:solidFill>
                <a:latin typeface="Carlito" pitchFamily="34" charset="0"/>
                <a:ea typeface="Carlito" pitchFamily="34" charset="-122"/>
                <a:cs typeface="Carlito" pitchFamily="34" charset="-120"/>
              </a:rPr>
              <a:t>The gap is enormous and the gap is named: there is no tool that converts an inventory into a plan. Organisations have policy intent, regulatory pressure, and budget — but no automated path from </a:t>
            </a:r>
            <a:r>
              <a:rPr lang="en-US" sz="900" dirty="0">
                <a:solidFill>
                  <a:srgbClr val="0A0A0A"/>
                </a:solidFill>
                <a:latin typeface="Carlito" pitchFamily="34" charset="0"/>
                <a:ea typeface="Carlito" pitchFamily="34" charset="-122"/>
                <a:cs typeface="Carlito" pitchFamily="34" charset="-120"/>
              </a:rPr>
              <a:t>“we know where cryptography is”</a:t>
            </a:r>
            <a:r>
              <a:rPr lang="en-US" sz="900" dirty="0">
                <a:solidFill>
                  <a:srgbClr val="1F1F1F"/>
                </a:solidFill>
                <a:latin typeface="Carlito" pitchFamily="34" charset="0"/>
                <a:ea typeface="Carlito" pitchFamily="34" charset="-122"/>
                <a:cs typeface="Carlito" pitchFamily="34" charset="-120"/>
              </a:rPr>
              <a:t> to </a:t>
            </a:r>
            <a:r>
              <a:rPr lang="en-US" sz="900" dirty="0">
                <a:solidFill>
                  <a:srgbClr val="0A0A0A"/>
                </a:solidFill>
                <a:latin typeface="Carlito" pitchFamily="34" charset="0"/>
                <a:ea typeface="Carlito" pitchFamily="34" charset="-122"/>
                <a:cs typeface="Carlito" pitchFamily="34" charset="-120"/>
              </a:rPr>
              <a:t>“we know what to migrate first.”</a:t>
            </a:r>
            <a:r>
              <a:rPr lang="en-US" sz="900" dirty="0">
                <a:solidFill>
                  <a:srgbClr val="1F1F1F"/>
                </a:solidFill>
                <a:latin typeface="Carlito" pitchFamily="34" charset="0"/>
                <a:ea typeface="Carlito" pitchFamily="34" charset="-122"/>
                <a:cs typeface="Carlito" pitchFamily="34" charset="-120"/>
              </a:rPr>
              <a:t> That path is what this project builds.</a:t>
            </a:r>
            <a:endParaRPr lang="en-US" sz="900" dirty="0"/>
          </a:p>
        </p:txBody>
      </p:sp>
      <p:sp>
        <p:nvSpPr>
          <p:cNvPr id="15" name="Shape 13"/>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16" name="Text 14"/>
          <p:cNvSpPr/>
          <p:nvPr/>
        </p:nvSpPr>
        <p:spPr>
          <a:xfrm>
            <a:off x="1463040" y="4846320"/>
            <a:ext cx="7132320" cy="137160"/>
          </a:xfrm>
          <a:prstGeom prst="rect">
            <a:avLst/>
          </a:prstGeom>
          <a:noFill/>
          <a:ln/>
        </p:spPr>
        <p:txBody>
          <a:bodyPr wrap="squar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02 — JUSTIFICATION</a:t>
            </a:r>
            <a:endParaRPr lang="en-US" sz="800" dirty="0"/>
          </a:p>
        </p:txBody>
      </p:sp>
      <p:sp>
        <p:nvSpPr>
          <p:cNvPr id="17" name="Text 15"/>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13 / 39</a:t>
            </a:r>
            <a:endParaRPr lang="en-US" sz="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721934"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7250571" y="400050"/>
            <a:ext cx="1461823" cy="117872"/>
          </a:xfrm>
          <a:prstGeom prst="rect">
            <a:avLst/>
          </a:prstGeom>
          <a:noFill/>
          <a:ln/>
        </p:spPr>
        <p:txBody>
          <a:bodyPr wrap="squar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SECTION 02 — JUSTIFICATION</a:t>
            </a:r>
            <a:endParaRPr lang="en-US" sz="619" dirty="0"/>
          </a:p>
        </p:txBody>
      </p:sp>
      <p:sp>
        <p:nvSpPr>
          <p:cNvPr id="5" name="Text 3"/>
          <p:cNvSpPr/>
          <p:nvPr/>
        </p:nvSpPr>
        <p:spPr>
          <a:xfrm>
            <a:off x="514350" y="853678"/>
            <a:ext cx="8629650" cy="164592"/>
          </a:xfrm>
          <a:prstGeom prst="rect">
            <a:avLst/>
          </a:prstGeom>
          <a:noFill/>
          <a:ln/>
        </p:spPr>
        <p:txBody>
          <a:bodyPr wrap="square" lIns="0" tIns="0" rIns="0" bIns="0" rtlCol="0" anchor="t"/>
          <a:lstStyle/>
          <a:p>
            <a:pPr marL="0" indent="0" algn="l">
              <a:lnSpc>
                <a:spcPts val="928"/>
              </a:lnSpc>
              <a:buNone/>
            </a:pPr>
            <a:r>
              <a:rPr lang="en-US" sz="800" kern="0" spc="136" dirty="0">
                <a:solidFill>
                  <a:srgbClr val="4A4A4A"/>
                </a:solidFill>
                <a:latin typeface="Carlito" pitchFamily="34" charset="0"/>
                <a:ea typeface="Carlito" pitchFamily="34" charset="-122"/>
                <a:cs typeface="Carlito" pitchFamily="34" charset="-120"/>
              </a:rPr>
              <a:t>2.3 THE GAP IS NAMED BY THE LITERATURE ITSELF</a:t>
            </a:r>
            <a:endParaRPr lang="en-US" sz="800" dirty="0"/>
          </a:p>
        </p:txBody>
      </p:sp>
      <p:sp>
        <p:nvSpPr>
          <p:cNvPr id="6" name="Text 4"/>
          <p:cNvSpPr/>
          <p:nvPr/>
        </p:nvSpPr>
        <p:spPr>
          <a:xfrm>
            <a:off x="514350" y="1057275"/>
            <a:ext cx="8629650" cy="345619"/>
          </a:xfrm>
          <a:prstGeom prst="rect">
            <a:avLst/>
          </a:prstGeom>
          <a:noFill/>
          <a:ln/>
        </p:spPr>
        <p:txBody>
          <a:bodyPr wrap="squar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Three independent 2026 papers identify the absent component.</a:t>
            </a:r>
            <a:endParaRPr lang="en-US" sz="2250" dirty="0"/>
          </a:p>
        </p:txBody>
      </p:sp>
      <p:sp>
        <p:nvSpPr>
          <p:cNvPr id="7" name="Text 5"/>
          <p:cNvSpPr/>
          <p:nvPr/>
        </p:nvSpPr>
        <p:spPr>
          <a:xfrm>
            <a:off x="514350" y="1520168"/>
            <a:ext cx="400050" cy="28575"/>
          </a:xfrm>
          <a:prstGeom prst="rect">
            <a:avLst/>
          </a:prstGeom>
          <a:solidFill>
            <a:srgbClr val="0A0A0A"/>
          </a:solidFill>
          <a:ln/>
        </p:spPr>
        <p:txBody>
          <a:bodyPr wrap="square" rtlCol="0" anchor="ctr"/>
          <a:lstStyle/>
          <a:p>
            <a:pPr marL="0" indent="0">
              <a:buNone/>
            </a:pPr>
            <a:endParaRPr lang="en-US" dirty="0"/>
          </a:p>
        </p:txBody>
      </p:sp>
      <p:sp>
        <p:nvSpPr>
          <p:cNvPr id="8" name="Text 6"/>
          <p:cNvSpPr/>
          <p:nvPr/>
        </p:nvSpPr>
        <p:spPr>
          <a:xfrm>
            <a:off x="517922" y="1752340"/>
            <a:ext cx="2593181" cy="2338908"/>
          </a:xfrm>
          <a:prstGeom prst="rect">
            <a:avLst/>
          </a:prstGeom>
          <a:solidFill>
            <a:srgbClr val="FFFFFF"/>
          </a:solidFill>
          <a:ln w="7144">
            <a:solidFill>
              <a:srgbClr val="0A0A0A"/>
            </a:solidFill>
            <a:prstDash val="solid"/>
          </a:ln>
        </p:spPr>
        <p:txBody>
          <a:bodyPr wrap="square" rtlCol="0" anchor="ctr"/>
          <a:lstStyle/>
          <a:p>
            <a:pPr marL="0" indent="0">
              <a:buNone/>
            </a:pPr>
            <a:endParaRPr lang="en-US" dirty="0"/>
          </a:p>
        </p:txBody>
      </p:sp>
      <p:sp>
        <p:nvSpPr>
          <p:cNvPr id="9" name="Text 7"/>
          <p:cNvSpPr/>
          <p:nvPr/>
        </p:nvSpPr>
        <p:spPr>
          <a:xfrm>
            <a:off x="692944" y="1913074"/>
            <a:ext cx="2243138"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Liberation Sans Narrow" pitchFamily="34" charset="0"/>
                <a:ea typeface="Liberation Sans Narrow" pitchFamily="34" charset="-122"/>
                <a:cs typeface="Liberation Sans Narrow" pitchFamily="34" charset="-120"/>
              </a:rPr>
              <a:t>CRYPSY [P1]</a:t>
            </a:r>
            <a:endParaRPr lang="en-US" sz="800" dirty="0"/>
          </a:p>
        </p:txBody>
      </p:sp>
      <p:sp>
        <p:nvSpPr>
          <p:cNvPr id="10" name="Text 8"/>
          <p:cNvSpPr/>
          <p:nvPr/>
        </p:nvSpPr>
        <p:spPr>
          <a:xfrm>
            <a:off x="692944" y="2116671"/>
            <a:ext cx="2243138" cy="7144"/>
          </a:xfrm>
          <a:prstGeom prst="rect">
            <a:avLst/>
          </a:prstGeom>
          <a:solidFill>
            <a:srgbClr val="D9D9D9"/>
          </a:solidFill>
          <a:ln/>
        </p:spPr>
        <p:txBody>
          <a:bodyPr wrap="square" rtlCol="0" anchor="ctr"/>
          <a:lstStyle/>
          <a:p>
            <a:pPr marL="0" indent="0">
              <a:buNone/>
            </a:pPr>
            <a:endParaRPr lang="en-US" dirty="0"/>
          </a:p>
        </p:txBody>
      </p:sp>
      <p:sp>
        <p:nvSpPr>
          <p:cNvPr id="11" name="Text 9"/>
          <p:cNvSpPr/>
          <p:nvPr/>
        </p:nvSpPr>
        <p:spPr>
          <a:xfrm>
            <a:off x="692944" y="2209540"/>
            <a:ext cx="2243138" cy="339961"/>
          </a:xfrm>
          <a:prstGeom prst="rect">
            <a:avLst/>
          </a:prstGeom>
          <a:noFill/>
          <a:ln/>
        </p:spPr>
        <p:txBody>
          <a:bodyPr wrap="square" lIns="0" tIns="0" rIns="0" bIns="0" rtlCol="0" anchor="t"/>
          <a:lstStyle/>
          <a:p>
            <a:pPr marL="0" indent="0" algn="l">
              <a:lnSpc>
                <a:spcPts val="1221"/>
              </a:lnSpc>
              <a:buNone/>
            </a:pPr>
            <a:r>
              <a:rPr lang="en-US" sz="800" dirty="0">
                <a:solidFill>
                  <a:srgbClr val="1F1F1F"/>
                </a:solidFill>
                <a:latin typeface="Carlito" pitchFamily="34" charset="0"/>
                <a:ea typeface="Carlito" pitchFamily="34" charset="-122"/>
                <a:cs typeface="Carlito" pitchFamily="34" charset="-120"/>
              </a:rPr>
              <a:t>States rules “requir[e] manual triage to distinguish actionable from non-actionable findings.”</a:t>
            </a:r>
            <a:endParaRPr lang="en-US" sz="800" dirty="0"/>
          </a:p>
        </p:txBody>
      </p:sp>
      <p:sp>
        <p:nvSpPr>
          <p:cNvPr id="12" name="Text 10"/>
          <p:cNvSpPr/>
          <p:nvPr/>
        </p:nvSpPr>
        <p:spPr>
          <a:xfrm>
            <a:off x="3275409" y="1752340"/>
            <a:ext cx="2593181" cy="2338908"/>
          </a:xfrm>
          <a:prstGeom prst="rect">
            <a:avLst/>
          </a:prstGeom>
          <a:solidFill>
            <a:srgbClr val="FFFFFF"/>
          </a:solidFill>
          <a:ln w="7144">
            <a:solidFill>
              <a:srgbClr val="0A0A0A"/>
            </a:solidFill>
            <a:prstDash val="solid"/>
          </a:ln>
        </p:spPr>
        <p:txBody>
          <a:bodyPr wrap="square" rtlCol="0" anchor="ctr"/>
          <a:lstStyle/>
          <a:p>
            <a:pPr marL="0" indent="0">
              <a:buNone/>
            </a:pPr>
            <a:endParaRPr lang="en-US" dirty="0"/>
          </a:p>
        </p:txBody>
      </p:sp>
      <p:sp>
        <p:nvSpPr>
          <p:cNvPr id="13" name="Text 11"/>
          <p:cNvSpPr/>
          <p:nvPr/>
        </p:nvSpPr>
        <p:spPr>
          <a:xfrm>
            <a:off x="3450431" y="1913074"/>
            <a:ext cx="2243138"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Liberation Sans Narrow" pitchFamily="34" charset="0"/>
                <a:ea typeface="Liberation Sans Narrow" pitchFamily="34" charset="-122"/>
                <a:cs typeface="Liberation Sans Narrow" pitchFamily="34" charset="-120"/>
              </a:rPr>
              <a:t>AQUA [P4]</a:t>
            </a:r>
            <a:endParaRPr lang="en-US" sz="800" dirty="0"/>
          </a:p>
        </p:txBody>
      </p:sp>
      <p:sp>
        <p:nvSpPr>
          <p:cNvPr id="14" name="Text 12"/>
          <p:cNvSpPr/>
          <p:nvPr/>
        </p:nvSpPr>
        <p:spPr>
          <a:xfrm>
            <a:off x="3450431" y="2116671"/>
            <a:ext cx="2243138" cy="7144"/>
          </a:xfrm>
          <a:prstGeom prst="rect">
            <a:avLst/>
          </a:prstGeom>
          <a:solidFill>
            <a:srgbClr val="D9D9D9"/>
          </a:solidFill>
          <a:ln/>
        </p:spPr>
        <p:txBody>
          <a:bodyPr wrap="square" rtlCol="0" anchor="ctr"/>
          <a:lstStyle/>
          <a:p>
            <a:pPr marL="0" indent="0">
              <a:buNone/>
            </a:pPr>
            <a:endParaRPr lang="en-US" dirty="0"/>
          </a:p>
        </p:txBody>
      </p:sp>
      <p:sp>
        <p:nvSpPr>
          <p:cNvPr id="15" name="Text 13"/>
          <p:cNvSpPr/>
          <p:nvPr/>
        </p:nvSpPr>
        <p:spPr>
          <a:xfrm>
            <a:off x="3450431" y="2209540"/>
            <a:ext cx="2243138" cy="509941"/>
          </a:xfrm>
          <a:prstGeom prst="rect">
            <a:avLst/>
          </a:prstGeom>
          <a:noFill/>
          <a:ln/>
        </p:spPr>
        <p:txBody>
          <a:bodyPr wrap="square" lIns="0" tIns="0" rIns="0" bIns="0" rtlCol="0" anchor="t"/>
          <a:lstStyle/>
          <a:p>
            <a:pPr marL="0" indent="0" algn="l">
              <a:lnSpc>
                <a:spcPts val="1221"/>
              </a:lnSpc>
              <a:buNone/>
            </a:pPr>
            <a:r>
              <a:rPr lang="en-US" sz="800" dirty="0">
                <a:solidFill>
                  <a:srgbClr val="1F1F1F"/>
                </a:solidFill>
                <a:latin typeface="Carlito" pitchFamily="34" charset="0"/>
                <a:ea typeface="Carlito" pitchFamily="34" charset="-122"/>
                <a:cs typeface="Carlito" pitchFamily="34" charset="-120"/>
              </a:rPr>
              <a:t>Defines the missing agenda as PQC-aware detection, semantic refactoring, hybrid verification. No implementation.</a:t>
            </a:r>
            <a:endParaRPr lang="en-US" sz="800" dirty="0"/>
          </a:p>
        </p:txBody>
      </p:sp>
      <p:sp>
        <p:nvSpPr>
          <p:cNvPr id="16" name="Text 14"/>
          <p:cNvSpPr/>
          <p:nvPr/>
        </p:nvSpPr>
        <p:spPr>
          <a:xfrm>
            <a:off x="6032897" y="1752340"/>
            <a:ext cx="2593181" cy="2338908"/>
          </a:xfrm>
          <a:prstGeom prst="rect">
            <a:avLst/>
          </a:prstGeom>
          <a:solidFill>
            <a:srgbClr val="FFFFFF"/>
          </a:solidFill>
          <a:ln w="7144">
            <a:solidFill>
              <a:srgbClr val="0A0A0A"/>
            </a:solidFill>
            <a:prstDash val="solid"/>
          </a:ln>
        </p:spPr>
        <p:txBody>
          <a:bodyPr wrap="square" rtlCol="0" anchor="ctr"/>
          <a:lstStyle/>
          <a:p>
            <a:pPr marL="0" indent="0">
              <a:buNone/>
            </a:pPr>
            <a:endParaRPr lang="en-US" dirty="0"/>
          </a:p>
        </p:txBody>
      </p:sp>
      <p:sp>
        <p:nvSpPr>
          <p:cNvPr id="17" name="Text 15"/>
          <p:cNvSpPr/>
          <p:nvPr/>
        </p:nvSpPr>
        <p:spPr>
          <a:xfrm>
            <a:off x="6207919" y="1913074"/>
            <a:ext cx="2243138"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Liberation Sans Narrow" pitchFamily="34" charset="0"/>
                <a:ea typeface="Liberation Sans Narrow" pitchFamily="34" charset="-122"/>
                <a:cs typeface="Liberation Sans Narrow" pitchFamily="34" charset="-120"/>
              </a:rPr>
              <a:t>CARS [P5]</a:t>
            </a:r>
            <a:endParaRPr lang="en-US" sz="800" dirty="0"/>
          </a:p>
        </p:txBody>
      </p:sp>
      <p:sp>
        <p:nvSpPr>
          <p:cNvPr id="18" name="Text 16"/>
          <p:cNvSpPr/>
          <p:nvPr/>
        </p:nvSpPr>
        <p:spPr>
          <a:xfrm>
            <a:off x="6207919" y="2116671"/>
            <a:ext cx="2243138" cy="7144"/>
          </a:xfrm>
          <a:prstGeom prst="rect">
            <a:avLst/>
          </a:prstGeom>
          <a:solidFill>
            <a:srgbClr val="D9D9D9"/>
          </a:solidFill>
          <a:ln/>
        </p:spPr>
        <p:txBody>
          <a:bodyPr wrap="square" rtlCol="0" anchor="ctr"/>
          <a:lstStyle/>
          <a:p>
            <a:pPr marL="0" indent="0">
              <a:buNone/>
            </a:pPr>
            <a:endParaRPr lang="en-US" dirty="0"/>
          </a:p>
        </p:txBody>
      </p:sp>
      <p:sp>
        <p:nvSpPr>
          <p:cNvPr id="19" name="Text 17"/>
          <p:cNvSpPr/>
          <p:nvPr/>
        </p:nvSpPr>
        <p:spPr>
          <a:xfrm>
            <a:off x="6207919" y="2209540"/>
            <a:ext cx="2243138" cy="339961"/>
          </a:xfrm>
          <a:prstGeom prst="rect">
            <a:avLst/>
          </a:prstGeom>
          <a:noFill/>
          <a:ln/>
        </p:spPr>
        <p:txBody>
          <a:bodyPr wrap="square" lIns="0" tIns="0" rIns="0" bIns="0" rtlCol="0" anchor="t"/>
          <a:lstStyle/>
          <a:p>
            <a:pPr marL="0" indent="0" algn="l">
              <a:lnSpc>
                <a:spcPts val="1221"/>
              </a:lnSpc>
              <a:buNone/>
            </a:pPr>
            <a:r>
              <a:rPr lang="en-US" sz="800" dirty="0">
                <a:solidFill>
                  <a:srgbClr val="1F1F1F"/>
                </a:solidFill>
                <a:latin typeface="Carlito" pitchFamily="34" charset="0"/>
                <a:ea typeface="Carlito" pitchFamily="34" charset="-122"/>
                <a:cs typeface="Carlito" pitchFamily="34" charset="-120"/>
              </a:rPr>
              <a:t>Concedes “external predictive validation against migration outcomes remains future work.”</a:t>
            </a:r>
            <a:endParaRPr lang="en-US" sz="800" dirty="0"/>
          </a:p>
        </p:txBody>
      </p:sp>
      <p:sp>
        <p:nvSpPr>
          <p:cNvPr id="20" name="Text 18"/>
          <p:cNvSpPr/>
          <p:nvPr/>
        </p:nvSpPr>
        <p:spPr>
          <a:xfrm>
            <a:off x="517922" y="4269842"/>
            <a:ext cx="8108156" cy="470036"/>
          </a:xfrm>
          <a:prstGeom prst="rect">
            <a:avLst/>
          </a:prstGeom>
          <a:solidFill>
            <a:srgbClr val="F4F4F4"/>
          </a:solidFill>
          <a:ln w="7144">
            <a:solidFill>
              <a:srgbClr val="D9D9D9"/>
            </a:solidFill>
            <a:prstDash val="solid"/>
          </a:ln>
        </p:spPr>
        <p:txBody>
          <a:bodyPr wrap="square" rtlCol="0" anchor="ctr"/>
          <a:lstStyle/>
          <a:p>
            <a:pPr marL="0" indent="0">
              <a:buNone/>
            </a:pPr>
            <a:endParaRPr lang="en-US" dirty="0"/>
          </a:p>
        </p:txBody>
      </p:sp>
      <p:sp>
        <p:nvSpPr>
          <p:cNvPr id="21" name="Text 19"/>
          <p:cNvSpPr/>
          <p:nvPr/>
        </p:nvSpPr>
        <p:spPr>
          <a:xfrm>
            <a:off x="678656" y="4416289"/>
            <a:ext cx="7786688" cy="177143"/>
          </a:xfrm>
          <a:prstGeom prst="rect">
            <a:avLst/>
          </a:prstGeom>
          <a:noFill/>
          <a:ln/>
        </p:spPr>
        <p:txBody>
          <a:bodyPr wrap="square" lIns="0" tIns="0" rIns="0" bIns="0" rtlCol="0" anchor="t"/>
          <a:lstStyle/>
          <a:p>
            <a:pPr marL="0" indent="0" algn="l">
              <a:lnSpc>
                <a:spcPts val="1395"/>
              </a:lnSpc>
              <a:buNone/>
            </a:pPr>
            <a:r>
              <a:rPr lang="en-US" sz="900" i="1" dirty="0">
                <a:solidFill>
                  <a:srgbClr val="1F1F1F"/>
                </a:solidFill>
                <a:latin typeface="Tinos" pitchFamily="34" charset="0"/>
                <a:ea typeface="Tinos" pitchFamily="34" charset="-122"/>
                <a:cs typeface="Tinos" pitchFamily="34" charset="-120"/>
              </a:rPr>
              <a:t>We are building the component three independent 2026 papers identify as absent.</a:t>
            </a:r>
            <a:endParaRPr lang="en-US" sz="900" dirty="0"/>
          </a:p>
        </p:txBody>
      </p:sp>
      <p:sp>
        <p:nvSpPr>
          <p:cNvPr id="22" name="Shape 20"/>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23" name="Text 21"/>
          <p:cNvSpPr/>
          <p:nvPr/>
        </p:nvSpPr>
        <p:spPr>
          <a:xfrm>
            <a:off x="1463040" y="4846320"/>
            <a:ext cx="7132320" cy="137160"/>
          </a:xfrm>
          <a:prstGeom prst="rect">
            <a:avLst/>
          </a:prstGeom>
          <a:noFill/>
          <a:ln/>
        </p:spPr>
        <p:txBody>
          <a:bodyPr wrap="squar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02 — JUSTIFICATION</a:t>
            </a:r>
            <a:endParaRPr lang="en-US" sz="800" dirty="0"/>
          </a:p>
        </p:txBody>
      </p:sp>
      <p:sp>
        <p:nvSpPr>
          <p:cNvPr id="24" name="Text 22"/>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14 / 39</a:t>
            </a:r>
            <a:endParaRPr lang="en-US" sz="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842931"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7371569" y="400050"/>
            <a:ext cx="1258081" cy="117872"/>
          </a:xfrm>
          <a:prstGeom prst="rect">
            <a:avLst/>
          </a:prstGeom>
          <a:noFill/>
          <a:ln/>
        </p:spPr>
        <p:txBody>
          <a:bodyPr wrap="non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SECTION 03 — OBJECTIVES</a:t>
            </a:r>
            <a:endParaRPr lang="en-US" sz="619" dirty="0"/>
          </a:p>
        </p:txBody>
      </p:sp>
      <p:sp>
        <p:nvSpPr>
          <p:cNvPr id="5" name="Text 3"/>
          <p:cNvSpPr/>
          <p:nvPr/>
        </p:nvSpPr>
        <p:spPr>
          <a:xfrm>
            <a:off x="514350" y="853678"/>
            <a:ext cx="8629650" cy="164592"/>
          </a:xfrm>
          <a:prstGeom prst="rect">
            <a:avLst/>
          </a:prstGeom>
          <a:noFill/>
          <a:ln/>
        </p:spPr>
        <p:txBody>
          <a:bodyPr wrap="none" lIns="0" tIns="0" rIns="0" bIns="0" rtlCol="0" anchor="t"/>
          <a:lstStyle/>
          <a:p>
            <a:pPr marL="0" indent="0" algn="l">
              <a:lnSpc>
                <a:spcPts val="928"/>
              </a:lnSpc>
              <a:buNone/>
            </a:pPr>
            <a:r>
              <a:rPr lang="en-US" sz="800" kern="0" spc="136" dirty="0">
                <a:solidFill>
                  <a:srgbClr val="4A4A4A"/>
                </a:solidFill>
                <a:latin typeface="Liberation Sans Narrow" pitchFamily="34" charset="0"/>
                <a:ea typeface="Liberation Sans Narrow" pitchFamily="34" charset="-122"/>
                <a:cs typeface="Liberation Sans Narrow" pitchFamily="34" charset="-120"/>
              </a:rPr>
              <a:t>3 OBJECTIVES — PART 1 OF 2</a:t>
            </a:r>
            <a:endParaRPr lang="en-US" sz="800" dirty="0"/>
          </a:p>
        </p:txBody>
      </p:sp>
      <p:sp>
        <p:nvSpPr>
          <p:cNvPr id="6" name="Text 4"/>
          <p:cNvSpPr/>
          <p:nvPr/>
        </p:nvSpPr>
        <p:spPr>
          <a:xfrm>
            <a:off x="514350" y="1057275"/>
            <a:ext cx="8629650" cy="345619"/>
          </a:xfrm>
          <a:prstGeom prst="rect">
            <a:avLst/>
          </a:prstGeom>
          <a:noFill/>
          <a:ln/>
        </p:spPr>
        <p:txBody>
          <a:bodyPr wrap="squar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Discovery, binding, scoring.</a:t>
            </a:r>
            <a:endParaRPr lang="en-US" sz="2250" dirty="0"/>
          </a:p>
        </p:txBody>
      </p:sp>
      <p:sp>
        <p:nvSpPr>
          <p:cNvPr id="7" name="Text 5"/>
          <p:cNvSpPr/>
          <p:nvPr/>
        </p:nvSpPr>
        <p:spPr>
          <a:xfrm>
            <a:off x="514350" y="1520168"/>
            <a:ext cx="400050" cy="28575"/>
          </a:xfrm>
          <a:prstGeom prst="rect">
            <a:avLst/>
          </a:prstGeom>
          <a:solidFill>
            <a:srgbClr val="0A0A0A"/>
          </a:solidFill>
          <a:ln/>
        </p:spPr>
        <p:txBody>
          <a:bodyPr wrap="square" rtlCol="0" anchor="ctr"/>
          <a:lstStyle/>
          <a:p>
            <a:pPr marL="0" indent="0">
              <a:buNone/>
            </a:pPr>
            <a:endParaRPr lang="en-US" dirty="0"/>
          </a:p>
        </p:txBody>
      </p:sp>
      <p:sp>
        <p:nvSpPr>
          <p:cNvPr id="8" name="Text 6"/>
          <p:cNvSpPr/>
          <p:nvPr/>
        </p:nvSpPr>
        <p:spPr>
          <a:xfrm>
            <a:off x="517922" y="2167347"/>
            <a:ext cx="635794" cy="471488"/>
          </a:xfrm>
          <a:prstGeom prst="rect">
            <a:avLst/>
          </a:prstGeom>
          <a:solidFill>
            <a:srgbClr val="F4F4F4"/>
          </a:solidFill>
          <a:ln w="7144">
            <a:solidFill>
              <a:srgbClr val="D9D9D9"/>
            </a:solidFill>
            <a:prstDash val="solid"/>
          </a:ln>
        </p:spPr>
        <p:txBody>
          <a:bodyPr wrap="square" rtlCol="0" anchor="ctr"/>
          <a:lstStyle/>
          <a:p>
            <a:pPr marL="0" indent="0">
              <a:buNone/>
            </a:pPr>
            <a:endParaRPr lang="en-US" dirty="0"/>
          </a:p>
        </p:txBody>
      </p:sp>
      <p:sp>
        <p:nvSpPr>
          <p:cNvPr id="9" name="Text 7"/>
          <p:cNvSpPr/>
          <p:nvPr/>
        </p:nvSpPr>
        <p:spPr>
          <a:xfrm>
            <a:off x="327898" y="2163775"/>
            <a:ext cx="1015841" cy="516922"/>
          </a:xfrm>
          <a:prstGeom prst="rect">
            <a:avLst/>
          </a:prstGeom>
          <a:noFill/>
          <a:ln/>
        </p:spPr>
        <p:txBody>
          <a:bodyPr wrap="none" lIns="0" tIns="114300" rIns="0" bIns="114300" rtlCol="0" anchor="t"/>
          <a:lstStyle/>
          <a:p>
            <a:pPr marL="0" indent="0" algn="ctr">
              <a:lnSpc>
                <a:spcPts val="1856"/>
              </a:lnSpc>
              <a:buNone/>
            </a:pPr>
            <a:r>
              <a:rPr lang="en-US" sz="1238" b="1" dirty="0">
                <a:solidFill>
                  <a:srgbClr val="0A0A0A"/>
                </a:solidFill>
                <a:latin typeface="Liberation Sans Narrow" pitchFamily="34" charset="0"/>
                <a:ea typeface="Liberation Sans Narrow" pitchFamily="34" charset="-122"/>
                <a:cs typeface="Liberation Sans Narrow" pitchFamily="34" charset="-120"/>
              </a:rPr>
              <a:t>O1</a:t>
            </a:r>
            <a:endParaRPr lang="en-US" sz="1238" dirty="0"/>
          </a:p>
        </p:txBody>
      </p:sp>
      <p:sp>
        <p:nvSpPr>
          <p:cNvPr id="10" name="Text 8"/>
          <p:cNvSpPr/>
          <p:nvPr/>
        </p:nvSpPr>
        <p:spPr>
          <a:xfrm>
            <a:off x="1328738" y="2242468"/>
            <a:ext cx="6873933" cy="133302"/>
          </a:xfrm>
          <a:prstGeom prst="rect">
            <a:avLst/>
          </a:prstGeom>
          <a:noFill/>
          <a:ln/>
        </p:spPr>
        <p:txBody>
          <a:bodyPr wrap="none" lIns="0" tIns="0" rIns="0" bIns="0" rtlCol="0" anchor="t">
            <a:normAutofit/>
          </a:bodyPr>
          <a:lstStyle/>
          <a:p>
            <a:pPr marL="0" indent="0" algn="l">
              <a:lnSpc>
                <a:spcPts val="928"/>
              </a:lnSpc>
              <a:buNone/>
            </a:pPr>
            <a:r>
              <a:rPr lang="en-US" sz="800" b="1" kern="0" spc="111" dirty="0">
                <a:solidFill>
                  <a:srgbClr val="0A0A0A"/>
                </a:solidFill>
                <a:latin typeface="Carlito" pitchFamily="34" charset="0"/>
                <a:ea typeface="Carlito" pitchFamily="34" charset="-122"/>
                <a:cs typeface="Carlito" pitchFamily="34" charset="-120"/>
              </a:rPr>
              <a:t>DISCOVERY</a:t>
            </a:r>
            <a:endParaRPr lang="en-US" sz="800" dirty="0"/>
          </a:p>
        </p:txBody>
      </p:sp>
      <p:sp>
        <p:nvSpPr>
          <p:cNvPr id="11" name="Text 9"/>
          <p:cNvSpPr/>
          <p:nvPr/>
        </p:nvSpPr>
        <p:spPr>
          <a:xfrm>
            <a:off x="1328738" y="2403202"/>
            <a:ext cx="4843463" cy="173352"/>
          </a:xfrm>
          <a:prstGeom prst="rect">
            <a:avLst/>
          </a:prstGeom>
          <a:noFill/>
          <a:ln/>
        </p:spPr>
        <p:txBody>
          <a:bodyPr wrap="square" lIns="0" tIns="0" rIns="0" bIns="0" rtlCol="0" anchor="t"/>
          <a:lstStyle/>
          <a:p>
            <a:pPr marL="0" indent="0" algn="l">
              <a:lnSpc>
                <a:spcPts val="1264"/>
              </a:lnSpc>
              <a:buNone/>
            </a:pPr>
            <a:r>
              <a:rPr lang="en-US" sz="816" dirty="0">
                <a:solidFill>
                  <a:srgbClr val="1F1F1F"/>
                </a:solidFill>
                <a:latin typeface="Carlito" pitchFamily="34" charset="0"/>
                <a:ea typeface="Carlito" pitchFamily="34" charset="-122"/>
                <a:cs typeface="Carlito" pitchFamily="34" charset="-120"/>
              </a:rPr>
              <a:t>Multi-language cryptographic discovery layer emitting CycloneDX 1.6 CBOM.</a:t>
            </a:r>
            <a:endParaRPr lang="en-US" sz="816" dirty="0"/>
          </a:p>
        </p:txBody>
      </p:sp>
      <p:sp>
        <p:nvSpPr>
          <p:cNvPr id="12" name="Text 10"/>
          <p:cNvSpPr/>
          <p:nvPr/>
        </p:nvSpPr>
        <p:spPr>
          <a:xfrm>
            <a:off x="6343650" y="2190229"/>
            <a:ext cx="2800350" cy="108299"/>
          </a:xfrm>
          <a:prstGeom prst="rect">
            <a:avLst/>
          </a:prstGeom>
          <a:noFill/>
          <a:ln/>
        </p:spPr>
        <p:txBody>
          <a:bodyPr wrap="none" lIns="0" tIns="0" rIns="0" bIns="0" rtlCol="0" anchor="t">
            <a:normAutofit/>
          </a:bodyPr>
          <a:lstStyle/>
          <a:p>
            <a:pPr marL="0" indent="0" algn="l">
              <a:lnSpc>
                <a:spcPts val="844"/>
              </a:lnSpc>
              <a:buNone/>
            </a:pPr>
            <a:r>
              <a:rPr lang="en-US" sz="800" kern="0" spc="101" dirty="0">
                <a:solidFill>
                  <a:srgbClr val="4A4A4A"/>
                </a:solidFill>
                <a:latin typeface="Carlito" pitchFamily="34" charset="0"/>
                <a:ea typeface="Carlito" pitchFamily="34" charset="-122"/>
                <a:cs typeface="Carlito" pitchFamily="34" charset="-120"/>
              </a:rPr>
              <a:t>TARGET</a:t>
            </a:r>
            <a:endParaRPr lang="en-US" sz="800" dirty="0"/>
          </a:p>
        </p:txBody>
      </p:sp>
      <p:sp>
        <p:nvSpPr>
          <p:cNvPr id="13" name="Text 11"/>
          <p:cNvSpPr/>
          <p:nvPr/>
        </p:nvSpPr>
        <p:spPr>
          <a:xfrm>
            <a:off x="6343650" y="2325960"/>
            <a:ext cx="2286000" cy="318162"/>
          </a:xfrm>
          <a:prstGeom prst="rect">
            <a:avLst/>
          </a:prstGeom>
          <a:noFill/>
          <a:ln/>
        </p:spPr>
        <p:txBody>
          <a:bodyPr wrap="square" lIns="0" tIns="0" rIns="0" bIns="0" rtlCol="0" anchor="t"/>
          <a:lstStyle/>
          <a:p>
            <a:pPr marL="0" indent="0" algn="l">
              <a:lnSpc>
                <a:spcPts val="1142"/>
              </a:lnSpc>
              <a:buNone/>
            </a:pPr>
            <a:r>
              <a:rPr lang="en-US" sz="800" dirty="0">
                <a:solidFill>
                  <a:srgbClr val="0A0A0A"/>
                </a:solidFill>
                <a:latin typeface="Liberation Sans Narrow" pitchFamily="34" charset="0"/>
                <a:ea typeface="Liberation Sans Narrow" pitchFamily="34" charset="-122"/>
                <a:cs typeface="Liberation Sans Narrow" pitchFamily="34" charset="-120"/>
              </a:rPr>
              <a:t>F1 ≥ 0.85</a:t>
            </a:r>
            <a:endParaRPr lang="en-US" sz="800" dirty="0"/>
          </a:p>
          <a:p>
            <a:pPr marL="0" indent="0" algn="l">
              <a:lnSpc>
                <a:spcPts val="1142"/>
              </a:lnSpc>
              <a:buNone/>
            </a:pPr>
            <a:r>
              <a:rPr lang="en-US" sz="800" dirty="0">
                <a:solidFill>
                  <a:srgbClr val="0A0A0A"/>
                </a:solidFill>
                <a:latin typeface="Liberation Sans Narrow" pitchFamily="34" charset="0"/>
                <a:ea typeface="Liberation Sans Narrow" pitchFamily="34" charset="-122"/>
                <a:cs typeface="Liberation Sans Narrow" pitchFamily="34" charset="-120"/>
              </a:rPr>
              <a:t>(vs Crysy 0.75, CBOMkit 0.66)</a:t>
            </a:r>
            <a:endParaRPr lang="en-US" sz="800" dirty="0"/>
          </a:p>
        </p:txBody>
      </p:sp>
      <p:sp>
        <p:nvSpPr>
          <p:cNvPr id="14" name="Text 12"/>
          <p:cNvSpPr/>
          <p:nvPr/>
        </p:nvSpPr>
        <p:spPr>
          <a:xfrm>
            <a:off x="514350" y="2799569"/>
            <a:ext cx="8115300" cy="7144"/>
          </a:xfrm>
          <a:prstGeom prst="rect">
            <a:avLst/>
          </a:prstGeom>
          <a:solidFill>
            <a:srgbClr val="D9D9D9"/>
          </a:solidFill>
          <a:ln/>
        </p:spPr>
        <p:txBody>
          <a:bodyPr wrap="square" rtlCol="0" anchor="ctr"/>
          <a:lstStyle/>
          <a:p>
            <a:pPr marL="0" indent="0">
              <a:buNone/>
            </a:pPr>
            <a:endParaRPr lang="en-US" dirty="0"/>
          </a:p>
        </p:txBody>
      </p:sp>
      <p:sp>
        <p:nvSpPr>
          <p:cNvPr id="15" name="Text 13"/>
          <p:cNvSpPr/>
          <p:nvPr/>
        </p:nvSpPr>
        <p:spPr>
          <a:xfrm>
            <a:off x="517922" y="2967447"/>
            <a:ext cx="635794" cy="471488"/>
          </a:xfrm>
          <a:prstGeom prst="rect">
            <a:avLst/>
          </a:prstGeom>
          <a:solidFill>
            <a:srgbClr val="F4F4F4"/>
          </a:solidFill>
          <a:ln w="7144">
            <a:solidFill>
              <a:srgbClr val="D9D9D9"/>
            </a:solidFill>
            <a:prstDash val="solid"/>
          </a:ln>
        </p:spPr>
        <p:txBody>
          <a:bodyPr wrap="square" rtlCol="0" anchor="ctr"/>
          <a:lstStyle/>
          <a:p>
            <a:pPr marL="0" indent="0">
              <a:buNone/>
            </a:pPr>
            <a:endParaRPr lang="en-US" dirty="0"/>
          </a:p>
        </p:txBody>
      </p:sp>
      <p:sp>
        <p:nvSpPr>
          <p:cNvPr id="16" name="Text 14"/>
          <p:cNvSpPr/>
          <p:nvPr/>
        </p:nvSpPr>
        <p:spPr>
          <a:xfrm>
            <a:off x="327898" y="2963875"/>
            <a:ext cx="1015841" cy="516922"/>
          </a:xfrm>
          <a:prstGeom prst="rect">
            <a:avLst/>
          </a:prstGeom>
          <a:noFill/>
          <a:ln/>
        </p:spPr>
        <p:txBody>
          <a:bodyPr wrap="none" lIns="0" tIns="114300" rIns="0" bIns="114300" rtlCol="0" anchor="t"/>
          <a:lstStyle/>
          <a:p>
            <a:pPr marL="0" indent="0" algn="ctr">
              <a:lnSpc>
                <a:spcPts val="1856"/>
              </a:lnSpc>
              <a:buNone/>
            </a:pPr>
            <a:r>
              <a:rPr lang="en-US" sz="1238" b="1" dirty="0">
                <a:solidFill>
                  <a:srgbClr val="0A0A0A"/>
                </a:solidFill>
                <a:latin typeface="Liberation Sans Narrow" pitchFamily="34" charset="0"/>
                <a:ea typeface="Liberation Sans Narrow" pitchFamily="34" charset="-122"/>
                <a:cs typeface="Liberation Sans Narrow" pitchFamily="34" charset="-120"/>
              </a:rPr>
              <a:t>O2</a:t>
            </a:r>
            <a:endParaRPr lang="en-US" sz="1238" dirty="0"/>
          </a:p>
        </p:txBody>
      </p:sp>
      <p:sp>
        <p:nvSpPr>
          <p:cNvPr id="17" name="Text 15"/>
          <p:cNvSpPr/>
          <p:nvPr/>
        </p:nvSpPr>
        <p:spPr>
          <a:xfrm>
            <a:off x="1328738" y="3042568"/>
            <a:ext cx="6350839" cy="133302"/>
          </a:xfrm>
          <a:prstGeom prst="rect">
            <a:avLst/>
          </a:prstGeom>
          <a:noFill/>
          <a:ln/>
        </p:spPr>
        <p:txBody>
          <a:bodyPr wrap="none" lIns="0" tIns="0" rIns="0" bIns="0" rtlCol="0" anchor="t">
            <a:normAutofit/>
          </a:bodyPr>
          <a:lstStyle/>
          <a:p>
            <a:pPr marL="0" indent="0" algn="l">
              <a:lnSpc>
                <a:spcPts val="928"/>
              </a:lnSpc>
              <a:buNone/>
            </a:pPr>
            <a:r>
              <a:rPr lang="en-US" sz="800" b="1" kern="0" spc="111" dirty="0">
                <a:solidFill>
                  <a:srgbClr val="0A0A0A"/>
                </a:solidFill>
                <a:latin typeface="Carlito" pitchFamily="34" charset="0"/>
                <a:ea typeface="Carlito" pitchFamily="34" charset="-122"/>
                <a:cs typeface="Carlito" pitchFamily="34" charset="-120"/>
              </a:rPr>
              <a:t>DATAFLOW BINDING</a:t>
            </a:r>
            <a:endParaRPr lang="en-US" sz="800" dirty="0"/>
          </a:p>
        </p:txBody>
      </p:sp>
      <p:sp>
        <p:nvSpPr>
          <p:cNvPr id="18" name="Text 16"/>
          <p:cNvSpPr/>
          <p:nvPr/>
        </p:nvSpPr>
        <p:spPr>
          <a:xfrm>
            <a:off x="1328738" y="3203302"/>
            <a:ext cx="4843463" cy="173352"/>
          </a:xfrm>
          <a:prstGeom prst="rect">
            <a:avLst/>
          </a:prstGeom>
          <a:noFill/>
          <a:ln/>
        </p:spPr>
        <p:txBody>
          <a:bodyPr wrap="square" lIns="0" tIns="0" rIns="0" bIns="0" rtlCol="0" anchor="t"/>
          <a:lstStyle/>
          <a:p>
            <a:pPr marL="0" indent="0" algn="l">
              <a:lnSpc>
                <a:spcPts val="1264"/>
              </a:lnSpc>
              <a:buNone/>
            </a:pPr>
            <a:r>
              <a:rPr lang="en-US" sz="816" dirty="0">
                <a:solidFill>
                  <a:srgbClr val="1F1F1F"/>
                </a:solidFill>
                <a:latin typeface="Carlito" pitchFamily="34" charset="0"/>
                <a:ea typeface="Carlito" pitchFamily="34" charset="-122"/>
                <a:cs typeface="Carlito" pitchFamily="34" charset="-120"/>
              </a:rPr>
              <a:t>Inter-procedural binding of each crypto call site to its protected data, retention, and exposure surface.</a:t>
            </a:r>
            <a:endParaRPr lang="en-US" sz="816" dirty="0"/>
          </a:p>
        </p:txBody>
      </p:sp>
      <p:sp>
        <p:nvSpPr>
          <p:cNvPr id="19" name="Text 17"/>
          <p:cNvSpPr/>
          <p:nvPr/>
        </p:nvSpPr>
        <p:spPr>
          <a:xfrm>
            <a:off x="6343650" y="3062771"/>
            <a:ext cx="2800350" cy="108299"/>
          </a:xfrm>
          <a:prstGeom prst="rect">
            <a:avLst/>
          </a:prstGeom>
          <a:noFill/>
          <a:ln/>
        </p:spPr>
        <p:txBody>
          <a:bodyPr wrap="none" lIns="0" tIns="0" rIns="0" bIns="0" rtlCol="0" anchor="t">
            <a:normAutofit/>
          </a:bodyPr>
          <a:lstStyle/>
          <a:p>
            <a:pPr marL="0" indent="0" algn="l">
              <a:lnSpc>
                <a:spcPts val="844"/>
              </a:lnSpc>
              <a:buNone/>
            </a:pPr>
            <a:r>
              <a:rPr lang="en-US" sz="800" kern="0" spc="101" dirty="0">
                <a:solidFill>
                  <a:srgbClr val="4A4A4A"/>
                </a:solidFill>
                <a:latin typeface="Carlito" pitchFamily="34" charset="0"/>
                <a:ea typeface="Carlito" pitchFamily="34" charset="-122"/>
                <a:cs typeface="Carlito" pitchFamily="34" charset="-120"/>
              </a:rPr>
              <a:t>TARGET</a:t>
            </a:r>
            <a:endParaRPr lang="en-US" sz="800" dirty="0"/>
          </a:p>
        </p:txBody>
      </p:sp>
      <p:sp>
        <p:nvSpPr>
          <p:cNvPr id="20" name="Text 18"/>
          <p:cNvSpPr/>
          <p:nvPr/>
        </p:nvSpPr>
        <p:spPr>
          <a:xfrm>
            <a:off x="6343650" y="3198502"/>
            <a:ext cx="2468880" cy="159081"/>
          </a:xfrm>
          <a:prstGeom prst="rect">
            <a:avLst/>
          </a:prstGeom>
          <a:noFill/>
          <a:ln/>
        </p:spPr>
        <p:txBody>
          <a:bodyPr wrap="square" lIns="0" tIns="0" rIns="0" bIns="0" rtlCol="0" anchor="t"/>
          <a:lstStyle/>
          <a:p>
            <a:pPr marL="0" indent="0" algn="l">
              <a:lnSpc>
                <a:spcPts val="1142"/>
              </a:lnSpc>
              <a:buNone/>
            </a:pPr>
            <a:r>
              <a:rPr lang="en-US" sz="800" dirty="0">
                <a:solidFill>
                  <a:srgbClr val="0A0A0A"/>
                </a:solidFill>
                <a:latin typeface="Courier New" pitchFamily="34" charset="0"/>
                <a:ea typeface="Courier New" pitchFamily="34" charset="-122"/>
                <a:cs typeface="Courier New" pitchFamily="34" charset="-120"/>
              </a:rPr>
              <a:t>Binding ≥ 70% of call sites (Python, Java)</a:t>
            </a:r>
            <a:endParaRPr lang="en-US" sz="800" dirty="0"/>
          </a:p>
        </p:txBody>
      </p:sp>
      <p:sp>
        <p:nvSpPr>
          <p:cNvPr id="21" name="Text 19"/>
          <p:cNvSpPr/>
          <p:nvPr/>
        </p:nvSpPr>
        <p:spPr>
          <a:xfrm>
            <a:off x="514350" y="3599669"/>
            <a:ext cx="8115300" cy="7144"/>
          </a:xfrm>
          <a:prstGeom prst="rect">
            <a:avLst/>
          </a:prstGeom>
          <a:solidFill>
            <a:srgbClr val="D9D9D9"/>
          </a:solidFill>
          <a:ln/>
        </p:spPr>
        <p:txBody>
          <a:bodyPr wrap="square" rtlCol="0" anchor="ctr"/>
          <a:lstStyle/>
          <a:p>
            <a:pPr marL="0" indent="0">
              <a:buNone/>
            </a:pPr>
            <a:endParaRPr lang="en-US" dirty="0"/>
          </a:p>
        </p:txBody>
      </p:sp>
      <p:sp>
        <p:nvSpPr>
          <p:cNvPr id="22" name="Text 20"/>
          <p:cNvSpPr/>
          <p:nvPr/>
        </p:nvSpPr>
        <p:spPr>
          <a:xfrm>
            <a:off x="517922" y="3767547"/>
            <a:ext cx="635794" cy="471488"/>
          </a:xfrm>
          <a:prstGeom prst="rect">
            <a:avLst/>
          </a:prstGeom>
          <a:solidFill>
            <a:srgbClr val="F4F4F4"/>
          </a:solidFill>
          <a:ln w="7144">
            <a:solidFill>
              <a:srgbClr val="D9D9D9"/>
            </a:solidFill>
            <a:prstDash val="solid"/>
          </a:ln>
        </p:spPr>
        <p:txBody>
          <a:bodyPr wrap="square" rtlCol="0" anchor="ctr"/>
          <a:lstStyle/>
          <a:p>
            <a:pPr marL="0" indent="0">
              <a:buNone/>
            </a:pPr>
            <a:endParaRPr lang="en-US" dirty="0"/>
          </a:p>
        </p:txBody>
      </p:sp>
      <p:sp>
        <p:nvSpPr>
          <p:cNvPr id="23" name="Text 21"/>
          <p:cNvSpPr/>
          <p:nvPr/>
        </p:nvSpPr>
        <p:spPr>
          <a:xfrm>
            <a:off x="327898" y="3763975"/>
            <a:ext cx="1015841" cy="516922"/>
          </a:xfrm>
          <a:prstGeom prst="rect">
            <a:avLst/>
          </a:prstGeom>
          <a:noFill/>
          <a:ln/>
        </p:spPr>
        <p:txBody>
          <a:bodyPr wrap="none" lIns="0" tIns="114300" rIns="0" bIns="114300" rtlCol="0" anchor="t"/>
          <a:lstStyle/>
          <a:p>
            <a:pPr marL="0" indent="0" algn="ctr">
              <a:lnSpc>
                <a:spcPts val="1856"/>
              </a:lnSpc>
              <a:buNone/>
            </a:pPr>
            <a:r>
              <a:rPr lang="en-US" sz="1238" b="1" dirty="0">
                <a:solidFill>
                  <a:srgbClr val="0A0A0A"/>
                </a:solidFill>
                <a:latin typeface="Liberation Sans Narrow" pitchFamily="34" charset="0"/>
                <a:ea typeface="Liberation Sans Narrow" pitchFamily="34" charset="-122"/>
                <a:cs typeface="Liberation Sans Narrow" pitchFamily="34" charset="-120"/>
              </a:rPr>
              <a:t>O3</a:t>
            </a:r>
            <a:endParaRPr lang="en-US" sz="1238" dirty="0"/>
          </a:p>
        </p:txBody>
      </p:sp>
      <p:sp>
        <p:nvSpPr>
          <p:cNvPr id="24" name="Text 22"/>
          <p:cNvSpPr/>
          <p:nvPr/>
        </p:nvSpPr>
        <p:spPr>
          <a:xfrm>
            <a:off x="1328738" y="3842668"/>
            <a:ext cx="6350839" cy="133302"/>
          </a:xfrm>
          <a:prstGeom prst="rect">
            <a:avLst/>
          </a:prstGeom>
          <a:noFill/>
          <a:ln/>
        </p:spPr>
        <p:txBody>
          <a:bodyPr wrap="none" lIns="0" tIns="0" rIns="0" bIns="0" rtlCol="0" anchor="t">
            <a:normAutofit/>
          </a:bodyPr>
          <a:lstStyle/>
          <a:p>
            <a:pPr marL="0" indent="0" algn="l">
              <a:lnSpc>
                <a:spcPts val="928"/>
              </a:lnSpc>
              <a:buNone/>
            </a:pPr>
            <a:r>
              <a:rPr lang="en-US" sz="800" b="1" kern="0" spc="111" dirty="0">
                <a:solidFill>
                  <a:srgbClr val="0A0A0A"/>
                </a:solidFill>
                <a:latin typeface="Carlito" pitchFamily="34" charset="0"/>
                <a:ea typeface="Carlito" pitchFamily="34" charset="-122"/>
                <a:cs typeface="Carlito" pitchFamily="34" charset="-120"/>
              </a:rPr>
              <a:t>HNDL EXPOSURE SCORE</a:t>
            </a:r>
            <a:endParaRPr lang="en-US" sz="800" dirty="0"/>
          </a:p>
        </p:txBody>
      </p:sp>
      <p:sp>
        <p:nvSpPr>
          <p:cNvPr id="25" name="Text 23"/>
          <p:cNvSpPr/>
          <p:nvPr/>
        </p:nvSpPr>
        <p:spPr>
          <a:xfrm>
            <a:off x="1328738" y="4003402"/>
            <a:ext cx="4843463" cy="173352"/>
          </a:xfrm>
          <a:prstGeom prst="rect">
            <a:avLst/>
          </a:prstGeom>
          <a:noFill/>
          <a:ln/>
        </p:spPr>
        <p:txBody>
          <a:bodyPr wrap="square" lIns="0" tIns="0" rIns="0" bIns="0" rtlCol="0" anchor="t"/>
          <a:lstStyle/>
          <a:p>
            <a:pPr marL="0" indent="0" algn="l">
              <a:lnSpc>
                <a:spcPts val="1264"/>
              </a:lnSpc>
              <a:buNone/>
            </a:pPr>
            <a:r>
              <a:rPr lang="en-US" sz="816" dirty="0">
                <a:solidFill>
                  <a:srgbClr val="1F1F1F"/>
                </a:solidFill>
                <a:latin typeface="Carlito" pitchFamily="34" charset="0"/>
                <a:ea typeface="Carlito" pitchFamily="34" charset="-122"/>
                <a:cs typeface="Carlito" pitchFamily="34" charset="-120"/>
              </a:rPr>
              <a:t>Per-data-path score operationalising Mosca's inequality at call-site granularity.</a:t>
            </a:r>
            <a:endParaRPr lang="en-US" sz="816" dirty="0"/>
          </a:p>
        </p:txBody>
      </p:sp>
      <p:sp>
        <p:nvSpPr>
          <p:cNvPr id="26" name="Text 24"/>
          <p:cNvSpPr/>
          <p:nvPr/>
        </p:nvSpPr>
        <p:spPr>
          <a:xfrm>
            <a:off x="6343650" y="3862871"/>
            <a:ext cx="2800350" cy="108299"/>
          </a:xfrm>
          <a:prstGeom prst="rect">
            <a:avLst/>
          </a:prstGeom>
          <a:noFill/>
          <a:ln/>
        </p:spPr>
        <p:txBody>
          <a:bodyPr wrap="none" lIns="0" tIns="0" rIns="0" bIns="0" rtlCol="0" anchor="t">
            <a:normAutofit/>
          </a:bodyPr>
          <a:lstStyle/>
          <a:p>
            <a:pPr marL="0" indent="0" algn="l">
              <a:lnSpc>
                <a:spcPts val="844"/>
              </a:lnSpc>
              <a:buNone/>
            </a:pPr>
            <a:r>
              <a:rPr lang="en-US" sz="800" kern="0" spc="101" dirty="0">
                <a:solidFill>
                  <a:srgbClr val="4A4A4A"/>
                </a:solidFill>
                <a:latin typeface="Carlito" pitchFamily="34" charset="0"/>
                <a:ea typeface="Carlito" pitchFamily="34" charset="-122"/>
                <a:cs typeface="Carlito" pitchFamily="34" charset="-120"/>
              </a:rPr>
              <a:t>TARGET</a:t>
            </a:r>
            <a:endParaRPr lang="en-US" sz="800" dirty="0"/>
          </a:p>
        </p:txBody>
      </p:sp>
      <p:sp>
        <p:nvSpPr>
          <p:cNvPr id="27" name="Text 25"/>
          <p:cNvSpPr/>
          <p:nvPr/>
        </p:nvSpPr>
        <p:spPr>
          <a:xfrm>
            <a:off x="6343650" y="3998602"/>
            <a:ext cx="2468880" cy="159081"/>
          </a:xfrm>
          <a:prstGeom prst="rect">
            <a:avLst/>
          </a:prstGeom>
          <a:noFill/>
          <a:ln/>
        </p:spPr>
        <p:txBody>
          <a:bodyPr wrap="square" lIns="0" tIns="0" rIns="0" bIns="0" rtlCol="0" anchor="t"/>
          <a:lstStyle/>
          <a:p>
            <a:pPr marL="0" indent="0" algn="l">
              <a:lnSpc>
                <a:spcPts val="1142"/>
              </a:lnSpc>
              <a:buNone/>
            </a:pPr>
            <a:r>
              <a:rPr lang="en-US" sz="800" dirty="0">
                <a:solidFill>
                  <a:srgbClr val="0A0A0A"/>
                </a:solidFill>
                <a:latin typeface="Liberation Sans Narrow" pitchFamily="34" charset="0"/>
                <a:ea typeface="Liberation Sans Narrow" pitchFamily="34" charset="-122"/>
                <a:cs typeface="Liberation Sans Narrow" pitchFamily="34" charset="-120"/>
              </a:rPr>
              <a:t>nDCG@20 ≥ 0.80 · Kendall-τ ≥ 0.6</a:t>
            </a:r>
            <a:endParaRPr lang="en-US" sz="800" dirty="0"/>
          </a:p>
        </p:txBody>
      </p:sp>
      <p:sp>
        <p:nvSpPr>
          <p:cNvPr id="28" name="Shape 26"/>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29" name="Text 27"/>
          <p:cNvSpPr/>
          <p:nvPr/>
        </p:nvSpPr>
        <p:spPr>
          <a:xfrm>
            <a:off x="1463040" y="4846320"/>
            <a:ext cx="7132320" cy="137160"/>
          </a:xfrm>
          <a:prstGeom prst="rect">
            <a:avLst/>
          </a:prstGeom>
          <a:noFill/>
          <a:ln/>
        </p:spPr>
        <p:txBody>
          <a:bodyPr wrap="non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03 — OBJECTIVES</a:t>
            </a:r>
            <a:endParaRPr lang="en-US" sz="800" dirty="0"/>
          </a:p>
        </p:txBody>
      </p:sp>
      <p:sp>
        <p:nvSpPr>
          <p:cNvPr id="30" name="Text 28"/>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15 / 39</a:t>
            </a:r>
            <a:endParaRPr lang="en-US" sz="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842931"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7371569" y="400050"/>
            <a:ext cx="1258081" cy="117872"/>
          </a:xfrm>
          <a:prstGeom prst="rect">
            <a:avLst/>
          </a:prstGeom>
          <a:noFill/>
          <a:ln/>
        </p:spPr>
        <p:txBody>
          <a:bodyPr wrap="non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SECTION 03 — OBJECTIVES</a:t>
            </a:r>
            <a:endParaRPr lang="en-US" sz="619" dirty="0"/>
          </a:p>
        </p:txBody>
      </p:sp>
      <p:sp>
        <p:nvSpPr>
          <p:cNvPr id="5" name="Text 3"/>
          <p:cNvSpPr/>
          <p:nvPr/>
        </p:nvSpPr>
        <p:spPr>
          <a:xfrm>
            <a:off x="514350" y="825103"/>
            <a:ext cx="8629650" cy="147590"/>
          </a:xfrm>
          <a:prstGeom prst="rect">
            <a:avLst/>
          </a:prstGeom>
          <a:noFill/>
          <a:ln/>
        </p:spPr>
        <p:txBody>
          <a:bodyPr wrap="none" lIns="0" tIns="0" rIns="0" bIns="0" rtlCol="0" anchor="t">
            <a:normAutofit/>
          </a:bodyPr>
          <a:lstStyle/>
          <a:p>
            <a:pPr marL="0" indent="0" algn="l">
              <a:lnSpc>
                <a:spcPts val="928"/>
              </a:lnSpc>
              <a:buNone/>
            </a:pPr>
            <a:r>
              <a:rPr lang="en-US" sz="800" kern="0" spc="136" dirty="0">
                <a:solidFill>
                  <a:srgbClr val="4A4A4A"/>
                </a:solidFill>
                <a:latin typeface="Liberation Sans Narrow" pitchFamily="34" charset="0"/>
                <a:ea typeface="Liberation Sans Narrow" pitchFamily="34" charset="-122"/>
                <a:cs typeface="Liberation Sans Narrow" pitchFamily="34" charset="-120"/>
              </a:rPr>
              <a:t>3 OBJECTIVES — PART 2 OF 2</a:t>
            </a:r>
            <a:endParaRPr lang="en-US" sz="800" dirty="0"/>
          </a:p>
        </p:txBody>
      </p:sp>
      <p:sp>
        <p:nvSpPr>
          <p:cNvPr id="6" name="Text 4"/>
          <p:cNvSpPr/>
          <p:nvPr/>
        </p:nvSpPr>
        <p:spPr>
          <a:xfrm>
            <a:off x="514350" y="1000125"/>
            <a:ext cx="8629650" cy="345619"/>
          </a:xfrm>
          <a:prstGeom prst="rect">
            <a:avLst/>
          </a:prstGeom>
          <a:noFill/>
          <a:ln/>
        </p:spPr>
        <p:txBody>
          <a:bodyPr wrap="squar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Suppression, patches, release, protocol.</a:t>
            </a:r>
            <a:endParaRPr lang="en-US" sz="2250" dirty="0"/>
          </a:p>
        </p:txBody>
      </p:sp>
      <p:sp>
        <p:nvSpPr>
          <p:cNvPr id="7" name="Text 5"/>
          <p:cNvSpPr/>
          <p:nvPr/>
        </p:nvSpPr>
        <p:spPr>
          <a:xfrm>
            <a:off x="514350" y="1434443"/>
            <a:ext cx="400050" cy="28575"/>
          </a:xfrm>
          <a:prstGeom prst="rect">
            <a:avLst/>
          </a:prstGeom>
          <a:solidFill>
            <a:srgbClr val="0A0A0A"/>
          </a:solidFill>
          <a:ln/>
        </p:spPr>
        <p:txBody>
          <a:bodyPr wrap="square" rtlCol="0" anchor="ctr"/>
          <a:lstStyle/>
          <a:p>
            <a:pPr marL="0" indent="0">
              <a:buNone/>
            </a:pPr>
            <a:endParaRPr lang="en-US" dirty="0"/>
          </a:p>
        </p:txBody>
      </p:sp>
      <p:sp>
        <p:nvSpPr>
          <p:cNvPr id="8" name="Text 6"/>
          <p:cNvSpPr/>
          <p:nvPr/>
        </p:nvSpPr>
        <p:spPr>
          <a:xfrm>
            <a:off x="514350" y="1953927"/>
            <a:ext cx="8115300" cy="7144"/>
          </a:xfrm>
          <a:prstGeom prst="rect">
            <a:avLst/>
          </a:prstGeom>
          <a:solidFill>
            <a:srgbClr val="D9D9D9"/>
          </a:solidFill>
          <a:ln/>
        </p:spPr>
        <p:txBody>
          <a:bodyPr wrap="square" rtlCol="0" anchor="ctr"/>
          <a:lstStyle/>
          <a:p>
            <a:pPr marL="0" indent="0">
              <a:buNone/>
            </a:pPr>
            <a:endParaRPr lang="en-US" dirty="0"/>
          </a:p>
        </p:txBody>
      </p:sp>
      <p:sp>
        <p:nvSpPr>
          <p:cNvPr id="9" name="Text 7"/>
          <p:cNvSpPr/>
          <p:nvPr/>
        </p:nvSpPr>
        <p:spPr>
          <a:xfrm>
            <a:off x="517922" y="2073139"/>
            <a:ext cx="492919" cy="371475"/>
          </a:xfrm>
          <a:prstGeom prst="rect">
            <a:avLst/>
          </a:prstGeom>
          <a:solidFill>
            <a:srgbClr val="F4F4F4"/>
          </a:solidFill>
          <a:ln w="7144">
            <a:solidFill>
              <a:srgbClr val="D9D9D9"/>
            </a:solidFill>
            <a:prstDash val="solid"/>
          </a:ln>
        </p:spPr>
        <p:txBody>
          <a:bodyPr wrap="square" rtlCol="0" anchor="ctr"/>
          <a:lstStyle/>
          <a:p>
            <a:pPr marL="0" indent="0">
              <a:buNone/>
            </a:pPr>
            <a:endParaRPr lang="en-US" dirty="0"/>
          </a:p>
        </p:txBody>
      </p:sp>
      <p:sp>
        <p:nvSpPr>
          <p:cNvPr id="10" name="Text 8"/>
          <p:cNvSpPr/>
          <p:nvPr/>
        </p:nvSpPr>
        <p:spPr>
          <a:xfrm>
            <a:off x="369332" y="2069567"/>
            <a:ext cx="790099" cy="408908"/>
          </a:xfrm>
          <a:prstGeom prst="rect">
            <a:avLst/>
          </a:prstGeom>
          <a:noFill/>
          <a:ln/>
        </p:spPr>
        <p:txBody>
          <a:bodyPr wrap="none" lIns="0" tIns="85725" rIns="0" bIns="85725" rtlCol="0" anchor="t"/>
          <a:lstStyle/>
          <a:p>
            <a:pPr marL="0" indent="0" algn="ctr">
              <a:lnSpc>
                <a:spcPts val="1519"/>
              </a:lnSpc>
              <a:buNone/>
            </a:pPr>
            <a:r>
              <a:rPr lang="en-US" sz="1013" b="1" dirty="0">
                <a:solidFill>
                  <a:srgbClr val="0A0A0A"/>
                </a:solidFill>
                <a:latin typeface="Liberation Sans Narrow" pitchFamily="34" charset="0"/>
                <a:ea typeface="Liberation Sans Narrow" pitchFamily="34" charset="-122"/>
                <a:cs typeface="Liberation Sans Narrow" pitchFamily="34" charset="-120"/>
              </a:rPr>
              <a:t>O4</a:t>
            </a:r>
            <a:endParaRPr lang="en-US" sz="1013" dirty="0"/>
          </a:p>
        </p:txBody>
      </p:sp>
      <p:sp>
        <p:nvSpPr>
          <p:cNvPr id="11" name="Text 9"/>
          <p:cNvSpPr/>
          <p:nvPr/>
        </p:nvSpPr>
        <p:spPr>
          <a:xfrm>
            <a:off x="1157288" y="2113322"/>
            <a:ext cx="6613115" cy="119015"/>
          </a:xfrm>
          <a:prstGeom prst="rect">
            <a:avLst/>
          </a:prstGeom>
          <a:noFill/>
          <a:ln/>
        </p:spPr>
        <p:txBody>
          <a:bodyPr wrap="none" lIns="0" tIns="0" rIns="0" bIns="0" rtlCol="0" anchor="t">
            <a:normAutofit/>
          </a:bodyPr>
          <a:lstStyle/>
          <a:p>
            <a:pPr marL="0" indent="0" algn="l">
              <a:lnSpc>
                <a:spcPts val="928"/>
              </a:lnSpc>
              <a:buNone/>
            </a:pPr>
            <a:r>
              <a:rPr lang="en-US" sz="800" b="1" kern="0" spc="111" dirty="0">
                <a:solidFill>
                  <a:srgbClr val="0A0A0A"/>
                </a:solidFill>
                <a:latin typeface="Carlito" pitchFamily="34" charset="0"/>
                <a:ea typeface="Carlito" pitchFamily="34" charset="-122"/>
                <a:cs typeface="Carlito" pitchFamily="34" charset="-120"/>
              </a:rPr>
              <a:t>FP SUPPRESSION</a:t>
            </a:r>
            <a:endParaRPr lang="en-US" sz="800" dirty="0"/>
          </a:p>
        </p:txBody>
      </p:sp>
      <p:sp>
        <p:nvSpPr>
          <p:cNvPr id="12" name="Text 10"/>
          <p:cNvSpPr/>
          <p:nvPr/>
        </p:nvSpPr>
        <p:spPr>
          <a:xfrm>
            <a:off x="1157288" y="2259769"/>
            <a:ext cx="5043488" cy="164592"/>
          </a:xfrm>
          <a:prstGeom prst="rect">
            <a:avLst/>
          </a:prstGeom>
          <a:noFill/>
          <a:ln/>
        </p:spPr>
        <p:txBody>
          <a:bodyPr wrap="square" lIns="0" tIns="0" rIns="0" bIns="0" rtlCol="0" anchor="t"/>
          <a:lstStyle/>
          <a:p>
            <a:pPr marL="0" indent="0" algn="l">
              <a:lnSpc>
                <a:spcPts val="1139"/>
              </a:lnSpc>
              <a:buNone/>
            </a:pPr>
            <a:r>
              <a:rPr lang="en-US" sz="800" dirty="0">
                <a:solidFill>
                  <a:srgbClr val="1F1F1F"/>
                </a:solidFill>
                <a:latin typeface="Carlito" pitchFamily="34" charset="0"/>
                <a:ea typeface="Carlito" pitchFamily="34" charset="-122"/>
                <a:cs typeface="Carlito" pitchFamily="34" charset="-120"/>
              </a:rPr>
              <a:t>Suppress context-irrelevant findings using dataflow context.</a:t>
            </a:r>
            <a:endParaRPr lang="en-US" sz="800" dirty="0"/>
          </a:p>
        </p:txBody>
      </p:sp>
      <p:sp>
        <p:nvSpPr>
          <p:cNvPr id="13" name="Text 11"/>
          <p:cNvSpPr/>
          <p:nvPr/>
        </p:nvSpPr>
        <p:spPr>
          <a:xfrm>
            <a:off x="6343650" y="2061083"/>
            <a:ext cx="2800350" cy="108299"/>
          </a:xfrm>
          <a:prstGeom prst="rect">
            <a:avLst/>
          </a:prstGeom>
          <a:noFill/>
          <a:ln/>
        </p:spPr>
        <p:txBody>
          <a:bodyPr wrap="none" lIns="0" tIns="0" rIns="0" bIns="0" rtlCol="0" anchor="t">
            <a:normAutofit/>
          </a:bodyPr>
          <a:lstStyle/>
          <a:p>
            <a:pPr marL="0" indent="0" algn="l">
              <a:lnSpc>
                <a:spcPts val="844"/>
              </a:lnSpc>
              <a:buNone/>
            </a:pPr>
            <a:r>
              <a:rPr lang="en-US" sz="800" kern="0" spc="101" dirty="0">
                <a:solidFill>
                  <a:srgbClr val="4A4A4A"/>
                </a:solidFill>
                <a:latin typeface="Carlito" pitchFamily="34" charset="0"/>
                <a:ea typeface="Carlito" pitchFamily="34" charset="-122"/>
                <a:cs typeface="Carlito" pitchFamily="34" charset="-120"/>
              </a:rPr>
              <a:t>TARGET</a:t>
            </a:r>
            <a:endParaRPr lang="en-US" sz="800" dirty="0"/>
          </a:p>
        </p:txBody>
      </p:sp>
      <p:sp>
        <p:nvSpPr>
          <p:cNvPr id="14" name="Text 12"/>
          <p:cNvSpPr/>
          <p:nvPr/>
        </p:nvSpPr>
        <p:spPr>
          <a:xfrm>
            <a:off x="6343650" y="2196815"/>
            <a:ext cx="2286000" cy="307027"/>
          </a:xfrm>
          <a:prstGeom prst="rect">
            <a:avLst/>
          </a:prstGeom>
          <a:noFill/>
          <a:ln/>
        </p:spPr>
        <p:txBody>
          <a:bodyPr wrap="square" lIns="0" tIns="0" rIns="0" bIns="0" rtlCol="0" anchor="t"/>
          <a:lstStyle/>
          <a:p>
            <a:pPr marL="0" indent="0" algn="l">
              <a:lnSpc>
                <a:spcPts val="1024"/>
              </a:lnSpc>
              <a:buNone/>
            </a:pPr>
            <a:r>
              <a:rPr lang="en-US" sz="800" dirty="0">
                <a:solidFill>
                  <a:srgbClr val="0A0A0A"/>
                </a:solidFill>
                <a:latin typeface="Courier New" pitchFamily="34" charset="0"/>
                <a:ea typeface="Courier New" pitchFamily="34" charset="-122"/>
                <a:cs typeface="Courier New" pitchFamily="34" charset="-120"/>
              </a:rPr>
              <a:t>Actionable precision 0.30 → ≥ 0.70 (≤ 5 pt recall loss)</a:t>
            </a:r>
            <a:endParaRPr lang="en-US" sz="800" dirty="0"/>
          </a:p>
        </p:txBody>
      </p:sp>
      <p:sp>
        <p:nvSpPr>
          <p:cNvPr id="15" name="Text 13"/>
          <p:cNvSpPr/>
          <p:nvPr/>
        </p:nvSpPr>
        <p:spPr>
          <a:xfrm>
            <a:off x="514350" y="2556681"/>
            <a:ext cx="8115300" cy="7144"/>
          </a:xfrm>
          <a:prstGeom prst="rect">
            <a:avLst/>
          </a:prstGeom>
          <a:solidFill>
            <a:srgbClr val="D9D9D9"/>
          </a:solidFill>
          <a:ln/>
        </p:spPr>
        <p:txBody>
          <a:bodyPr wrap="square" rtlCol="0" anchor="ctr"/>
          <a:lstStyle/>
          <a:p>
            <a:pPr marL="0" indent="0">
              <a:buNone/>
            </a:pPr>
            <a:endParaRPr lang="en-US" dirty="0"/>
          </a:p>
        </p:txBody>
      </p:sp>
      <p:sp>
        <p:nvSpPr>
          <p:cNvPr id="16" name="Text 14"/>
          <p:cNvSpPr/>
          <p:nvPr/>
        </p:nvSpPr>
        <p:spPr>
          <a:xfrm>
            <a:off x="517922" y="2667409"/>
            <a:ext cx="492919" cy="371475"/>
          </a:xfrm>
          <a:prstGeom prst="rect">
            <a:avLst/>
          </a:prstGeom>
          <a:solidFill>
            <a:srgbClr val="F4F4F4"/>
          </a:solidFill>
          <a:ln w="7144">
            <a:solidFill>
              <a:srgbClr val="D9D9D9"/>
            </a:solidFill>
            <a:prstDash val="solid"/>
          </a:ln>
        </p:spPr>
        <p:txBody>
          <a:bodyPr wrap="square" rtlCol="0" anchor="ctr"/>
          <a:lstStyle/>
          <a:p>
            <a:pPr marL="0" indent="0">
              <a:buNone/>
            </a:pPr>
            <a:endParaRPr lang="en-US" dirty="0"/>
          </a:p>
        </p:txBody>
      </p:sp>
      <p:sp>
        <p:nvSpPr>
          <p:cNvPr id="17" name="Text 15"/>
          <p:cNvSpPr/>
          <p:nvPr/>
        </p:nvSpPr>
        <p:spPr>
          <a:xfrm>
            <a:off x="369332" y="2663837"/>
            <a:ext cx="790099" cy="408908"/>
          </a:xfrm>
          <a:prstGeom prst="rect">
            <a:avLst/>
          </a:prstGeom>
          <a:noFill/>
          <a:ln/>
        </p:spPr>
        <p:txBody>
          <a:bodyPr wrap="none" lIns="0" tIns="85725" rIns="0" bIns="85725" rtlCol="0" anchor="t"/>
          <a:lstStyle/>
          <a:p>
            <a:pPr marL="0" indent="0" algn="ctr">
              <a:lnSpc>
                <a:spcPts val="1519"/>
              </a:lnSpc>
              <a:buNone/>
            </a:pPr>
            <a:r>
              <a:rPr lang="en-US" sz="1013" b="1" dirty="0">
                <a:solidFill>
                  <a:srgbClr val="0A0A0A"/>
                </a:solidFill>
                <a:latin typeface="Liberation Sans Narrow" pitchFamily="34" charset="0"/>
                <a:ea typeface="Liberation Sans Narrow" pitchFamily="34" charset="-122"/>
                <a:cs typeface="Liberation Sans Narrow" pitchFamily="34" charset="-120"/>
              </a:rPr>
              <a:t>O5</a:t>
            </a:r>
            <a:endParaRPr lang="en-US" sz="1013" dirty="0"/>
          </a:p>
        </p:txBody>
      </p:sp>
      <p:sp>
        <p:nvSpPr>
          <p:cNvPr id="18" name="Text 16"/>
          <p:cNvSpPr/>
          <p:nvPr/>
        </p:nvSpPr>
        <p:spPr>
          <a:xfrm>
            <a:off x="1157288" y="2707593"/>
            <a:ext cx="6613115" cy="119015"/>
          </a:xfrm>
          <a:prstGeom prst="rect">
            <a:avLst/>
          </a:prstGeom>
          <a:noFill/>
          <a:ln/>
        </p:spPr>
        <p:txBody>
          <a:bodyPr wrap="none" lIns="0" tIns="0" rIns="0" bIns="0" rtlCol="0" anchor="t">
            <a:normAutofit/>
          </a:bodyPr>
          <a:lstStyle/>
          <a:p>
            <a:pPr marL="0" indent="0" algn="l">
              <a:lnSpc>
                <a:spcPts val="928"/>
              </a:lnSpc>
              <a:buNone/>
            </a:pPr>
            <a:r>
              <a:rPr lang="en-US" sz="800" b="1" kern="0" spc="111" dirty="0">
                <a:solidFill>
                  <a:srgbClr val="0A0A0A"/>
                </a:solidFill>
                <a:latin typeface="Carlito" pitchFamily="34" charset="0"/>
                <a:ea typeface="Carlito" pitchFamily="34" charset="-122"/>
                <a:cs typeface="Carlito" pitchFamily="34" charset="-120"/>
              </a:rPr>
              <a:t>VERIFIED PATCHES</a:t>
            </a:r>
            <a:endParaRPr lang="en-US" sz="800" dirty="0"/>
          </a:p>
        </p:txBody>
      </p:sp>
      <p:sp>
        <p:nvSpPr>
          <p:cNvPr id="19" name="Text 17"/>
          <p:cNvSpPr/>
          <p:nvPr/>
        </p:nvSpPr>
        <p:spPr>
          <a:xfrm>
            <a:off x="1157288" y="2854040"/>
            <a:ext cx="5043488" cy="164592"/>
          </a:xfrm>
          <a:prstGeom prst="rect">
            <a:avLst/>
          </a:prstGeom>
          <a:noFill/>
          <a:ln/>
        </p:spPr>
        <p:txBody>
          <a:bodyPr wrap="square" lIns="0" tIns="0" rIns="0" bIns="0" rtlCol="0" anchor="t"/>
          <a:lstStyle/>
          <a:p>
            <a:pPr marL="0" indent="0" algn="l">
              <a:lnSpc>
                <a:spcPts val="1139"/>
              </a:lnSpc>
              <a:buNone/>
            </a:pPr>
            <a:r>
              <a:rPr lang="en-US" sz="759" dirty="0">
                <a:solidFill>
                  <a:srgbClr val="1F1F1F"/>
                </a:solidFill>
                <a:latin typeface="Carlito" pitchFamily="34" charset="0"/>
                <a:ea typeface="Carlito" pitchFamily="34" charset="-122"/>
                <a:cs typeface="Carlito" pitchFamily="34" charset="-120"/>
              </a:rPr>
              <a:t>Synthesise hybrid post-quantum patches (X25519 + ML-KEM) verified by differential testing.</a:t>
            </a:r>
            <a:endParaRPr lang="en-US" sz="759" dirty="0"/>
          </a:p>
        </p:txBody>
      </p:sp>
      <p:sp>
        <p:nvSpPr>
          <p:cNvPr id="20" name="Text 18"/>
          <p:cNvSpPr/>
          <p:nvPr/>
        </p:nvSpPr>
        <p:spPr>
          <a:xfrm>
            <a:off x="6343650" y="2720318"/>
            <a:ext cx="2800350" cy="108299"/>
          </a:xfrm>
          <a:prstGeom prst="rect">
            <a:avLst/>
          </a:prstGeom>
          <a:noFill/>
          <a:ln/>
        </p:spPr>
        <p:txBody>
          <a:bodyPr wrap="none" lIns="0" tIns="0" rIns="0" bIns="0" rtlCol="0" anchor="t">
            <a:normAutofit/>
          </a:bodyPr>
          <a:lstStyle/>
          <a:p>
            <a:pPr marL="0" indent="0" algn="l">
              <a:lnSpc>
                <a:spcPts val="844"/>
              </a:lnSpc>
              <a:buNone/>
            </a:pPr>
            <a:r>
              <a:rPr lang="en-US" sz="800" kern="0" spc="101" dirty="0">
                <a:solidFill>
                  <a:srgbClr val="4A4A4A"/>
                </a:solidFill>
                <a:latin typeface="Carlito" pitchFamily="34" charset="0"/>
                <a:ea typeface="Carlito" pitchFamily="34" charset="-122"/>
                <a:cs typeface="Carlito" pitchFamily="34" charset="-120"/>
              </a:rPr>
              <a:t>TARGET</a:t>
            </a:r>
            <a:endParaRPr lang="en-US" sz="800" dirty="0"/>
          </a:p>
        </p:txBody>
      </p:sp>
      <p:sp>
        <p:nvSpPr>
          <p:cNvPr id="21" name="Text 19"/>
          <p:cNvSpPr/>
          <p:nvPr/>
        </p:nvSpPr>
        <p:spPr>
          <a:xfrm>
            <a:off x="6343650" y="2856049"/>
            <a:ext cx="2468880" cy="153514"/>
          </a:xfrm>
          <a:prstGeom prst="rect">
            <a:avLst/>
          </a:prstGeom>
          <a:noFill/>
          <a:ln/>
        </p:spPr>
        <p:txBody>
          <a:bodyPr wrap="square" lIns="0" tIns="0" rIns="0" bIns="0" rtlCol="0" anchor="t"/>
          <a:lstStyle/>
          <a:p>
            <a:pPr marL="0" indent="0" algn="l">
              <a:lnSpc>
                <a:spcPts val="1024"/>
              </a:lnSpc>
              <a:buNone/>
            </a:pPr>
            <a:r>
              <a:rPr lang="en-US" sz="731" dirty="0">
                <a:solidFill>
                  <a:srgbClr val="0A0A0A"/>
                </a:solidFill>
                <a:latin typeface="Courier New" pitchFamily="34" charset="0"/>
                <a:ea typeface="Courier New" pitchFamily="34" charset="-122"/>
                <a:cs typeface="Courier New" pitchFamily="34" charset="-120"/>
              </a:rPr>
              <a:t>≥ 80% pass rate on real multi-file repositories</a:t>
            </a:r>
            <a:endParaRPr lang="en-US" sz="731" dirty="0"/>
          </a:p>
        </p:txBody>
      </p:sp>
      <p:sp>
        <p:nvSpPr>
          <p:cNvPr id="22" name="Text 20"/>
          <p:cNvSpPr/>
          <p:nvPr/>
        </p:nvSpPr>
        <p:spPr>
          <a:xfrm>
            <a:off x="514350" y="3142469"/>
            <a:ext cx="8115300" cy="7144"/>
          </a:xfrm>
          <a:prstGeom prst="rect">
            <a:avLst/>
          </a:prstGeom>
          <a:solidFill>
            <a:srgbClr val="D9D9D9"/>
          </a:solidFill>
          <a:ln/>
        </p:spPr>
        <p:txBody>
          <a:bodyPr wrap="square" rtlCol="0" anchor="ctr"/>
          <a:lstStyle/>
          <a:p>
            <a:pPr marL="0" indent="0">
              <a:buNone/>
            </a:pPr>
            <a:endParaRPr lang="en-US" dirty="0"/>
          </a:p>
        </p:txBody>
      </p:sp>
      <p:sp>
        <p:nvSpPr>
          <p:cNvPr id="23" name="Text 21"/>
          <p:cNvSpPr/>
          <p:nvPr/>
        </p:nvSpPr>
        <p:spPr>
          <a:xfrm>
            <a:off x="517922" y="3261680"/>
            <a:ext cx="492919" cy="371475"/>
          </a:xfrm>
          <a:prstGeom prst="rect">
            <a:avLst/>
          </a:prstGeom>
          <a:solidFill>
            <a:srgbClr val="F4F4F4"/>
          </a:solidFill>
          <a:ln w="7144">
            <a:solidFill>
              <a:srgbClr val="D9D9D9"/>
            </a:solidFill>
            <a:prstDash val="solid"/>
          </a:ln>
        </p:spPr>
        <p:txBody>
          <a:bodyPr wrap="square" rtlCol="0" anchor="ctr"/>
          <a:lstStyle/>
          <a:p>
            <a:pPr marL="0" indent="0">
              <a:buNone/>
            </a:pPr>
            <a:endParaRPr lang="en-US" dirty="0"/>
          </a:p>
        </p:txBody>
      </p:sp>
      <p:sp>
        <p:nvSpPr>
          <p:cNvPr id="24" name="Text 22"/>
          <p:cNvSpPr/>
          <p:nvPr/>
        </p:nvSpPr>
        <p:spPr>
          <a:xfrm>
            <a:off x="369332" y="3258108"/>
            <a:ext cx="790099" cy="408908"/>
          </a:xfrm>
          <a:prstGeom prst="rect">
            <a:avLst/>
          </a:prstGeom>
          <a:noFill/>
          <a:ln/>
        </p:spPr>
        <p:txBody>
          <a:bodyPr wrap="none" lIns="0" tIns="85725" rIns="0" bIns="85725" rtlCol="0" anchor="t"/>
          <a:lstStyle/>
          <a:p>
            <a:pPr marL="0" indent="0" algn="ctr">
              <a:lnSpc>
                <a:spcPts val="1519"/>
              </a:lnSpc>
              <a:buNone/>
            </a:pPr>
            <a:r>
              <a:rPr lang="en-US" sz="1013" b="1" dirty="0">
                <a:solidFill>
                  <a:srgbClr val="0A0A0A"/>
                </a:solidFill>
                <a:latin typeface="Liberation Sans Narrow" pitchFamily="34" charset="0"/>
                <a:ea typeface="Liberation Sans Narrow" pitchFamily="34" charset="-122"/>
                <a:cs typeface="Liberation Sans Narrow" pitchFamily="34" charset="-120"/>
              </a:rPr>
              <a:t>O6</a:t>
            </a:r>
            <a:endParaRPr lang="en-US" sz="1013" dirty="0"/>
          </a:p>
        </p:txBody>
      </p:sp>
      <p:sp>
        <p:nvSpPr>
          <p:cNvPr id="25" name="Text 23"/>
          <p:cNvSpPr/>
          <p:nvPr/>
        </p:nvSpPr>
        <p:spPr>
          <a:xfrm>
            <a:off x="1157288" y="3301864"/>
            <a:ext cx="7157812" cy="119015"/>
          </a:xfrm>
          <a:prstGeom prst="rect">
            <a:avLst/>
          </a:prstGeom>
          <a:noFill/>
          <a:ln/>
        </p:spPr>
        <p:txBody>
          <a:bodyPr wrap="none" lIns="0" tIns="0" rIns="0" bIns="0" rtlCol="0" anchor="t">
            <a:normAutofit/>
          </a:bodyPr>
          <a:lstStyle/>
          <a:p>
            <a:pPr marL="0" indent="0" algn="l">
              <a:lnSpc>
                <a:spcPts val="928"/>
              </a:lnSpc>
              <a:buNone/>
            </a:pPr>
            <a:r>
              <a:rPr lang="en-US" sz="800" b="1" kern="0" spc="111" dirty="0">
                <a:solidFill>
                  <a:srgbClr val="0A0A0A"/>
                </a:solidFill>
                <a:latin typeface="Carlito" pitchFamily="34" charset="0"/>
                <a:ea typeface="Carlito" pitchFamily="34" charset="-122"/>
                <a:cs typeface="Carlito" pitchFamily="34" charset="-120"/>
              </a:rPr>
              <a:t>RELEASE</a:t>
            </a:r>
            <a:endParaRPr lang="en-US" sz="800" dirty="0"/>
          </a:p>
        </p:txBody>
      </p:sp>
      <p:sp>
        <p:nvSpPr>
          <p:cNvPr id="26" name="Text 24"/>
          <p:cNvSpPr/>
          <p:nvPr/>
        </p:nvSpPr>
        <p:spPr>
          <a:xfrm>
            <a:off x="1157288" y="3448310"/>
            <a:ext cx="5043488" cy="164592"/>
          </a:xfrm>
          <a:prstGeom prst="rect">
            <a:avLst/>
          </a:prstGeom>
          <a:noFill/>
          <a:ln/>
        </p:spPr>
        <p:txBody>
          <a:bodyPr wrap="square" lIns="0" tIns="0" rIns="0" bIns="0" rtlCol="0" anchor="t"/>
          <a:lstStyle/>
          <a:p>
            <a:pPr marL="0" indent="0" algn="l">
              <a:lnSpc>
                <a:spcPts val="1139"/>
              </a:lnSpc>
              <a:buNone/>
            </a:pPr>
            <a:r>
              <a:rPr lang="en-US" sz="800" dirty="0">
                <a:solidFill>
                  <a:srgbClr val="1F1F1F"/>
                </a:solidFill>
                <a:latin typeface="Carlito" pitchFamily="34" charset="0"/>
                <a:ea typeface="Carlito" pitchFamily="34" charset="-122"/>
                <a:cs typeface="Carlito" pitchFamily="34" charset="-120"/>
              </a:rPr>
              <a:t>CLI + CI action and a public retention-annotated benchmark.</a:t>
            </a:r>
            <a:endParaRPr lang="en-US" sz="800" dirty="0"/>
          </a:p>
        </p:txBody>
      </p:sp>
      <p:sp>
        <p:nvSpPr>
          <p:cNvPr id="27" name="Text 25"/>
          <p:cNvSpPr/>
          <p:nvPr/>
        </p:nvSpPr>
        <p:spPr>
          <a:xfrm>
            <a:off x="6343650" y="3249625"/>
            <a:ext cx="2800350" cy="108299"/>
          </a:xfrm>
          <a:prstGeom prst="rect">
            <a:avLst/>
          </a:prstGeom>
          <a:noFill/>
          <a:ln/>
        </p:spPr>
        <p:txBody>
          <a:bodyPr wrap="none" lIns="0" tIns="0" rIns="0" bIns="0" rtlCol="0" anchor="t">
            <a:normAutofit/>
          </a:bodyPr>
          <a:lstStyle/>
          <a:p>
            <a:pPr marL="0" indent="0" algn="l">
              <a:lnSpc>
                <a:spcPts val="844"/>
              </a:lnSpc>
              <a:buNone/>
            </a:pPr>
            <a:r>
              <a:rPr lang="en-US" sz="800" kern="0" spc="101" dirty="0">
                <a:solidFill>
                  <a:srgbClr val="4A4A4A"/>
                </a:solidFill>
                <a:latin typeface="Carlito" pitchFamily="34" charset="0"/>
                <a:ea typeface="Carlito" pitchFamily="34" charset="-122"/>
                <a:cs typeface="Carlito" pitchFamily="34" charset="-120"/>
              </a:rPr>
              <a:t>TARGET</a:t>
            </a:r>
            <a:endParaRPr lang="en-US" sz="800" dirty="0"/>
          </a:p>
        </p:txBody>
      </p:sp>
      <p:sp>
        <p:nvSpPr>
          <p:cNvPr id="28" name="Text 26"/>
          <p:cNvSpPr/>
          <p:nvPr/>
        </p:nvSpPr>
        <p:spPr>
          <a:xfrm>
            <a:off x="6343650" y="3385356"/>
            <a:ext cx="2286000" cy="307027"/>
          </a:xfrm>
          <a:prstGeom prst="rect">
            <a:avLst/>
          </a:prstGeom>
          <a:noFill/>
          <a:ln/>
        </p:spPr>
        <p:txBody>
          <a:bodyPr wrap="square" lIns="0" tIns="0" rIns="0" bIns="0" rtlCol="0" anchor="t"/>
          <a:lstStyle/>
          <a:p>
            <a:pPr marL="0" indent="0" algn="l">
              <a:lnSpc>
                <a:spcPts val="1024"/>
              </a:lnSpc>
              <a:buNone/>
            </a:pPr>
            <a:r>
              <a:rPr lang="en-US" sz="800" dirty="0">
                <a:solidFill>
                  <a:srgbClr val="0A0A0A"/>
                </a:solidFill>
                <a:latin typeface="Courier New" pitchFamily="34" charset="0"/>
                <a:ea typeface="Courier New" pitchFamily="34" charset="-122"/>
                <a:cs typeface="Courier New" pitchFamily="34" charset="-120"/>
              </a:rPr>
              <a:t>≥ 15 real repositories with expert priority labels</a:t>
            </a:r>
            <a:endParaRPr lang="en-US" sz="800" dirty="0"/>
          </a:p>
        </p:txBody>
      </p:sp>
      <p:sp>
        <p:nvSpPr>
          <p:cNvPr id="29" name="Text 27"/>
          <p:cNvSpPr/>
          <p:nvPr/>
        </p:nvSpPr>
        <p:spPr>
          <a:xfrm>
            <a:off x="514350" y="3745223"/>
            <a:ext cx="8115300" cy="7144"/>
          </a:xfrm>
          <a:prstGeom prst="rect">
            <a:avLst/>
          </a:prstGeom>
          <a:solidFill>
            <a:srgbClr val="D9D9D9"/>
          </a:solidFill>
          <a:ln/>
        </p:spPr>
        <p:txBody>
          <a:bodyPr wrap="square" rtlCol="0" anchor="ctr"/>
          <a:lstStyle/>
          <a:p>
            <a:pPr marL="0" indent="0">
              <a:buNone/>
            </a:pPr>
            <a:endParaRPr lang="en-US" dirty="0"/>
          </a:p>
        </p:txBody>
      </p:sp>
      <p:sp>
        <p:nvSpPr>
          <p:cNvPr id="30" name="Text 28"/>
          <p:cNvSpPr/>
          <p:nvPr/>
        </p:nvSpPr>
        <p:spPr>
          <a:xfrm>
            <a:off x="517922" y="3855951"/>
            <a:ext cx="492919" cy="371475"/>
          </a:xfrm>
          <a:prstGeom prst="rect">
            <a:avLst/>
          </a:prstGeom>
          <a:solidFill>
            <a:srgbClr val="F4F4F4"/>
          </a:solidFill>
          <a:ln w="7144">
            <a:solidFill>
              <a:srgbClr val="D9D9D9"/>
            </a:solidFill>
            <a:prstDash val="solid"/>
          </a:ln>
        </p:spPr>
        <p:txBody>
          <a:bodyPr wrap="square" rtlCol="0" anchor="ctr"/>
          <a:lstStyle/>
          <a:p>
            <a:pPr marL="0" indent="0">
              <a:buNone/>
            </a:pPr>
            <a:endParaRPr lang="en-US" dirty="0"/>
          </a:p>
        </p:txBody>
      </p:sp>
      <p:sp>
        <p:nvSpPr>
          <p:cNvPr id="31" name="Text 29"/>
          <p:cNvSpPr/>
          <p:nvPr/>
        </p:nvSpPr>
        <p:spPr>
          <a:xfrm>
            <a:off x="369332" y="3852379"/>
            <a:ext cx="790099" cy="408908"/>
          </a:xfrm>
          <a:prstGeom prst="rect">
            <a:avLst/>
          </a:prstGeom>
          <a:noFill/>
          <a:ln/>
        </p:spPr>
        <p:txBody>
          <a:bodyPr wrap="none" lIns="0" tIns="85725" rIns="0" bIns="85725" rtlCol="0" anchor="t"/>
          <a:lstStyle/>
          <a:p>
            <a:pPr marL="0" indent="0" algn="ctr">
              <a:lnSpc>
                <a:spcPts val="1519"/>
              </a:lnSpc>
              <a:buNone/>
            </a:pPr>
            <a:r>
              <a:rPr lang="en-US" sz="1013" b="1" dirty="0">
                <a:solidFill>
                  <a:srgbClr val="0A0A0A"/>
                </a:solidFill>
                <a:latin typeface="Liberation Sans Narrow" pitchFamily="34" charset="0"/>
                <a:ea typeface="Liberation Sans Narrow" pitchFamily="34" charset="-122"/>
                <a:cs typeface="Liberation Sans Narrow" pitchFamily="34" charset="-120"/>
              </a:rPr>
              <a:t>O7</a:t>
            </a:r>
            <a:endParaRPr lang="en-US" sz="1013" dirty="0"/>
          </a:p>
        </p:txBody>
      </p:sp>
      <p:sp>
        <p:nvSpPr>
          <p:cNvPr id="32" name="Text 30"/>
          <p:cNvSpPr/>
          <p:nvPr/>
        </p:nvSpPr>
        <p:spPr>
          <a:xfrm>
            <a:off x="1157288" y="3896134"/>
            <a:ext cx="7157812" cy="119015"/>
          </a:xfrm>
          <a:prstGeom prst="rect">
            <a:avLst/>
          </a:prstGeom>
          <a:noFill/>
          <a:ln/>
        </p:spPr>
        <p:txBody>
          <a:bodyPr wrap="none" lIns="0" tIns="0" rIns="0" bIns="0" rtlCol="0" anchor="t">
            <a:normAutofit/>
          </a:bodyPr>
          <a:lstStyle/>
          <a:p>
            <a:pPr marL="0" indent="0" algn="l">
              <a:lnSpc>
                <a:spcPts val="928"/>
              </a:lnSpc>
              <a:buNone/>
            </a:pPr>
            <a:r>
              <a:rPr lang="en-US" sz="800" b="1" kern="0" spc="111" dirty="0">
                <a:solidFill>
                  <a:srgbClr val="0A0A0A"/>
                </a:solidFill>
                <a:latin typeface="Carlito" pitchFamily="34" charset="0"/>
                <a:ea typeface="Carlito" pitchFamily="34" charset="-122"/>
                <a:cs typeface="Carlito" pitchFamily="34" charset="-120"/>
              </a:rPr>
              <a:t>PROTOCOL</a:t>
            </a:r>
            <a:endParaRPr lang="en-US" sz="800" dirty="0"/>
          </a:p>
        </p:txBody>
      </p:sp>
      <p:sp>
        <p:nvSpPr>
          <p:cNvPr id="33" name="Text 31"/>
          <p:cNvSpPr/>
          <p:nvPr/>
        </p:nvSpPr>
        <p:spPr>
          <a:xfrm>
            <a:off x="1157288" y="4042581"/>
            <a:ext cx="5043488" cy="164592"/>
          </a:xfrm>
          <a:prstGeom prst="rect">
            <a:avLst/>
          </a:prstGeom>
          <a:noFill/>
          <a:ln/>
        </p:spPr>
        <p:txBody>
          <a:bodyPr wrap="square" lIns="0" tIns="0" rIns="0" bIns="0" rtlCol="0" anchor="t"/>
          <a:lstStyle/>
          <a:p>
            <a:pPr marL="0" indent="0" algn="l">
              <a:lnSpc>
                <a:spcPts val="1139"/>
              </a:lnSpc>
              <a:buNone/>
            </a:pPr>
            <a:r>
              <a:rPr lang="en-US" sz="759" dirty="0">
                <a:solidFill>
                  <a:srgbClr val="1F1F1F"/>
                </a:solidFill>
                <a:latin typeface="Carlito" pitchFamily="34" charset="0"/>
                <a:ea typeface="Carlito" pitchFamily="34" charset="-122"/>
                <a:cs typeface="Carlito" pitchFamily="34" charset="-120"/>
              </a:rPr>
              <a:t>Publish the prioritisation-evaluation protocol itself. No existing paper reports a ranking metric.</a:t>
            </a:r>
            <a:endParaRPr lang="en-US" sz="759" dirty="0"/>
          </a:p>
        </p:txBody>
      </p:sp>
      <p:sp>
        <p:nvSpPr>
          <p:cNvPr id="34" name="Text 32"/>
          <p:cNvSpPr/>
          <p:nvPr/>
        </p:nvSpPr>
        <p:spPr>
          <a:xfrm>
            <a:off x="6343650" y="3908859"/>
            <a:ext cx="2800350" cy="108299"/>
          </a:xfrm>
          <a:prstGeom prst="rect">
            <a:avLst/>
          </a:prstGeom>
          <a:noFill/>
          <a:ln/>
        </p:spPr>
        <p:txBody>
          <a:bodyPr wrap="none" lIns="0" tIns="0" rIns="0" bIns="0" rtlCol="0" anchor="t">
            <a:normAutofit/>
          </a:bodyPr>
          <a:lstStyle/>
          <a:p>
            <a:pPr marL="0" indent="0" algn="l">
              <a:lnSpc>
                <a:spcPts val="844"/>
              </a:lnSpc>
              <a:buNone/>
            </a:pPr>
            <a:r>
              <a:rPr lang="en-US" sz="800" kern="0" spc="101" dirty="0">
                <a:solidFill>
                  <a:srgbClr val="4A4A4A"/>
                </a:solidFill>
                <a:latin typeface="Carlito" pitchFamily="34" charset="0"/>
                <a:ea typeface="Carlito" pitchFamily="34" charset="-122"/>
                <a:cs typeface="Carlito" pitchFamily="34" charset="-120"/>
              </a:rPr>
              <a:t>TARGET</a:t>
            </a:r>
            <a:endParaRPr lang="en-US" sz="800" dirty="0"/>
          </a:p>
        </p:txBody>
      </p:sp>
      <p:sp>
        <p:nvSpPr>
          <p:cNvPr id="35" name="Text 33"/>
          <p:cNvSpPr/>
          <p:nvPr/>
        </p:nvSpPr>
        <p:spPr>
          <a:xfrm>
            <a:off x="6343650" y="4044590"/>
            <a:ext cx="2468880" cy="153514"/>
          </a:xfrm>
          <a:prstGeom prst="rect">
            <a:avLst/>
          </a:prstGeom>
          <a:noFill/>
          <a:ln/>
        </p:spPr>
        <p:txBody>
          <a:bodyPr wrap="square" lIns="0" tIns="0" rIns="0" bIns="0" rtlCol="0" anchor="t"/>
          <a:lstStyle/>
          <a:p>
            <a:pPr marL="0" indent="0" algn="l">
              <a:lnSpc>
                <a:spcPts val="1024"/>
              </a:lnSpc>
              <a:buNone/>
            </a:pPr>
            <a:r>
              <a:rPr lang="en-US" sz="800" dirty="0">
                <a:solidFill>
                  <a:srgbClr val="0A0A0A"/>
                </a:solidFill>
                <a:latin typeface="Courier New" pitchFamily="34" charset="0"/>
                <a:ea typeface="Courier New" pitchFamily="34" charset="-122"/>
                <a:cs typeface="Courier New" pitchFamily="34" charset="-120"/>
              </a:rPr>
              <a:t>nDCG / Kendall-τ as standard measure</a:t>
            </a:r>
            <a:endParaRPr lang="en-US" sz="800" dirty="0"/>
          </a:p>
        </p:txBody>
      </p:sp>
      <p:sp>
        <p:nvSpPr>
          <p:cNvPr id="36" name="Text 34"/>
          <p:cNvSpPr/>
          <p:nvPr/>
        </p:nvSpPr>
        <p:spPr>
          <a:xfrm>
            <a:off x="514350" y="4331010"/>
            <a:ext cx="8115300" cy="7144"/>
          </a:xfrm>
          <a:prstGeom prst="rect">
            <a:avLst/>
          </a:prstGeom>
          <a:solidFill>
            <a:srgbClr val="D9D9D9"/>
          </a:solidFill>
          <a:ln/>
        </p:spPr>
        <p:txBody>
          <a:bodyPr wrap="square" rtlCol="0" anchor="ctr"/>
          <a:lstStyle/>
          <a:p>
            <a:pPr marL="0" indent="0">
              <a:buNone/>
            </a:pPr>
            <a:endParaRPr lang="en-US" dirty="0"/>
          </a:p>
        </p:txBody>
      </p:sp>
      <p:sp>
        <p:nvSpPr>
          <p:cNvPr id="37" name="Shape 35"/>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38" name="Text 36"/>
          <p:cNvSpPr/>
          <p:nvPr/>
        </p:nvSpPr>
        <p:spPr>
          <a:xfrm>
            <a:off x="1463040" y="4846320"/>
            <a:ext cx="7132320" cy="137160"/>
          </a:xfrm>
          <a:prstGeom prst="rect">
            <a:avLst/>
          </a:prstGeom>
          <a:noFill/>
          <a:ln/>
        </p:spPr>
        <p:txBody>
          <a:bodyPr wrap="non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03 — OBJECTIVES</a:t>
            </a:r>
            <a:endParaRPr lang="en-US" sz="800" dirty="0"/>
          </a:p>
        </p:txBody>
      </p:sp>
      <p:sp>
        <p:nvSpPr>
          <p:cNvPr id="39" name="Text 37"/>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16 / 39</a:t>
            </a:r>
            <a:endParaRPr lang="en-US" sz="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750174"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7278812" y="400050"/>
            <a:ext cx="1350838" cy="117872"/>
          </a:xfrm>
          <a:prstGeom prst="rect">
            <a:avLst/>
          </a:prstGeom>
          <a:noFill/>
          <a:ln/>
        </p:spPr>
        <p:txBody>
          <a:bodyPr wrap="non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REVIEW REPORT I — PAGE 17</a:t>
            </a:r>
            <a:endParaRPr lang="en-US" sz="619" dirty="0"/>
          </a:p>
        </p:txBody>
      </p:sp>
      <p:sp>
        <p:nvSpPr>
          <p:cNvPr id="5" name="Text 3"/>
          <p:cNvSpPr/>
          <p:nvPr/>
        </p:nvSpPr>
        <p:spPr>
          <a:xfrm>
            <a:off x="514350" y="825103"/>
            <a:ext cx="8629650" cy="164592"/>
          </a:xfrm>
          <a:prstGeom prst="rect">
            <a:avLst/>
          </a:prstGeom>
          <a:noFill/>
          <a:ln/>
        </p:spPr>
        <p:txBody>
          <a:bodyPr wrap="none" lIns="0" tIns="0" rIns="0" bIns="0" rtlCol="0" anchor="t"/>
          <a:lstStyle/>
          <a:p>
            <a:pPr marL="0" indent="0" algn="l">
              <a:lnSpc>
                <a:spcPts val="928"/>
              </a:lnSpc>
              <a:buNone/>
            </a:pPr>
            <a:r>
              <a:rPr lang="en-US" sz="800" kern="0" spc="136" dirty="0">
                <a:solidFill>
                  <a:srgbClr val="4A4A4A"/>
                </a:solidFill>
                <a:latin typeface="Liberation Sans Narrow" pitchFamily="34" charset="0"/>
                <a:ea typeface="Liberation Sans Narrow" pitchFamily="34" charset="-122"/>
                <a:cs typeface="Liberation Sans Narrow" pitchFamily="34" charset="-120"/>
              </a:rPr>
              <a:t>4 IN SCOPE</a:t>
            </a:r>
            <a:endParaRPr lang="en-US" sz="800" dirty="0"/>
          </a:p>
        </p:txBody>
      </p:sp>
      <p:sp>
        <p:nvSpPr>
          <p:cNvPr id="6" name="Text 4"/>
          <p:cNvSpPr/>
          <p:nvPr/>
        </p:nvSpPr>
        <p:spPr>
          <a:xfrm>
            <a:off x="514350" y="1028700"/>
            <a:ext cx="7715250" cy="345619"/>
          </a:xfrm>
          <a:prstGeom prst="rect">
            <a:avLst/>
          </a:prstGeom>
          <a:noFill/>
          <a:ln/>
        </p:spPr>
        <p:txBody>
          <a:bodyPr wrap="squar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Source code plus declarative configuration.</a:t>
            </a:r>
            <a:endParaRPr lang="en-US" sz="2250" dirty="0"/>
          </a:p>
        </p:txBody>
      </p:sp>
      <p:sp>
        <p:nvSpPr>
          <p:cNvPr id="7" name="Text 5"/>
          <p:cNvSpPr/>
          <p:nvPr/>
        </p:nvSpPr>
        <p:spPr>
          <a:xfrm>
            <a:off x="514350" y="1491593"/>
            <a:ext cx="8115300" cy="7144"/>
          </a:xfrm>
          <a:prstGeom prst="rect">
            <a:avLst/>
          </a:prstGeom>
          <a:solidFill>
            <a:srgbClr val="D9D9D9"/>
          </a:solidFill>
          <a:ln/>
        </p:spPr>
        <p:txBody>
          <a:bodyPr wrap="square" rtlCol="0" anchor="ctr"/>
          <a:lstStyle/>
          <a:p>
            <a:pPr marL="0" indent="0">
              <a:buNone/>
            </a:pPr>
            <a:endParaRPr lang="en-US" dirty="0"/>
          </a:p>
        </p:txBody>
      </p:sp>
      <p:sp>
        <p:nvSpPr>
          <p:cNvPr id="8" name="Text 6"/>
          <p:cNvSpPr/>
          <p:nvPr/>
        </p:nvSpPr>
        <p:spPr>
          <a:xfrm>
            <a:off x="514350" y="1684474"/>
            <a:ext cx="2636021"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LANGUAGES</a:t>
            </a:r>
            <a:endParaRPr lang="en-US" sz="800" dirty="0"/>
          </a:p>
        </p:txBody>
      </p:sp>
      <p:sp>
        <p:nvSpPr>
          <p:cNvPr id="9" name="Text 7"/>
          <p:cNvSpPr/>
          <p:nvPr/>
        </p:nvSpPr>
        <p:spPr>
          <a:xfrm>
            <a:off x="2600325" y="1684474"/>
            <a:ext cx="6029325" cy="169980"/>
          </a:xfrm>
          <a:prstGeom prst="rect">
            <a:avLst/>
          </a:prstGeom>
          <a:noFill/>
          <a:ln/>
        </p:spPr>
        <p:txBody>
          <a:bodyPr wrap="square" lIns="0" tIns="0" rIns="0" bIns="0" rtlCol="0" anchor="t"/>
          <a:lstStyle/>
          <a:p>
            <a:pPr marL="0" indent="0" algn="l">
              <a:lnSpc>
                <a:spcPts val="1221"/>
              </a:lnSpc>
              <a:buNone/>
            </a:pPr>
            <a:r>
              <a:rPr lang="en-US" sz="788" dirty="0">
                <a:solidFill>
                  <a:srgbClr val="1F1F1F"/>
                </a:solidFill>
                <a:latin typeface="Carlito" pitchFamily="34" charset="0"/>
                <a:ea typeface="Carlito" pitchFamily="34" charset="-122"/>
                <a:cs typeface="Carlito" pitchFamily="34" charset="-120"/>
              </a:rPr>
              <a:t>Python and Java as primary targets (Näther &amp; Hirsch, 2026: “Java, C/C++, Python are not yet demonstrated”); Go as a stretch target.</a:t>
            </a:r>
            <a:endParaRPr lang="en-US" sz="788" dirty="0"/>
          </a:p>
        </p:txBody>
      </p:sp>
      <p:sp>
        <p:nvSpPr>
          <p:cNvPr id="10" name="Text 8"/>
          <p:cNvSpPr/>
          <p:nvPr/>
        </p:nvSpPr>
        <p:spPr>
          <a:xfrm>
            <a:off x="514350" y="1939417"/>
            <a:ext cx="8115300" cy="7144"/>
          </a:xfrm>
          <a:prstGeom prst="rect">
            <a:avLst/>
          </a:prstGeom>
          <a:solidFill>
            <a:srgbClr val="D9D9D9"/>
          </a:solidFill>
          <a:ln/>
        </p:spPr>
        <p:txBody>
          <a:bodyPr wrap="square" rtlCol="0" anchor="ctr"/>
          <a:lstStyle/>
          <a:p>
            <a:pPr marL="0" indent="0">
              <a:buNone/>
            </a:pPr>
            <a:endParaRPr lang="en-US" dirty="0"/>
          </a:p>
        </p:txBody>
      </p:sp>
      <p:sp>
        <p:nvSpPr>
          <p:cNvPr id="11" name="Text 9"/>
          <p:cNvSpPr/>
          <p:nvPr/>
        </p:nvSpPr>
        <p:spPr>
          <a:xfrm>
            <a:off x="514350" y="2046573"/>
            <a:ext cx="2435425"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CRYPTOGRAPHY CLASSES</a:t>
            </a:r>
            <a:endParaRPr lang="en-US" sz="800" dirty="0"/>
          </a:p>
        </p:txBody>
      </p:sp>
      <p:sp>
        <p:nvSpPr>
          <p:cNvPr id="12" name="Text 10"/>
          <p:cNvSpPr/>
          <p:nvPr/>
        </p:nvSpPr>
        <p:spPr>
          <a:xfrm>
            <a:off x="2600325" y="2046573"/>
            <a:ext cx="6029325" cy="339961"/>
          </a:xfrm>
          <a:prstGeom prst="rect">
            <a:avLst/>
          </a:prstGeom>
          <a:noFill/>
          <a:ln/>
        </p:spPr>
        <p:txBody>
          <a:bodyPr wrap="square" lIns="0" tIns="0" rIns="0" bIns="0" rtlCol="0" anchor="t"/>
          <a:lstStyle/>
          <a:p>
            <a:pPr marL="0" indent="0" algn="l">
              <a:lnSpc>
                <a:spcPts val="1221"/>
              </a:lnSpc>
              <a:buNone/>
            </a:pPr>
            <a:r>
              <a:rPr lang="en-US" sz="800" dirty="0">
                <a:solidFill>
                  <a:srgbClr val="1F1F1F"/>
                </a:solidFill>
                <a:latin typeface="Carlito" pitchFamily="34" charset="0"/>
                <a:ea typeface="Carlito" pitchFamily="34" charset="-122"/>
                <a:cs typeface="Carlito" pitchFamily="34" charset="-120"/>
              </a:rPr>
              <a:t>Transport (TLS configuration), data-at-rest (envelope encryption, disk/DB encryption), application-layer (JWT, password hashing, token encryption).</a:t>
            </a:r>
            <a:endParaRPr lang="en-US" sz="800" dirty="0"/>
          </a:p>
        </p:txBody>
      </p:sp>
      <p:sp>
        <p:nvSpPr>
          <p:cNvPr id="13" name="Text 11"/>
          <p:cNvSpPr/>
          <p:nvPr/>
        </p:nvSpPr>
        <p:spPr>
          <a:xfrm>
            <a:off x="514350" y="2456445"/>
            <a:ext cx="8115300" cy="7144"/>
          </a:xfrm>
          <a:prstGeom prst="rect">
            <a:avLst/>
          </a:prstGeom>
          <a:solidFill>
            <a:srgbClr val="D9D9D9"/>
          </a:solidFill>
          <a:ln/>
        </p:spPr>
        <p:txBody>
          <a:bodyPr wrap="square" rtlCol="0" anchor="ctr"/>
          <a:lstStyle/>
          <a:p>
            <a:pPr marL="0" indent="0">
              <a:buNone/>
            </a:pPr>
            <a:endParaRPr lang="en-US" dirty="0"/>
          </a:p>
        </p:txBody>
      </p:sp>
      <p:sp>
        <p:nvSpPr>
          <p:cNvPr id="14" name="Text 12"/>
          <p:cNvSpPr/>
          <p:nvPr/>
        </p:nvSpPr>
        <p:spPr>
          <a:xfrm>
            <a:off x="514350" y="2563602"/>
            <a:ext cx="2435425"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ANALYSIS LEVEL</a:t>
            </a:r>
            <a:endParaRPr lang="en-US" sz="800" dirty="0"/>
          </a:p>
        </p:txBody>
      </p:sp>
      <p:sp>
        <p:nvSpPr>
          <p:cNvPr id="15" name="Text 13"/>
          <p:cNvSpPr/>
          <p:nvPr/>
        </p:nvSpPr>
        <p:spPr>
          <a:xfrm>
            <a:off x="2600325" y="2563602"/>
            <a:ext cx="6029325" cy="169980"/>
          </a:xfrm>
          <a:prstGeom prst="rect">
            <a:avLst/>
          </a:prstGeom>
          <a:noFill/>
          <a:ln/>
        </p:spPr>
        <p:txBody>
          <a:bodyPr wrap="square" lIns="0" tIns="0" rIns="0" bIns="0" rtlCol="0" anchor="t"/>
          <a:lstStyle/>
          <a:p>
            <a:pPr marL="0" indent="0" algn="l">
              <a:lnSpc>
                <a:spcPts val="1221"/>
              </a:lnSpc>
              <a:buNone/>
            </a:pPr>
            <a:r>
              <a:rPr lang="en-US" sz="788" dirty="0">
                <a:solidFill>
                  <a:srgbClr val="1F1F1F"/>
                </a:solidFill>
                <a:latin typeface="Carlito" pitchFamily="34" charset="0"/>
                <a:ea typeface="Carlito" pitchFamily="34" charset="-122"/>
                <a:cs typeface="Carlito" pitchFamily="34" charset="-120"/>
              </a:rPr>
              <a:t>Source code plus adjacent declarative configuration — ORM models, migrations, IaC, object-store lifecycle policies, log-retention.</a:t>
            </a:r>
            <a:endParaRPr lang="en-US" sz="788" dirty="0"/>
          </a:p>
        </p:txBody>
      </p:sp>
      <p:sp>
        <p:nvSpPr>
          <p:cNvPr id="16" name="Text 14"/>
          <p:cNvSpPr/>
          <p:nvPr/>
        </p:nvSpPr>
        <p:spPr>
          <a:xfrm>
            <a:off x="514350" y="2818544"/>
            <a:ext cx="8115300" cy="7144"/>
          </a:xfrm>
          <a:prstGeom prst="rect">
            <a:avLst/>
          </a:prstGeom>
          <a:solidFill>
            <a:srgbClr val="D9D9D9"/>
          </a:solidFill>
          <a:ln/>
        </p:spPr>
        <p:txBody>
          <a:bodyPr wrap="square" rtlCol="0" anchor="ctr"/>
          <a:lstStyle/>
          <a:p>
            <a:pPr marL="0" indent="0">
              <a:buNone/>
            </a:pPr>
            <a:endParaRPr lang="en-US" dirty="0"/>
          </a:p>
        </p:txBody>
      </p:sp>
      <p:sp>
        <p:nvSpPr>
          <p:cNvPr id="17" name="Text 15"/>
          <p:cNvSpPr/>
          <p:nvPr/>
        </p:nvSpPr>
        <p:spPr>
          <a:xfrm>
            <a:off x="514350" y="2925700"/>
            <a:ext cx="2636021"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OUTPUTS</a:t>
            </a:r>
            <a:endParaRPr lang="en-US" sz="800" dirty="0"/>
          </a:p>
        </p:txBody>
      </p:sp>
      <p:sp>
        <p:nvSpPr>
          <p:cNvPr id="18" name="Text 16"/>
          <p:cNvSpPr/>
          <p:nvPr/>
        </p:nvSpPr>
        <p:spPr>
          <a:xfrm>
            <a:off x="2600325" y="2925700"/>
            <a:ext cx="6029325" cy="339961"/>
          </a:xfrm>
          <a:prstGeom prst="rect">
            <a:avLst/>
          </a:prstGeom>
          <a:noFill/>
          <a:ln/>
        </p:spPr>
        <p:txBody>
          <a:bodyPr wrap="square" lIns="0" tIns="0" rIns="0" bIns="0" rtlCol="0" anchor="t"/>
          <a:lstStyle/>
          <a:p>
            <a:pPr marL="0" indent="0" algn="l">
              <a:lnSpc>
                <a:spcPts val="1221"/>
              </a:lnSpc>
              <a:buNone/>
            </a:pPr>
            <a:r>
              <a:rPr lang="en-US" sz="800" dirty="0">
                <a:solidFill>
                  <a:srgbClr val="1F1F1F"/>
                </a:solidFill>
                <a:latin typeface="Carlito" pitchFamily="34" charset="0"/>
                <a:ea typeface="Carlito" pitchFamily="34" charset="-122"/>
                <a:cs typeface="Carlito" pitchFamily="34" charset="-120"/>
              </a:rPr>
              <a:t>CycloneDX 1.6 CBOM enriched with dataflow and retention annotations; ranked migration plan; auto-generated hybrid patches as pull requests.</a:t>
            </a:r>
            <a:endParaRPr lang="en-US" sz="800" dirty="0"/>
          </a:p>
        </p:txBody>
      </p:sp>
      <p:sp>
        <p:nvSpPr>
          <p:cNvPr id="19" name="Text 17"/>
          <p:cNvSpPr/>
          <p:nvPr/>
        </p:nvSpPr>
        <p:spPr>
          <a:xfrm>
            <a:off x="514350" y="3335573"/>
            <a:ext cx="8115300" cy="7144"/>
          </a:xfrm>
          <a:prstGeom prst="rect">
            <a:avLst/>
          </a:prstGeom>
          <a:solidFill>
            <a:srgbClr val="D9D9D9"/>
          </a:solidFill>
          <a:ln/>
        </p:spPr>
        <p:txBody>
          <a:bodyPr wrap="square" rtlCol="0" anchor="ctr"/>
          <a:lstStyle/>
          <a:p>
            <a:pPr marL="0" indent="0">
              <a:buNone/>
            </a:pPr>
            <a:endParaRPr lang="en-US" dirty="0"/>
          </a:p>
        </p:txBody>
      </p:sp>
      <p:sp>
        <p:nvSpPr>
          <p:cNvPr id="20" name="Text 18"/>
          <p:cNvSpPr/>
          <p:nvPr/>
        </p:nvSpPr>
        <p:spPr>
          <a:xfrm>
            <a:off x="514350" y="3442729"/>
            <a:ext cx="2435425"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EVALUATION</a:t>
            </a:r>
            <a:endParaRPr lang="en-US" sz="800" dirty="0"/>
          </a:p>
        </p:txBody>
      </p:sp>
      <p:sp>
        <p:nvSpPr>
          <p:cNvPr id="21" name="Text 19"/>
          <p:cNvSpPr/>
          <p:nvPr/>
        </p:nvSpPr>
        <p:spPr>
          <a:xfrm>
            <a:off x="2600325" y="3442729"/>
            <a:ext cx="6029325" cy="169980"/>
          </a:xfrm>
          <a:prstGeom prst="rect">
            <a:avLst/>
          </a:prstGeom>
          <a:noFill/>
          <a:ln/>
        </p:spPr>
        <p:txBody>
          <a:bodyPr wrap="square" lIns="0" tIns="0" rIns="0" bIns="0" rtlCol="0" anchor="t"/>
          <a:lstStyle/>
          <a:p>
            <a:pPr marL="0" indent="0" algn="l">
              <a:lnSpc>
                <a:spcPts val="1221"/>
              </a:lnSpc>
              <a:buNone/>
            </a:pPr>
            <a:r>
              <a:rPr lang="en-US" sz="800" dirty="0">
                <a:solidFill>
                  <a:srgbClr val="1F1F1F"/>
                </a:solidFill>
                <a:latin typeface="Carlito" pitchFamily="34" charset="0"/>
                <a:ea typeface="Carlito" pitchFamily="34" charset="-122"/>
                <a:cs typeface="Carlito" pitchFamily="34" charset="-120"/>
              </a:rPr>
              <a:t>Discovery accuracy, ranking quality, actionable precision, patch correctness.</a:t>
            </a:r>
            <a:endParaRPr lang="en-US" sz="800" dirty="0"/>
          </a:p>
        </p:txBody>
      </p:sp>
      <p:sp>
        <p:nvSpPr>
          <p:cNvPr id="22" name="Text 20"/>
          <p:cNvSpPr/>
          <p:nvPr/>
        </p:nvSpPr>
        <p:spPr>
          <a:xfrm>
            <a:off x="514350" y="3697672"/>
            <a:ext cx="8115300" cy="7144"/>
          </a:xfrm>
          <a:prstGeom prst="rect">
            <a:avLst/>
          </a:prstGeom>
          <a:solidFill>
            <a:srgbClr val="D9D9D9"/>
          </a:solidFill>
          <a:ln/>
        </p:spPr>
        <p:txBody>
          <a:bodyPr wrap="square" rtlCol="0" anchor="ctr"/>
          <a:lstStyle/>
          <a:p>
            <a:pPr marL="0" indent="0">
              <a:buNone/>
            </a:pPr>
            <a:endParaRPr lang="en-US" dirty="0"/>
          </a:p>
        </p:txBody>
      </p:sp>
      <p:sp>
        <p:nvSpPr>
          <p:cNvPr id="23" name="Shape 21"/>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24" name="Text 22"/>
          <p:cNvSpPr/>
          <p:nvPr/>
        </p:nvSpPr>
        <p:spPr>
          <a:xfrm>
            <a:off x="1463040" y="4846320"/>
            <a:ext cx="7132320" cy="137160"/>
          </a:xfrm>
          <a:prstGeom prst="rect">
            <a:avLst/>
          </a:prstGeom>
          <a:noFill/>
          <a:ln/>
        </p:spPr>
        <p:txBody>
          <a:bodyPr wrap="non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04 — SCOPE</a:t>
            </a:r>
            <a:endParaRPr lang="en-US" sz="800" dirty="0"/>
          </a:p>
        </p:txBody>
      </p:sp>
      <p:sp>
        <p:nvSpPr>
          <p:cNvPr id="25" name="Text 23"/>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17 / 39</a:t>
            </a:r>
            <a:endParaRPr lang="en-US" sz="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750174"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7278812" y="400050"/>
            <a:ext cx="1350838" cy="117872"/>
          </a:xfrm>
          <a:prstGeom prst="rect">
            <a:avLst/>
          </a:prstGeom>
          <a:noFill/>
          <a:ln/>
        </p:spPr>
        <p:txBody>
          <a:bodyPr wrap="non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REVIEW REPORT I — PAGE 18</a:t>
            </a:r>
            <a:endParaRPr lang="en-US" sz="619" dirty="0"/>
          </a:p>
        </p:txBody>
      </p:sp>
      <p:sp>
        <p:nvSpPr>
          <p:cNvPr id="5" name="Text 3"/>
          <p:cNvSpPr/>
          <p:nvPr/>
        </p:nvSpPr>
        <p:spPr>
          <a:xfrm>
            <a:off x="514350" y="796528"/>
            <a:ext cx="8629650" cy="164592"/>
          </a:xfrm>
          <a:prstGeom prst="rect">
            <a:avLst/>
          </a:prstGeom>
          <a:noFill/>
          <a:ln/>
        </p:spPr>
        <p:txBody>
          <a:bodyPr wrap="none" lIns="0" tIns="0" rIns="0" bIns="0" rtlCol="0" anchor="t"/>
          <a:lstStyle/>
          <a:p>
            <a:pPr marL="0" indent="0" algn="l">
              <a:lnSpc>
                <a:spcPts val="928"/>
              </a:lnSpc>
              <a:buNone/>
            </a:pPr>
            <a:r>
              <a:rPr lang="en-US" sz="800" kern="0" spc="136" dirty="0">
                <a:solidFill>
                  <a:srgbClr val="4A4A4A"/>
                </a:solidFill>
                <a:latin typeface="Liberation Sans Narrow" pitchFamily="34" charset="0"/>
                <a:ea typeface="Liberation Sans Narrow" pitchFamily="34" charset="-122"/>
                <a:cs typeface="Liberation Sans Narrow" pitchFamily="34" charset="-120"/>
              </a:rPr>
              <a:t>5.1 SURVEY METHOD</a:t>
            </a:r>
            <a:endParaRPr lang="en-US" sz="800" dirty="0"/>
          </a:p>
        </p:txBody>
      </p:sp>
      <p:sp>
        <p:nvSpPr>
          <p:cNvPr id="6" name="Text 4"/>
          <p:cNvSpPr/>
          <p:nvPr/>
        </p:nvSpPr>
        <p:spPr>
          <a:xfrm>
            <a:off x="514350" y="1000125"/>
            <a:ext cx="7715250" cy="345619"/>
          </a:xfrm>
          <a:prstGeom prst="rect">
            <a:avLst/>
          </a:prstGeom>
          <a:noFill/>
          <a:ln/>
        </p:spPr>
        <p:txBody>
          <a:bodyPr wrap="squar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Searched, chased, retained.</a:t>
            </a:r>
            <a:endParaRPr lang="en-US" sz="2250" dirty="0"/>
          </a:p>
        </p:txBody>
      </p:sp>
      <p:sp>
        <p:nvSpPr>
          <p:cNvPr id="7" name="Text 5"/>
          <p:cNvSpPr/>
          <p:nvPr/>
        </p:nvSpPr>
        <p:spPr>
          <a:xfrm>
            <a:off x="514350" y="1463018"/>
            <a:ext cx="8115300" cy="7144"/>
          </a:xfrm>
          <a:prstGeom prst="rect">
            <a:avLst/>
          </a:prstGeom>
          <a:solidFill>
            <a:srgbClr val="D9D9D9"/>
          </a:solidFill>
          <a:ln/>
        </p:spPr>
        <p:txBody>
          <a:bodyPr wrap="square" rtlCol="0" anchor="ctr"/>
          <a:lstStyle/>
          <a:p>
            <a:pPr marL="0" indent="0">
              <a:buNone/>
            </a:pPr>
            <a:endParaRPr lang="en-US" dirty="0"/>
          </a:p>
        </p:txBody>
      </p:sp>
      <p:sp>
        <p:nvSpPr>
          <p:cNvPr id="8" name="Shape 6"/>
          <p:cNvSpPr/>
          <p:nvPr/>
        </p:nvSpPr>
        <p:spPr>
          <a:xfrm>
            <a:off x="4568428" y="1670186"/>
            <a:ext cx="0" cy="3073264"/>
          </a:xfrm>
          <a:prstGeom prst="line">
            <a:avLst/>
          </a:prstGeom>
          <a:noFill/>
          <a:ln w="7144">
            <a:solidFill>
              <a:srgbClr val="D1D5DB"/>
            </a:solidFill>
            <a:prstDash val="solid"/>
          </a:ln>
        </p:spPr>
        <p:txBody>
          <a:bodyPr/>
          <a:lstStyle/>
          <a:p>
            <a:endParaRPr lang="en-US"/>
          </a:p>
        </p:txBody>
      </p:sp>
      <p:sp>
        <p:nvSpPr>
          <p:cNvPr id="9" name="Text 7"/>
          <p:cNvSpPr/>
          <p:nvPr/>
        </p:nvSpPr>
        <p:spPr>
          <a:xfrm>
            <a:off x="514350" y="1670186"/>
            <a:ext cx="3821906"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SOURCES</a:t>
            </a:r>
            <a:endParaRPr lang="en-US" sz="800" dirty="0"/>
          </a:p>
        </p:txBody>
      </p:sp>
      <p:sp>
        <p:nvSpPr>
          <p:cNvPr id="10" name="Text 8"/>
          <p:cNvSpPr/>
          <p:nvPr/>
        </p:nvSpPr>
        <p:spPr>
          <a:xfrm>
            <a:off x="514350" y="1873783"/>
            <a:ext cx="3931634" cy="170053"/>
          </a:xfrm>
          <a:prstGeom prst="rect">
            <a:avLst/>
          </a:prstGeom>
          <a:noFill/>
          <a:ln/>
        </p:spPr>
        <p:txBody>
          <a:bodyPr wrap="square" lIns="0" tIns="0" rIns="0" bIns="0" rtlCol="0" anchor="t"/>
          <a:lstStyle/>
          <a:p>
            <a:pPr marL="0" indent="0" algn="l">
              <a:lnSpc>
                <a:spcPts val="1177"/>
              </a:lnSpc>
              <a:buNone/>
            </a:pPr>
            <a:r>
              <a:rPr lang="en-US" sz="800" dirty="0">
                <a:solidFill>
                  <a:srgbClr val="1F1F1F"/>
                </a:solidFill>
                <a:latin typeface="Carlito" pitchFamily="34" charset="0"/>
                <a:ea typeface="Carlito" pitchFamily="34" charset="-122"/>
                <a:cs typeface="Carlito" pitchFamily="34" charset="-120"/>
              </a:rPr>
              <a:t>arXiv · IACR ePrint · ACM DL · IEEE Xplore · Springer</a:t>
            </a:r>
            <a:endParaRPr lang="en-US" sz="800" dirty="0"/>
          </a:p>
        </p:txBody>
      </p:sp>
      <p:sp>
        <p:nvSpPr>
          <p:cNvPr id="11" name="Text 9"/>
          <p:cNvSpPr/>
          <p:nvPr/>
        </p:nvSpPr>
        <p:spPr>
          <a:xfrm>
            <a:off x="514350" y="2137544"/>
            <a:ext cx="3821906" cy="7144"/>
          </a:xfrm>
          <a:prstGeom prst="rect">
            <a:avLst/>
          </a:prstGeom>
          <a:solidFill>
            <a:srgbClr val="D9D9D9"/>
          </a:solidFill>
          <a:ln/>
        </p:spPr>
        <p:txBody>
          <a:bodyPr wrap="square" rtlCol="0" anchor="ctr"/>
          <a:lstStyle/>
          <a:p>
            <a:pPr marL="0" indent="0">
              <a:buNone/>
            </a:pPr>
            <a:endParaRPr lang="en-US" dirty="0"/>
          </a:p>
        </p:txBody>
      </p:sp>
      <p:sp>
        <p:nvSpPr>
          <p:cNvPr id="12" name="Text 10"/>
          <p:cNvSpPr/>
          <p:nvPr/>
        </p:nvSpPr>
        <p:spPr>
          <a:xfrm>
            <a:off x="514350" y="2258988"/>
            <a:ext cx="3821906"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PERIOD</a:t>
            </a:r>
            <a:endParaRPr lang="en-US" sz="800" dirty="0"/>
          </a:p>
        </p:txBody>
      </p:sp>
      <p:sp>
        <p:nvSpPr>
          <p:cNvPr id="13" name="Text 11"/>
          <p:cNvSpPr/>
          <p:nvPr/>
        </p:nvSpPr>
        <p:spPr>
          <a:xfrm>
            <a:off x="514350" y="2462585"/>
            <a:ext cx="3821906" cy="170053"/>
          </a:xfrm>
          <a:prstGeom prst="rect">
            <a:avLst/>
          </a:prstGeom>
          <a:noFill/>
          <a:ln/>
        </p:spPr>
        <p:txBody>
          <a:bodyPr wrap="none" lIns="0" tIns="0" rIns="0" bIns="0" rtlCol="0" anchor="t"/>
          <a:lstStyle/>
          <a:p>
            <a:pPr marL="0" indent="0" algn="l">
              <a:lnSpc>
                <a:spcPts val="1177"/>
              </a:lnSpc>
              <a:buNone/>
            </a:pPr>
            <a:r>
              <a:rPr lang="en-US" sz="800" dirty="0">
                <a:solidFill>
                  <a:srgbClr val="1F1F1F"/>
                </a:solidFill>
                <a:latin typeface="Liberation Sans Narrow" pitchFamily="34" charset="0"/>
                <a:ea typeface="Liberation Sans Narrow" pitchFamily="34" charset="-122"/>
                <a:cs typeface="Liberation Sans Narrow" pitchFamily="34" charset="-120"/>
              </a:rPr>
              <a:t>January 2025 – August 2026</a:t>
            </a:r>
            <a:endParaRPr lang="en-US" sz="800" dirty="0"/>
          </a:p>
        </p:txBody>
      </p:sp>
      <p:sp>
        <p:nvSpPr>
          <p:cNvPr id="14" name="Text 12"/>
          <p:cNvSpPr/>
          <p:nvPr/>
        </p:nvSpPr>
        <p:spPr>
          <a:xfrm>
            <a:off x="514350" y="2726345"/>
            <a:ext cx="3821906" cy="7144"/>
          </a:xfrm>
          <a:prstGeom prst="rect">
            <a:avLst/>
          </a:prstGeom>
          <a:solidFill>
            <a:srgbClr val="D9D9D9"/>
          </a:solidFill>
          <a:ln/>
        </p:spPr>
        <p:txBody>
          <a:bodyPr wrap="square" rtlCol="0" anchor="ctr"/>
          <a:lstStyle/>
          <a:p>
            <a:pPr marL="0" indent="0">
              <a:buNone/>
            </a:pPr>
            <a:endParaRPr lang="en-US" dirty="0"/>
          </a:p>
        </p:txBody>
      </p:sp>
      <p:sp>
        <p:nvSpPr>
          <p:cNvPr id="15" name="Text 13"/>
          <p:cNvSpPr/>
          <p:nvPr/>
        </p:nvSpPr>
        <p:spPr>
          <a:xfrm>
            <a:off x="514350" y="2847789"/>
            <a:ext cx="3821906"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QUERY FAMILIES</a:t>
            </a:r>
            <a:endParaRPr lang="en-US" sz="800" dirty="0"/>
          </a:p>
        </p:txBody>
      </p:sp>
      <p:sp>
        <p:nvSpPr>
          <p:cNvPr id="16" name="Text 14"/>
          <p:cNvSpPr/>
          <p:nvPr/>
        </p:nvSpPr>
        <p:spPr>
          <a:xfrm>
            <a:off x="514350" y="3051386"/>
            <a:ext cx="3821906" cy="361950"/>
          </a:xfrm>
          <a:prstGeom prst="rect">
            <a:avLst/>
          </a:prstGeom>
          <a:noFill/>
          <a:ln/>
        </p:spPr>
        <p:txBody>
          <a:bodyPr wrap="square" lIns="0" tIns="0" rIns="0" bIns="0" rtlCol="0" anchor="t"/>
          <a:lstStyle/>
          <a:p>
            <a:pPr marL="0" indent="0" algn="l">
              <a:lnSpc>
                <a:spcPts val="1253"/>
              </a:lnSpc>
              <a:buNone/>
            </a:pPr>
            <a:r>
              <a:rPr lang="en-US" sz="800" dirty="0">
                <a:solidFill>
                  <a:srgbClr val="1F1F1F"/>
                </a:solidFill>
                <a:latin typeface="Carlito" pitchFamily="34" charset="0"/>
                <a:ea typeface="Carlito" pitchFamily="34" charset="-122"/>
                <a:cs typeface="Carlito" pitchFamily="34" charset="-120"/>
              </a:rPr>
              <a:t>crypto-agility · cryptographic inventory · CBOM · PQC migration · quantum-safe static analysis · harvest-now-decrypt-later</a:t>
            </a:r>
            <a:endParaRPr lang="en-US" sz="800" dirty="0"/>
          </a:p>
        </p:txBody>
      </p:sp>
      <p:sp>
        <p:nvSpPr>
          <p:cNvPr id="17" name="Text 15"/>
          <p:cNvSpPr/>
          <p:nvPr/>
        </p:nvSpPr>
        <p:spPr>
          <a:xfrm>
            <a:off x="4800600" y="1670186"/>
            <a:ext cx="4343400"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RETENTION</a:t>
            </a:r>
            <a:endParaRPr lang="en-US" sz="800" dirty="0"/>
          </a:p>
        </p:txBody>
      </p:sp>
      <p:sp>
        <p:nvSpPr>
          <p:cNvPr id="18" name="Text 16"/>
          <p:cNvSpPr/>
          <p:nvPr/>
        </p:nvSpPr>
        <p:spPr>
          <a:xfrm>
            <a:off x="4800600" y="1873783"/>
            <a:ext cx="3829050" cy="702056"/>
          </a:xfrm>
          <a:prstGeom prst="rect">
            <a:avLst/>
          </a:prstGeom>
          <a:noFill/>
          <a:ln/>
        </p:spPr>
        <p:txBody>
          <a:bodyPr wrap="square" lIns="0" tIns="0" rIns="0" bIns="0" rtlCol="0" anchor="t"/>
          <a:lstStyle/>
          <a:p>
            <a:pPr marL="0" indent="0" algn="l">
              <a:lnSpc>
                <a:spcPts val="1215"/>
              </a:lnSpc>
              <a:buNone/>
            </a:pPr>
            <a:r>
              <a:rPr lang="en-US" sz="800" dirty="0">
                <a:solidFill>
                  <a:srgbClr val="1F1F1F"/>
                </a:solidFill>
                <a:latin typeface="Carlito" pitchFamily="34" charset="0"/>
                <a:ea typeface="Carlito" pitchFamily="34" charset="-122"/>
                <a:cs typeface="Carlito" pitchFamily="34" charset="-120"/>
              </a:rPr>
              <a:t>Sixteen works retained as directly load-bearing: eleven from 2025–2026, three from 2024 (a pre-standardisation binary toolchain and a systematic literature review), and two classical baselines from 2017 and 2019 retained because every modern paper positions against them.</a:t>
            </a:r>
            <a:endParaRPr lang="en-US" sz="800" dirty="0"/>
          </a:p>
        </p:txBody>
      </p:sp>
      <p:sp>
        <p:nvSpPr>
          <p:cNvPr id="19" name="Text 17"/>
          <p:cNvSpPr/>
          <p:nvPr/>
        </p:nvSpPr>
        <p:spPr>
          <a:xfrm>
            <a:off x="4800600" y="2605125"/>
            <a:ext cx="3829050" cy="7144"/>
          </a:xfrm>
          <a:prstGeom prst="rect">
            <a:avLst/>
          </a:prstGeom>
          <a:solidFill>
            <a:srgbClr val="D9D9D9"/>
          </a:solidFill>
          <a:ln/>
        </p:spPr>
        <p:txBody>
          <a:bodyPr wrap="square" rtlCol="0" anchor="ctr"/>
          <a:lstStyle/>
          <a:p>
            <a:pPr marL="0" indent="0">
              <a:buNone/>
            </a:pPr>
            <a:endParaRPr lang="en-US" dirty="0"/>
          </a:p>
        </p:txBody>
      </p:sp>
      <p:sp>
        <p:nvSpPr>
          <p:cNvPr id="20" name="Text 18"/>
          <p:cNvSpPr/>
          <p:nvPr/>
        </p:nvSpPr>
        <p:spPr>
          <a:xfrm>
            <a:off x="4800600" y="2726568"/>
            <a:ext cx="4343400"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CITATION CHASING</a:t>
            </a:r>
            <a:endParaRPr lang="en-US" sz="800" dirty="0"/>
          </a:p>
        </p:txBody>
      </p:sp>
      <p:sp>
        <p:nvSpPr>
          <p:cNvPr id="21" name="Text 19"/>
          <p:cNvSpPr/>
          <p:nvPr/>
        </p:nvSpPr>
        <p:spPr>
          <a:xfrm>
            <a:off x="4800600" y="2930165"/>
            <a:ext cx="3829050" cy="175514"/>
          </a:xfrm>
          <a:prstGeom prst="rect">
            <a:avLst/>
          </a:prstGeom>
          <a:noFill/>
          <a:ln/>
        </p:spPr>
        <p:txBody>
          <a:bodyPr wrap="square" lIns="0" tIns="0" rIns="0" bIns="0" rtlCol="0" anchor="t"/>
          <a:lstStyle/>
          <a:p>
            <a:pPr marL="0" indent="0" algn="l">
              <a:lnSpc>
                <a:spcPts val="1215"/>
              </a:lnSpc>
              <a:buNone/>
            </a:pPr>
            <a:r>
              <a:rPr lang="en-US" sz="759" dirty="0">
                <a:solidFill>
                  <a:srgbClr val="1F1F1F"/>
                </a:solidFill>
                <a:latin typeface="Carlito" pitchFamily="34" charset="0"/>
                <a:ea typeface="Carlito" pitchFamily="34" charset="-122"/>
                <a:cs typeface="Carlito" pitchFamily="34" charset="-120"/>
              </a:rPr>
              <a:t>Forward and backward citation chasing from the two most recent scanner papers.</a:t>
            </a:r>
            <a:endParaRPr lang="en-US" sz="759" dirty="0"/>
          </a:p>
        </p:txBody>
      </p:sp>
      <p:sp>
        <p:nvSpPr>
          <p:cNvPr id="22" name="Shape 20"/>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23" name="Text 21"/>
          <p:cNvSpPr/>
          <p:nvPr/>
        </p:nvSpPr>
        <p:spPr>
          <a:xfrm>
            <a:off x="1463040" y="4846320"/>
            <a:ext cx="7132320" cy="137160"/>
          </a:xfrm>
          <a:prstGeom prst="rect">
            <a:avLst/>
          </a:prstGeom>
          <a:noFill/>
          <a:ln/>
        </p:spPr>
        <p:txBody>
          <a:bodyPr wrap="squar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05 — LITERATURE SURVEY</a:t>
            </a:r>
            <a:endParaRPr lang="en-US" sz="800" dirty="0"/>
          </a:p>
        </p:txBody>
      </p:sp>
      <p:sp>
        <p:nvSpPr>
          <p:cNvPr id="24" name="Text 22"/>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18 / 39</a:t>
            </a:r>
            <a:endParaRPr lang="en-US" sz="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750174"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7278812" y="400050"/>
            <a:ext cx="1350838" cy="117872"/>
          </a:xfrm>
          <a:prstGeom prst="rect">
            <a:avLst/>
          </a:prstGeom>
          <a:noFill/>
          <a:ln/>
        </p:spPr>
        <p:txBody>
          <a:bodyPr wrap="non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REVIEW REPORT I — PAGE 19</a:t>
            </a:r>
            <a:endParaRPr lang="en-US" sz="619" dirty="0"/>
          </a:p>
        </p:txBody>
      </p:sp>
      <p:sp>
        <p:nvSpPr>
          <p:cNvPr id="5" name="Text 3"/>
          <p:cNvSpPr/>
          <p:nvPr/>
        </p:nvSpPr>
        <p:spPr>
          <a:xfrm>
            <a:off x="514350" y="796528"/>
            <a:ext cx="8629650" cy="164592"/>
          </a:xfrm>
          <a:prstGeom prst="rect">
            <a:avLst/>
          </a:prstGeom>
          <a:noFill/>
          <a:ln/>
        </p:spPr>
        <p:txBody>
          <a:bodyPr wrap="square" lIns="0" tIns="0" rIns="0" bIns="0" rtlCol="0" anchor="t"/>
          <a:lstStyle/>
          <a:p>
            <a:pPr marL="0" indent="0" algn="l">
              <a:lnSpc>
                <a:spcPts val="928"/>
              </a:lnSpc>
              <a:buNone/>
            </a:pPr>
            <a:r>
              <a:rPr lang="en-US" sz="800" kern="0" spc="136" dirty="0">
                <a:solidFill>
                  <a:srgbClr val="4A4A4A"/>
                </a:solidFill>
                <a:latin typeface="Carlito" pitchFamily="34" charset="0"/>
                <a:ea typeface="Carlito" pitchFamily="34" charset="-122"/>
                <a:cs typeface="Carlito" pitchFamily="34" charset="-120"/>
              </a:rPr>
              <a:t>5.2 SUMMARY OF SURVEYED WORK — PART 1 OF 2</a:t>
            </a:r>
            <a:endParaRPr lang="en-US" sz="800" dirty="0"/>
          </a:p>
        </p:txBody>
      </p:sp>
      <p:sp>
        <p:nvSpPr>
          <p:cNvPr id="6" name="Text 4"/>
          <p:cNvSpPr/>
          <p:nvPr/>
        </p:nvSpPr>
        <p:spPr>
          <a:xfrm>
            <a:off x="514350" y="1000125"/>
            <a:ext cx="8629650" cy="296193"/>
          </a:xfrm>
          <a:prstGeom prst="rect">
            <a:avLst/>
          </a:prstGeom>
          <a:noFill/>
          <a:ln/>
        </p:spPr>
        <p:txBody>
          <a:bodyPr wrap="square" lIns="0" tIns="0" rIns="0" bIns="0" rtlCol="0" anchor="t"/>
          <a:lstStyle/>
          <a:p>
            <a:pPr marL="0" indent="0" algn="l">
              <a:lnSpc>
                <a:spcPts val="2160"/>
              </a:lnSpc>
              <a:buNone/>
            </a:pPr>
            <a:r>
              <a:rPr lang="en-US" sz="1688" kern="0" spc="-20" dirty="0">
                <a:solidFill>
                  <a:srgbClr val="0A0A0A"/>
                </a:solidFill>
                <a:latin typeface="Carlito" pitchFamily="34" charset="0"/>
                <a:ea typeface="Carlito" pitchFamily="34" charset="-122"/>
                <a:cs typeface="Carlito" pitchFamily="34" charset="-120"/>
              </a:rPr>
              <a:t>P1 – P8: scanners, scoring, frameworks.</a:t>
            </a:r>
            <a:endParaRPr lang="en-US" sz="1688" dirty="0"/>
          </a:p>
        </p:txBody>
      </p:sp>
      <p:sp>
        <p:nvSpPr>
          <p:cNvPr id="7" name="Text 5"/>
          <p:cNvSpPr/>
          <p:nvPr/>
        </p:nvSpPr>
        <p:spPr>
          <a:xfrm>
            <a:off x="514350" y="1388678"/>
            <a:ext cx="8115300" cy="7144"/>
          </a:xfrm>
          <a:prstGeom prst="rect">
            <a:avLst/>
          </a:prstGeom>
          <a:solidFill>
            <a:srgbClr val="D9D9D9"/>
          </a:solidFill>
          <a:ln/>
        </p:spPr>
        <p:txBody>
          <a:bodyPr wrap="square" rtlCol="0" anchor="ctr"/>
          <a:lstStyle/>
          <a:p>
            <a:pPr marL="0" indent="0">
              <a:buNone/>
            </a:pPr>
            <a:endParaRPr lang="en-US"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14350" y="1567272"/>
          <a:ext cx="8108156" cy="2578421"/>
        </p:xfrm>
        <a:graphic>
          <a:graphicData uri="http://schemas.openxmlformats.org/drawingml/2006/table">
            <a:tbl>
              <a:tblPr/>
              <a:tblGrid>
                <a:gridCol w="486445">
                  <a:extLst>
                    <a:ext uri="{9D8B030D-6E8A-4147-A177-3AD203B41FA5}">
                      <a16:colId xmlns:a16="http://schemas.microsoft.com/office/drawing/2014/main" val="20000"/>
                    </a:ext>
                  </a:extLst>
                </a:gridCol>
                <a:gridCol w="1783705">
                  <a:extLst>
                    <a:ext uri="{9D8B030D-6E8A-4147-A177-3AD203B41FA5}">
                      <a16:colId xmlns:a16="http://schemas.microsoft.com/office/drawing/2014/main" val="20001"/>
                    </a:ext>
                  </a:extLst>
                </a:gridCol>
                <a:gridCol w="972889">
                  <a:extLst>
                    <a:ext uri="{9D8B030D-6E8A-4147-A177-3AD203B41FA5}">
                      <a16:colId xmlns:a16="http://schemas.microsoft.com/office/drawing/2014/main" val="20002"/>
                    </a:ext>
                  </a:extLst>
                </a:gridCol>
                <a:gridCol w="2594521">
                  <a:extLst>
                    <a:ext uri="{9D8B030D-6E8A-4147-A177-3AD203B41FA5}">
                      <a16:colId xmlns:a16="http://schemas.microsoft.com/office/drawing/2014/main" val="20003"/>
                    </a:ext>
                  </a:extLst>
                </a:gridCol>
                <a:gridCol w="2270596">
                  <a:extLst>
                    <a:ext uri="{9D8B030D-6E8A-4147-A177-3AD203B41FA5}">
                      <a16:colId xmlns:a16="http://schemas.microsoft.com/office/drawing/2014/main" val="20004"/>
                    </a:ext>
                  </a:extLst>
                </a:gridCol>
              </a:tblGrid>
              <a:tr h="0">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Ref</a:t>
                      </a:r>
                      <a:endParaRPr lang="en-US" sz="800" dirty="0">
                        <a:latin typeface="Carlito" charset="0"/>
                        <a:ea typeface="Carlito" charset="0"/>
                        <a:cs typeface="Carlito" charset="0"/>
                      </a:endParaRPr>
                    </a:p>
                  </a:txBody>
                  <a:tcPr marL="42863" marR="57150" marT="57150" marB="42863">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Work</a:t>
                      </a:r>
                      <a:endParaRPr lang="en-US" sz="800" dirty="0">
                        <a:latin typeface="Carlito" charset="0"/>
                        <a:ea typeface="Carlito" charset="0"/>
                        <a:cs typeface="Carlito" charset="0"/>
                      </a:endParaRPr>
                    </a:p>
                  </a:txBody>
                  <a:tcPr marL="42863" marR="57150" marT="57150" marB="42863">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Year</a:t>
                      </a:r>
                      <a:endParaRPr lang="en-US" sz="800" dirty="0">
                        <a:latin typeface="Carlito" charset="0"/>
                        <a:ea typeface="Carlito" charset="0"/>
                        <a:cs typeface="Carlito" charset="0"/>
                      </a:endParaRPr>
                    </a:p>
                  </a:txBody>
                  <a:tcPr marL="42863" marR="57150" marT="57150" marB="42863">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Core Contribution</a:t>
                      </a:r>
                      <a:endParaRPr lang="en-US" sz="800" dirty="0">
                        <a:latin typeface="Carlito" charset="0"/>
                        <a:ea typeface="Carlito" charset="0"/>
                        <a:cs typeface="Carlito" charset="0"/>
                      </a:endParaRPr>
                    </a:p>
                  </a:txBody>
                  <a:tcPr marL="42863" marR="57150" marT="57150" marB="42863">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Key Numbers</a:t>
                      </a:r>
                      <a:endParaRPr lang="en-US" sz="800" dirty="0">
                        <a:latin typeface="Carlito" charset="0"/>
                        <a:ea typeface="Carlito" charset="0"/>
                        <a:cs typeface="Carlito" charset="0"/>
                      </a:endParaRPr>
                    </a:p>
                  </a:txBody>
                  <a:tcPr marL="42863" marR="57150" marT="57150" marB="42863">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extLst>
                  <a:ext uri="{0D108BD9-81ED-4DB2-BD59-A6C34878D82A}">
                    <a16:rowId xmlns:a16="http://schemas.microsoft.com/office/drawing/2014/main" val="10000"/>
                  </a:ext>
                </a:extLst>
              </a:tr>
              <a:tr h="0">
                <a:tc>
                  <a:txBody>
                    <a:bodyPr/>
                    <a:lstStyle/>
                    <a:p>
                      <a:pPr marL="0" indent="0" algn="l">
                        <a:buNone/>
                      </a:pPr>
                      <a:r>
                        <a:rPr lang="en-US" sz="800" dirty="0">
                          <a:solidFill>
                            <a:srgbClr val="0A0A0A"/>
                          </a:solidFill>
                          <a:latin typeface="Courier New" pitchFamily="34" charset="0"/>
                          <a:ea typeface="Courier New" pitchFamily="34" charset="-122"/>
                          <a:cs typeface="Courier New" pitchFamily="34" charset="-120"/>
                        </a:rPr>
                        <a:t>P1</a:t>
                      </a:r>
                      <a:endParaRPr lang="en-US" sz="800" dirty="0">
                        <a:latin typeface="Courier New" charset="0"/>
                        <a:ea typeface="Courier New" charset="0"/>
                        <a:cs typeface="Courier New"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Crysy (Näther &amp; Hirsch)</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Aug 2026</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214-rule repository + static scanner + CBOM export</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ourier New" pitchFamily="34" charset="0"/>
                          <a:ea typeface="Courier New" pitchFamily="34" charset="-122"/>
                          <a:cs typeface="Courier New" pitchFamily="34" charset="-120"/>
                        </a:rPr>
                        <a:t>F1 0.75 · Go F1 0.92 · actionable precision ≈ 0.3</a:t>
                      </a:r>
                      <a:endParaRPr lang="en-US" sz="800" dirty="0">
                        <a:latin typeface="Courier New" charset="0"/>
                        <a:ea typeface="Courier New" charset="0"/>
                        <a:cs typeface="Courier New"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800" dirty="0">
                          <a:solidFill>
                            <a:srgbClr val="0A0A0A"/>
                          </a:solidFill>
                          <a:latin typeface="Courier New" pitchFamily="34" charset="0"/>
                          <a:ea typeface="Courier New" pitchFamily="34" charset="-122"/>
                          <a:cs typeface="Courier New" pitchFamily="34" charset="-120"/>
                        </a:rPr>
                        <a:t>P2</a:t>
                      </a:r>
                      <a:endParaRPr lang="en-US" sz="800" dirty="0">
                        <a:latin typeface="Courier New" charset="0"/>
                        <a:ea typeface="Courier New" charset="0"/>
                        <a:cs typeface="Courier New"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Quantum-Safe Code Auditing (Shaw)</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Apr 2026</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Regex + LLM + VQE threat score</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ourier New" pitchFamily="34" charset="0"/>
                          <a:ea typeface="Courier New" pitchFamily="34" charset="-122"/>
                          <a:cs typeface="Courier New" pitchFamily="34" charset="-120"/>
                        </a:rPr>
                        <a:t>P 71.98% / R 100% / F1 83.71% (10.4% sample)</a:t>
                      </a:r>
                      <a:endParaRPr lang="en-US" sz="800" dirty="0">
                        <a:latin typeface="Courier New" charset="0"/>
                        <a:ea typeface="Courier New" charset="0"/>
                        <a:cs typeface="Courier New"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0">
                <a:tc>
                  <a:txBody>
                    <a:bodyPr/>
                    <a:lstStyle/>
                    <a:p>
                      <a:pPr marL="0" indent="0" algn="l">
                        <a:buNone/>
                      </a:pPr>
                      <a:r>
                        <a:rPr lang="en-US" sz="800" dirty="0">
                          <a:solidFill>
                            <a:srgbClr val="0A0A0A"/>
                          </a:solidFill>
                          <a:latin typeface="Courier New" pitchFamily="34" charset="0"/>
                          <a:ea typeface="Courier New" pitchFamily="34" charset="-122"/>
                          <a:cs typeface="Courier New" pitchFamily="34" charset="-120"/>
                        </a:rPr>
                        <a:t>P3</a:t>
                      </a:r>
                      <a:endParaRPr lang="en-US" sz="800" dirty="0">
                        <a:latin typeface="Courier New" charset="0"/>
                        <a:ea typeface="Courier New" charset="0"/>
                        <a:cs typeface="Courier New"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LLM Migration (Pallarés de Bonrostro et al.)</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Jun 2026</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800 paired fragments; fine-tuning study</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ourier New" pitchFamily="34" charset="0"/>
                          <a:ea typeface="Courier New" pitchFamily="34" charset="-122"/>
                          <a:cs typeface="Courier New" pitchFamily="34" charset="-120"/>
                        </a:rPr>
                        <a:t>Fine-tuned GPT-4.1-mini: 92.5% functional correctness</a:t>
                      </a:r>
                      <a:endParaRPr lang="en-US" sz="800" dirty="0">
                        <a:latin typeface="Courier New" charset="0"/>
                        <a:ea typeface="Courier New" charset="0"/>
                        <a:cs typeface="Courier New"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800" dirty="0">
                          <a:solidFill>
                            <a:srgbClr val="0A0A0A"/>
                          </a:solidFill>
                          <a:latin typeface="Courier New" pitchFamily="34" charset="0"/>
                          <a:ea typeface="Courier New" pitchFamily="34" charset="-122"/>
                          <a:cs typeface="Courier New" pitchFamily="34" charset="-120"/>
                        </a:rPr>
                        <a:t>P4</a:t>
                      </a:r>
                      <a:endParaRPr lang="en-US" sz="800" dirty="0">
                        <a:latin typeface="Courier New" charset="0"/>
                        <a:ea typeface="Courier New" charset="0"/>
                        <a:cs typeface="Courier New"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AQuA (Zhang)</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ICSE'26</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Vision; three-pillar agenda</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ourier New" pitchFamily="34" charset="0"/>
                          <a:ea typeface="Courier New" pitchFamily="34" charset="-122"/>
                          <a:cs typeface="Courier New" pitchFamily="34" charset="-120"/>
                        </a:rPr>
                        <a:t>No implementation</a:t>
                      </a:r>
                      <a:endParaRPr lang="en-US" sz="800" dirty="0">
                        <a:latin typeface="Courier New" charset="0"/>
                        <a:ea typeface="Courier New" charset="0"/>
                        <a:cs typeface="Courier New"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0">
                <a:tc>
                  <a:txBody>
                    <a:bodyPr/>
                    <a:lstStyle/>
                    <a:p>
                      <a:pPr marL="0" indent="0" algn="l">
                        <a:buNone/>
                      </a:pPr>
                      <a:r>
                        <a:rPr lang="en-US" sz="800" dirty="0">
                          <a:solidFill>
                            <a:srgbClr val="0A0A0A"/>
                          </a:solidFill>
                          <a:latin typeface="Courier New" pitchFamily="34" charset="0"/>
                          <a:ea typeface="Courier New" pitchFamily="34" charset="-122"/>
                          <a:cs typeface="Courier New" pitchFamily="34" charset="-120"/>
                        </a:rPr>
                        <a:t>P5</a:t>
                      </a:r>
                      <a:endParaRPr lang="en-US" sz="800" dirty="0">
                        <a:latin typeface="Courier New" charset="0"/>
                        <a:ea typeface="Courier New" charset="0"/>
                        <a:cs typeface="Courier New"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CARS (Costa)</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Jul 2026</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5-dimension weighted readiness index</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ourier New" pitchFamily="34" charset="0"/>
                          <a:ea typeface="Courier New" pitchFamily="34" charset="-122"/>
                          <a:cs typeface="Courier New" pitchFamily="34" charset="-120"/>
                        </a:rPr>
                        <a:t>Mean scores 24.9–47.5 across 43 OSS repos</a:t>
                      </a:r>
                      <a:endParaRPr lang="en-US" sz="800" dirty="0">
                        <a:latin typeface="Courier New" charset="0"/>
                        <a:ea typeface="Courier New" charset="0"/>
                        <a:cs typeface="Courier New"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lgn="l">
                        <a:buNone/>
                      </a:pPr>
                      <a:r>
                        <a:rPr lang="en-US" sz="800" dirty="0">
                          <a:solidFill>
                            <a:srgbClr val="0A0A0A"/>
                          </a:solidFill>
                          <a:latin typeface="Courier New" pitchFamily="34" charset="0"/>
                          <a:ea typeface="Courier New" pitchFamily="34" charset="-122"/>
                          <a:cs typeface="Courier New" pitchFamily="34" charset="-120"/>
                        </a:rPr>
                        <a:t>P6</a:t>
                      </a:r>
                      <a:endParaRPr lang="en-US" sz="800" dirty="0">
                        <a:latin typeface="Courier New" charset="0"/>
                        <a:ea typeface="Courier New" charset="0"/>
                        <a:cs typeface="Courier New"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CBOM Anatomy (IBM)</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Eurocrypt 2026</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Object model for crypto assets in CycloneDX</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ourier New" pitchFamily="34" charset="0"/>
                          <a:ea typeface="Courier New" pitchFamily="34" charset="-122"/>
                          <a:cs typeface="Courier New" pitchFamily="34" charset="-120"/>
                        </a:rPr>
                        <a:t>Standardisation reference</a:t>
                      </a:r>
                      <a:endParaRPr lang="en-US" sz="800" dirty="0">
                        <a:latin typeface="Courier New" charset="0"/>
                        <a:ea typeface="Courier New" charset="0"/>
                        <a:cs typeface="Courier New"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extLst>
                  <a:ext uri="{0D108BD9-81ED-4DB2-BD59-A6C34878D82A}">
                    <a16:rowId xmlns:a16="http://schemas.microsoft.com/office/drawing/2014/main" val="10006"/>
                  </a:ext>
                </a:extLst>
              </a:tr>
              <a:tr h="0">
                <a:tc>
                  <a:txBody>
                    <a:bodyPr/>
                    <a:lstStyle/>
                    <a:p>
                      <a:pPr marL="0" indent="0" algn="l">
                        <a:buNone/>
                      </a:pPr>
                      <a:r>
                        <a:rPr lang="en-US" sz="800" dirty="0">
                          <a:solidFill>
                            <a:srgbClr val="0A0A0A"/>
                          </a:solidFill>
                          <a:latin typeface="Courier New" pitchFamily="34" charset="0"/>
                          <a:ea typeface="Courier New" pitchFamily="34" charset="-122"/>
                          <a:cs typeface="Courier New" pitchFamily="34" charset="-120"/>
                        </a:rPr>
                        <a:t>P7</a:t>
                      </a:r>
                      <a:endParaRPr lang="en-US" sz="800" dirty="0">
                        <a:latin typeface="Courier New" charset="0"/>
                        <a:ea typeface="Courier New" charset="0"/>
                        <a:cs typeface="Courier New"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CBOM Compliance</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2026</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Policy-driven CBOM asset classification</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ourier New" pitchFamily="34" charset="0"/>
                          <a:ea typeface="Courier New" pitchFamily="34" charset="-122"/>
                          <a:cs typeface="Courier New" pitchFamily="34" charset="-120"/>
                        </a:rPr>
                        <a:t>Prototype</a:t>
                      </a:r>
                      <a:endParaRPr lang="en-US" sz="800" dirty="0">
                        <a:latin typeface="Courier New" charset="0"/>
                        <a:ea typeface="Courier New" charset="0"/>
                        <a:cs typeface="Courier New"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0" indent="0" algn="l">
                        <a:buNone/>
                      </a:pPr>
                      <a:r>
                        <a:rPr lang="en-US" sz="800" dirty="0">
                          <a:solidFill>
                            <a:srgbClr val="0A0A0A"/>
                          </a:solidFill>
                          <a:latin typeface="Courier New" pitchFamily="34" charset="0"/>
                          <a:ea typeface="Courier New" pitchFamily="34" charset="-122"/>
                          <a:cs typeface="Courier New" pitchFamily="34" charset="-120"/>
                        </a:rPr>
                        <a:t>P8</a:t>
                      </a:r>
                      <a:endParaRPr lang="en-US" sz="800" dirty="0">
                        <a:latin typeface="Courier New" charset="0"/>
                        <a:ea typeface="Courier New" charset="0"/>
                        <a:cs typeface="Courier New"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HNDL Feasibility</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2026</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Feasibility and economics of HNDL</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ourier New" pitchFamily="34" charset="0"/>
                          <a:ea typeface="Courier New" pitchFamily="34" charset="-122"/>
                          <a:cs typeface="Courier New" pitchFamily="34" charset="-120"/>
                        </a:rPr>
                        <a:t>Healthcare retention 25–50 yr — Mosca deadline passed</a:t>
                      </a:r>
                      <a:endParaRPr lang="en-US" sz="800" dirty="0">
                        <a:latin typeface="Courier New" charset="0"/>
                        <a:ea typeface="Courier New" charset="0"/>
                        <a:cs typeface="Courier New"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extLst>
                  <a:ext uri="{0D108BD9-81ED-4DB2-BD59-A6C34878D82A}">
                    <a16:rowId xmlns:a16="http://schemas.microsoft.com/office/drawing/2014/main" val="10008"/>
                  </a:ext>
                </a:extLst>
              </a:tr>
            </a:tbl>
          </a:graphicData>
        </a:graphic>
      </p:graphicFrame>
      <p:sp>
        <p:nvSpPr>
          <p:cNvPr id="9" name="Shape 6"/>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10" name="Text 7"/>
          <p:cNvSpPr/>
          <p:nvPr/>
        </p:nvSpPr>
        <p:spPr>
          <a:xfrm>
            <a:off x="1463040" y="4846320"/>
            <a:ext cx="7132320" cy="137160"/>
          </a:xfrm>
          <a:prstGeom prst="rect">
            <a:avLst/>
          </a:prstGeom>
          <a:noFill/>
          <a:ln/>
        </p:spPr>
        <p:txBody>
          <a:bodyPr wrap="squar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05 — LITERATURE SURVEY</a:t>
            </a:r>
            <a:endParaRPr lang="en-US" sz="800" dirty="0"/>
          </a:p>
        </p:txBody>
      </p:sp>
      <p:sp>
        <p:nvSpPr>
          <p:cNvPr id="11" name="Text 8"/>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19 / 39</a:t>
            </a:r>
            <a:endParaRPr lang="en-US" sz="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750174"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7278812" y="400050"/>
            <a:ext cx="1350838" cy="117872"/>
          </a:xfrm>
          <a:prstGeom prst="rect">
            <a:avLst/>
          </a:prstGeom>
          <a:noFill/>
          <a:ln/>
        </p:spPr>
        <p:txBody>
          <a:bodyPr wrap="non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REVIEW REPORT I — PAGE 20</a:t>
            </a:r>
            <a:endParaRPr lang="en-US" sz="619" dirty="0"/>
          </a:p>
        </p:txBody>
      </p:sp>
      <p:sp>
        <p:nvSpPr>
          <p:cNvPr id="5" name="Text 3"/>
          <p:cNvSpPr/>
          <p:nvPr/>
        </p:nvSpPr>
        <p:spPr>
          <a:xfrm>
            <a:off x="514350" y="796528"/>
            <a:ext cx="8629650" cy="164592"/>
          </a:xfrm>
          <a:prstGeom prst="rect">
            <a:avLst/>
          </a:prstGeom>
          <a:noFill/>
          <a:ln/>
        </p:spPr>
        <p:txBody>
          <a:bodyPr wrap="square" lIns="0" tIns="0" rIns="0" bIns="0" rtlCol="0" anchor="t"/>
          <a:lstStyle/>
          <a:p>
            <a:pPr marL="0" indent="0" algn="l">
              <a:lnSpc>
                <a:spcPts val="928"/>
              </a:lnSpc>
              <a:buNone/>
            </a:pPr>
            <a:r>
              <a:rPr lang="en-US" sz="800" kern="0" spc="136" dirty="0">
                <a:solidFill>
                  <a:srgbClr val="4A4A4A"/>
                </a:solidFill>
                <a:latin typeface="Carlito" pitchFamily="34" charset="0"/>
                <a:ea typeface="Carlito" pitchFamily="34" charset="-122"/>
                <a:cs typeface="Carlito" pitchFamily="34" charset="-120"/>
              </a:rPr>
              <a:t>5.2 SUMMARY OF SURVEYED WORK — PART 2 OF 2</a:t>
            </a:r>
            <a:endParaRPr lang="en-US" sz="800" dirty="0"/>
          </a:p>
        </p:txBody>
      </p:sp>
      <p:sp>
        <p:nvSpPr>
          <p:cNvPr id="6" name="Text 4"/>
          <p:cNvSpPr/>
          <p:nvPr/>
        </p:nvSpPr>
        <p:spPr>
          <a:xfrm>
            <a:off x="514350" y="1000125"/>
            <a:ext cx="8629650" cy="296193"/>
          </a:xfrm>
          <a:prstGeom prst="rect">
            <a:avLst/>
          </a:prstGeom>
          <a:noFill/>
          <a:ln/>
        </p:spPr>
        <p:txBody>
          <a:bodyPr wrap="square" lIns="0" tIns="0" rIns="0" bIns="0" rtlCol="0" anchor="t"/>
          <a:lstStyle/>
          <a:p>
            <a:pPr marL="0" indent="0" algn="l">
              <a:lnSpc>
                <a:spcPts val="2160"/>
              </a:lnSpc>
              <a:buNone/>
            </a:pPr>
            <a:r>
              <a:rPr lang="en-US" sz="1688" kern="0" spc="-20" dirty="0">
                <a:solidFill>
                  <a:srgbClr val="0A0A0A"/>
                </a:solidFill>
                <a:latin typeface="Carlito" pitchFamily="34" charset="0"/>
                <a:ea typeface="Carlito" pitchFamily="34" charset="-122"/>
                <a:cs typeface="Carlito" pitchFamily="34" charset="-120"/>
              </a:rPr>
              <a:t>P9 – P16: surveys, economics, baselines.</a:t>
            </a:r>
            <a:endParaRPr lang="en-US" sz="1688" dirty="0"/>
          </a:p>
        </p:txBody>
      </p:sp>
      <p:sp>
        <p:nvSpPr>
          <p:cNvPr id="7" name="Text 5"/>
          <p:cNvSpPr/>
          <p:nvPr/>
        </p:nvSpPr>
        <p:spPr>
          <a:xfrm>
            <a:off x="514350" y="1388678"/>
            <a:ext cx="8115300" cy="7144"/>
          </a:xfrm>
          <a:prstGeom prst="rect">
            <a:avLst/>
          </a:prstGeom>
          <a:solidFill>
            <a:srgbClr val="D9D9D9"/>
          </a:solidFill>
          <a:ln/>
        </p:spPr>
        <p:txBody>
          <a:bodyPr wrap="square" rtlCol="0" anchor="ctr"/>
          <a:lstStyle/>
          <a:p>
            <a:pPr marL="0" indent="0">
              <a:buNone/>
            </a:pPr>
            <a:endParaRPr lang="en-US"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14350" y="1567272"/>
          <a:ext cx="8108157" cy="2700341"/>
        </p:xfrm>
        <a:graphic>
          <a:graphicData uri="http://schemas.openxmlformats.org/drawingml/2006/table">
            <a:tbl>
              <a:tblPr/>
              <a:tblGrid>
                <a:gridCol w="486445">
                  <a:extLst>
                    <a:ext uri="{9D8B030D-6E8A-4147-A177-3AD203B41FA5}">
                      <a16:colId xmlns:a16="http://schemas.microsoft.com/office/drawing/2014/main" val="20000"/>
                    </a:ext>
                  </a:extLst>
                </a:gridCol>
                <a:gridCol w="1945891">
                  <a:extLst>
                    <a:ext uri="{9D8B030D-6E8A-4147-A177-3AD203B41FA5}">
                      <a16:colId xmlns:a16="http://schemas.microsoft.com/office/drawing/2014/main" val="20001"/>
                    </a:ext>
                  </a:extLst>
                </a:gridCol>
                <a:gridCol w="1135075">
                  <a:extLst>
                    <a:ext uri="{9D8B030D-6E8A-4147-A177-3AD203B41FA5}">
                      <a16:colId xmlns:a16="http://schemas.microsoft.com/office/drawing/2014/main" val="20002"/>
                    </a:ext>
                  </a:extLst>
                </a:gridCol>
                <a:gridCol w="2432447">
                  <a:extLst>
                    <a:ext uri="{9D8B030D-6E8A-4147-A177-3AD203B41FA5}">
                      <a16:colId xmlns:a16="http://schemas.microsoft.com/office/drawing/2014/main" val="20003"/>
                    </a:ext>
                  </a:extLst>
                </a:gridCol>
                <a:gridCol w="2108299">
                  <a:extLst>
                    <a:ext uri="{9D8B030D-6E8A-4147-A177-3AD203B41FA5}">
                      <a16:colId xmlns:a16="http://schemas.microsoft.com/office/drawing/2014/main" val="20004"/>
                    </a:ext>
                  </a:extLst>
                </a:gridCol>
              </a:tblGrid>
              <a:tr h="0">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Ref</a:t>
                      </a:r>
                      <a:endParaRPr lang="en-US" sz="800" dirty="0">
                        <a:latin typeface="Carlito" charset="0"/>
                        <a:ea typeface="Carlito" charset="0"/>
                        <a:cs typeface="Carlito" charset="0"/>
                      </a:endParaRPr>
                    </a:p>
                  </a:txBody>
                  <a:tcPr marL="42863" marR="57150" marT="57150" marB="42863">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Work</a:t>
                      </a:r>
                      <a:endParaRPr lang="en-US" sz="800" dirty="0">
                        <a:latin typeface="Carlito" charset="0"/>
                        <a:ea typeface="Carlito" charset="0"/>
                        <a:cs typeface="Carlito" charset="0"/>
                      </a:endParaRPr>
                    </a:p>
                  </a:txBody>
                  <a:tcPr marL="42863" marR="57150" marT="57150" marB="42863">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Year</a:t>
                      </a:r>
                      <a:endParaRPr lang="en-US" sz="800" dirty="0">
                        <a:latin typeface="Carlito" charset="0"/>
                        <a:ea typeface="Carlito" charset="0"/>
                        <a:cs typeface="Carlito" charset="0"/>
                      </a:endParaRPr>
                    </a:p>
                  </a:txBody>
                  <a:tcPr marL="42863" marR="57150" marT="57150" marB="42863">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Core Contribution</a:t>
                      </a:r>
                      <a:endParaRPr lang="en-US" sz="800" dirty="0">
                        <a:latin typeface="Carlito" charset="0"/>
                        <a:ea typeface="Carlito" charset="0"/>
                        <a:cs typeface="Carlito" charset="0"/>
                      </a:endParaRPr>
                    </a:p>
                  </a:txBody>
                  <a:tcPr marL="42863" marR="57150" marT="57150" marB="42863">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Key Numbers</a:t>
                      </a:r>
                      <a:endParaRPr lang="en-US" sz="800" dirty="0">
                        <a:latin typeface="Carlito" charset="0"/>
                        <a:ea typeface="Carlito" charset="0"/>
                        <a:cs typeface="Carlito" charset="0"/>
                      </a:endParaRPr>
                    </a:p>
                  </a:txBody>
                  <a:tcPr marL="42863" marR="57150" marT="57150" marB="42863">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extLst>
                  <a:ext uri="{0D108BD9-81ED-4DB2-BD59-A6C34878D82A}">
                    <a16:rowId xmlns:a16="http://schemas.microsoft.com/office/drawing/2014/main" val="10000"/>
                  </a:ext>
                </a:extLst>
              </a:tr>
              <a:tr h="0">
                <a:tc>
                  <a:txBody>
                    <a:bodyPr/>
                    <a:lstStyle/>
                    <a:p>
                      <a:pPr marL="0" indent="0" algn="l">
                        <a:buNone/>
                      </a:pPr>
                      <a:r>
                        <a:rPr lang="en-US" sz="800" dirty="0">
                          <a:solidFill>
                            <a:srgbClr val="0A0A0A"/>
                          </a:solidFill>
                          <a:latin typeface="Courier New" pitchFamily="34" charset="0"/>
                          <a:ea typeface="Courier New" pitchFamily="34" charset="-122"/>
                          <a:cs typeface="Courier New" pitchFamily="34" charset="-120"/>
                        </a:rPr>
                        <a:t>P9</a:t>
                      </a:r>
                      <a:endParaRPr lang="en-US" sz="800" dirty="0">
                        <a:latin typeface="Courier New" charset="0"/>
                        <a:ea typeface="Courier New" charset="0"/>
                        <a:cs typeface="Courier New"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PQC Comprehensive Survey</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Oct 2025, rev. Jun 2026</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Post-FIPS 203/204/205 consolidation</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Survey; consensus on standard selection</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800" dirty="0">
                          <a:solidFill>
                            <a:srgbClr val="0A0A0A"/>
                          </a:solidFill>
                          <a:latin typeface="Courier New" pitchFamily="34" charset="0"/>
                          <a:ea typeface="Courier New" pitchFamily="34" charset="-122"/>
                          <a:cs typeface="Courier New" pitchFamily="34" charset="-120"/>
                        </a:rPr>
                        <a:t>P10</a:t>
                      </a:r>
                      <a:endParaRPr lang="en-US" sz="800" dirty="0">
                        <a:latin typeface="Courier New" charset="0"/>
                        <a:ea typeface="Courier New" charset="0"/>
                        <a:cs typeface="Courier New"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Quantum + AI Security</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Mar 2026</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Threat landscape &amp; strategic response synthesis</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Positioning / roadmap</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0">
                <a:tc>
                  <a:txBody>
                    <a:bodyPr/>
                    <a:lstStyle/>
                    <a:p>
                      <a:pPr marL="0" indent="0" algn="l">
                        <a:buNone/>
                      </a:pPr>
                      <a:r>
                        <a:rPr lang="en-US" sz="800" dirty="0">
                          <a:solidFill>
                            <a:srgbClr val="0A0A0A"/>
                          </a:solidFill>
                          <a:latin typeface="Courier New" pitchFamily="34" charset="0"/>
                          <a:ea typeface="Courier New" pitchFamily="34" charset="-122"/>
                          <a:cs typeface="Courier New" pitchFamily="34" charset="-120"/>
                        </a:rPr>
                        <a:t>P11</a:t>
                      </a:r>
                      <a:endParaRPr lang="en-US" sz="800" dirty="0">
                        <a:latin typeface="Courier New" charset="0"/>
                        <a:ea typeface="Courier New" charset="0"/>
                        <a:cs typeface="Courier New"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Binary PQC Toolchain</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2024</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Binary-level detection and migration assistance</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Pre-standardisation; complementary level</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800" dirty="0">
                          <a:solidFill>
                            <a:srgbClr val="0A0A0A"/>
                          </a:solidFill>
                          <a:latin typeface="Courier New" pitchFamily="34" charset="0"/>
                          <a:ea typeface="Courier New" pitchFamily="34" charset="-122"/>
                          <a:cs typeface="Courier New" pitchFamily="34" charset="-120"/>
                        </a:rPr>
                        <a:t>P12</a:t>
                      </a:r>
                      <a:endParaRPr lang="en-US" sz="800" dirty="0">
                        <a:latin typeface="Courier New" charset="0"/>
                        <a:ea typeface="Courier New" charset="0"/>
                        <a:cs typeface="Courier New"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Cost of Waiting</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2026</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Decision-theoretic migration-timing synthesis</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Utility model under CRQC-date uncertainty</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0">
                <a:tc>
                  <a:txBody>
                    <a:bodyPr/>
                    <a:lstStyle/>
                    <a:p>
                      <a:pPr marL="0" indent="0" algn="l">
                        <a:buNone/>
                      </a:pPr>
                      <a:r>
                        <a:rPr lang="en-US" sz="800" dirty="0">
                          <a:solidFill>
                            <a:srgbClr val="0A0A0A"/>
                          </a:solidFill>
                          <a:latin typeface="Courier New" pitchFamily="34" charset="0"/>
                          <a:ea typeface="Courier New" pitchFamily="34" charset="-122"/>
                          <a:cs typeface="Courier New" pitchFamily="34" charset="-120"/>
                        </a:rPr>
                        <a:t>P13</a:t>
                      </a:r>
                      <a:endParaRPr lang="en-US" sz="800" dirty="0">
                        <a:latin typeface="Courier New" charset="0"/>
                        <a:ea typeface="Courier New" charset="0"/>
                        <a:cs typeface="Courier New"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CryptoGuard (Rahaman et al.)</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CCS 2019</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Backward dataflow; 22 classes of crypto API misuse in Java</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Classical baseline; proves inter-procedural crypto dataflow at scale</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lgn="l">
                        <a:buNone/>
                      </a:pPr>
                      <a:r>
                        <a:rPr lang="en-US" sz="800" dirty="0">
                          <a:solidFill>
                            <a:srgbClr val="0A0A0A"/>
                          </a:solidFill>
                          <a:latin typeface="Courier New" pitchFamily="34" charset="0"/>
                          <a:ea typeface="Courier New" pitchFamily="34" charset="-122"/>
                          <a:cs typeface="Courier New" pitchFamily="34" charset="-120"/>
                        </a:rPr>
                        <a:t>P14</a:t>
                      </a:r>
                      <a:endParaRPr lang="en-US" sz="800" dirty="0">
                        <a:latin typeface="Courier New" charset="0"/>
                        <a:ea typeface="Courier New" charset="0"/>
                        <a:cs typeface="Courier New"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PQC Migration SLR (Näther et al.)</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2024</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SLR; 4 migration phases, role archetypes</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Field called “chaotic”; terminology inconsistent</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extLst>
                  <a:ext uri="{0D108BD9-81ED-4DB2-BD59-A6C34878D82A}">
                    <a16:rowId xmlns:a16="http://schemas.microsoft.com/office/drawing/2014/main" val="10006"/>
                  </a:ext>
                </a:extLst>
              </a:tr>
              <a:tr h="0">
                <a:tc>
                  <a:txBody>
                    <a:bodyPr/>
                    <a:lstStyle/>
                    <a:p>
                      <a:pPr marL="0" indent="0" algn="l">
                        <a:buNone/>
                      </a:pPr>
                      <a:r>
                        <a:rPr lang="en-US" sz="800" dirty="0">
                          <a:solidFill>
                            <a:srgbClr val="0A0A0A"/>
                          </a:solidFill>
                          <a:latin typeface="Courier New" pitchFamily="34" charset="0"/>
                          <a:ea typeface="Courier New" pitchFamily="34" charset="-122"/>
                          <a:cs typeface="Courier New" pitchFamily="34" charset="-120"/>
                        </a:rPr>
                        <a:t>P15</a:t>
                      </a:r>
                      <a:endParaRPr lang="en-US" sz="800" dirty="0">
                        <a:latin typeface="Courier New" charset="0"/>
                        <a:ea typeface="Courier New" charset="0"/>
                        <a:cs typeface="Courier New"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Federal Reserve HNDL</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2025</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Economic / financial-stability framing of HNDL</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Supervisory concern independent of CRQC date</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0" indent="0" algn="l">
                        <a:buNone/>
                      </a:pPr>
                      <a:r>
                        <a:rPr lang="en-US" sz="800" dirty="0">
                          <a:solidFill>
                            <a:srgbClr val="0A0A0A"/>
                          </a:solidFill>
                          <a:latin typeface="Courier New" pitchFamily="34" charset="0"/>
                          <a:ea typeface="Courier New" pitchFamily="34" charset="-122"/>
                          <a:cs typeface="Courier New" pitchFamily="34" charset="-120"/>
                        </a:rPr>
                        <a:t>P16</a:t>
                      </a:r>
                      <a:endParaRPr lang="en-US" sz="800" dirty="0">
                        <a:latin typeface="Courier New" charset="0"/>
                        <a:ea typeface="Courier New" charset="0"/>
                        <a:cs typeface="Courier New"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CogniCrypt (Krüger et al.)</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ASE 2017</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Developer-facing correct crypto code generation</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2026 evidence: general LLMs now exceed CogniCrypt on misuse precision/recall</a:t>
                      </a:r>
                      <a:endParaRPr lang="en-US" sz="800" dirty="0">
                        <a:latin typeface="Carlito" charset="0"/>
                        <a:ea typeface="Carlito" charset="0"/>
                        <a:cs typeface="Carlito" charset="0"/>
                      </a:endParaRPr>
                    </a:p>
                  </a:txBody>
                  <a:tcPr marL="39291" marR="57150" marT="57150" marB="3929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extLst>
                  <a:ext uri="{0D108BD9-81ED-4DB2-BD59-A6C34878D82A}">
                    <a16:rowId xmlns:a16="http://schemas.microsoft.com/office/drawing/2014/main" val="10008"/>
                  </a:ext>
                </a:extLst>
              </a:tr>
            </a:tbl>
          </a:graphicData>
        </a:graphic>
      </p:graphicFrame>
      <p:sp>
        <p:nvSpPr>
          <p:cNvPr id="9" name="Shape 6"/>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10" name="Text 7"/>
          <p:cNvSpPr/>
          <p:nvPr/>
        </p:nvSpPr>
        <p:spPr>
          <a:xfrm>
            <a:off x="1463040" y="4846320"/>
            <a:ext cx="7132320" cy="137160"/>
          </a:xfrm>
          <a:prstGeom prst="rect">
            <a:avLst/>
          </a:prstGeom>
          <a:noFill/>
          <a:ln/>
        </p:spPr>
        <p:txBody>
          <a:bodyPr wrap="squar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05 — LITERATURE SURVEY</a:t>
            </a:r>
            <a:endParaRPr lang="en-US" sz="800" dirty="0"/>
          </a:p>
        </p:txBody>
      </p:sp>
      <p:sp>
        <p:nvSpPr>
          <p:cNvPr id="11" name="Text 8"/>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20 / 39</a:t>
            </a:r>
            <a:endParaRPr lang="en-US" sz="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750174"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7278812" y="400050"/>
            <a:ext cx="1350838" cy="117872"/>
          </a:xfrm>
          <a:prstGeom prst="rect">
            <a:avLst/>
          </a:prstGeom>
          <a:noFill/>
          <a:ln/>
        </p:spPr>
        <p:txBody>
          <a:bodyPr wrap="non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REVIEW REPORT I — PAGE 21</a:t>
            </a:r>
            <a:endParaRPr lang="en-US" sz="619" dirty="0"/>
          </a:p>
        </p:txBody>
      </p:sp>
      <p:sp>
        <p:nvSpPr>
          <p:cNvPr id="5" name="Text 3"/>
          <p:cNvSpPr/>
          <p:nvPr/>
        </p:nvSpPr>
        <p:spPr>
          <a:xfrm>
            <a:off x="514350" y="796528"/>
            <a:ext cx="8629650" cy="164592"/>
          </a:xfrm>
          <a:prstGeom prst="rect">
            <a:avLst/>
          </a:prstGeom>
          <a:noFill/>
          <a:ln/>
        </p:spPr>
        <p:txBody>
          <a:bodyPr wrap="square" lIns="0" tIns="0" rIns="0" bIns="0" rtlCol="0" anchor="t"/>
          <a:lstStyle/>
          <a:p>
            <a:pPr marL="0" indent="0" algn="l">
              <a:lnSpc>
                <a:spcPts val="928"/>
              </a:lnSpc>
              <a:buNone/>
            </a:pPr>
            <a:r>
              <a:rPr lang="en-US" sz="800" kern="0" spc="136" dirty="0">
                <a:solidFill>
                  <a:srgbClr val="4A4A4A"/>
                </a:solidFill>
                <a:latin typeface="Carlito" pitchFamily="34" charset="0"/>
                <a:ea typeface="Carlito" pitchFamily="34" charset="-122"/>
                <a:cs typeface="Carlito" pitchFamily="34" charset="-120"/>
              </a:rPr>
              <a:t>5.3 CRITICAL ANALYSIS — P1 CRYSY (BASELINE)</a:t>
            </a:r>
            <a:endParaRPr lang="en-US" sz="800" dirty="0"/>
          </a:p>
        </p:txBody>
      </p:sp>
      <p:sp>
        <p:nvSpPr>
          <p:cNvPr id="6" name="Text 4"/>
          <p:cNvSpPr/>
          <p:nvPr/>
        </p:nvSpPr>
        <p:spPr>
          <a:xfrm>
            <a:off x="514350" y="1000125"/>
            <a:ext cx="8486775" cy="345619"/>
          </a:xfrm>
          <a:prstGeom prst="rect">
            <a:avLst/>
          </a:prstGeom>
          <a:noFill/>
          <a:ln/>
        </p:spPr>
        <p:txBody>
          <a:bodyPr wrap="squar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The strongest and closest baseline.</a:t>
            </a:r>
            <a:endParaRPr lang="en-US" sz="2250" dirty="0"/>
          </a:p>
        </p:txBody>
      </p:sp>
      <p:sp>
        <p:nvSpPr>
          <p:cNvPr id="7" name="Text 5"/>
          <p:cNvSpPr/>
          <p:nvPr/>
        </p:nvSpPr>
        <p:spPr>
          <a:xfrm>
            <a:off x="514350" y="1434443"/>
            <a:ext cx="8115300" cy="7144"/>
          </a:xfrm>
          <a:prstGeom prst="rect">
            <a:avLst/>
          </a:prstGeom>
          <a:solidFill>
            <a:srgbClr val="D9D9D9"/>
          </a:solidFill>
          <a:ln/>
        </p:spPr>
        <p:txBody>
          <a:bodyPr wrap="square" rtlCol="0" anchor="ctr"/>
          <a:lstStyle/>
          <a:p>
            <a:pPr marL="0" indent="0">
              <a:buNone/>
            </a:pPr>
            <a:endParaRPr lang="en-US" dirty="0"/>
          </a:p>
        </p:txBody>
      </p:sp>
      <p:sp>
        <p:nvSpPr>
          <p:cNvPr id="8" name="Shape 6"/>
          <p:cNvSpPr/>
          <p:nvPr/>
        </p:nvSpPr>
        <p:spPr>
          <a:xfrm>
            <a:off x="4568428" y="1613036"/>
            <a:ext cx="0" cy="3130414"/>
          </a:xfrm>
          <a:prstGeom prst="line">
            <a:avLst/>
          </a:prstGeom>
          <a:noFill/>
          <a:ln w="7144">
            <a:solidFill>
              <a:srgbClr val="D1D5DB"/>
            </a:solidFill>
            <a:prstDash val="solid"/>
          </a:ln>
        </p:spPr>
        <p:txBody>
          <a:bodyPr/>
          <a:lstStyle/>
          <a:p>
            <a:endParaRPr lang="en-US"/>
          </a:p>
        </p:txBody>
      </p:sp>
      <p:sp>
        <p:nvSpPr>
          <p:cNvPr id="9" name="Text 7"/>
          <p:cNvSpPr/>
          <p:nvPr/>
        </p:nvSpPr>
        <p:spPr>
          <a:xfrm>
            <a:off x="514350" y="1613036"/>
            <a:ext cx="3931634" cy="164592"/>
          </a:xfrm>
          <a:prstGeom prst="rect">
            <a:avLst/>
          </a:prstGeom>
          <a:noFill/>
          <a:ln/>
        </p:spPr>
        <p:txBody>
          <a:bodyPr wrap="square" lIns="0" tIns="0" rIns="0" bIns="0" rtlCol="0" anchor="t"/>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FLAWS (ADMITTED BY AUTHORS)</a:t>
            </a:r>
            <a:endParaRPr lang="en-US" sz="800" dirty="0"/>
          </a:p>
        </p:txBody>
      </p:sp>
      <p:sp>
        <p:nvSpPr>
          <p:cNvPr id="10" name="Text 8"/>
          <p:cNvSpPr/>
          <p:nvPr/>
        </p:nvSpPr>
        <p:spPr>
          <a:xfrm>
            <a:off x="503377" y="1890357"/>
            <a:ext cx="246639" cy="224028"/>
          </a:xfrm>
          <a:prstGeom prst="rect">
            <a:avLst/>
          </a:prstGeom>
          <a:noFill/>
          <a:ln w="7144">
            <a:solidFill>
              <a:srgbClr val="0A0A0A"/>
            </a:solidFill>
            <a:prstDash val="solid"/>
          </a:ln>
        </p:spPr>
        <p:txBody>
          <a:bodyPr wrap="square" rtlCol="0" anchor="ctr"/>
          <a:lstStyle/>
          <a:p>
            <a:pPr marL="0" indent="0">
              <a:buNone/>
            </a:pPr>
            <a:endParaRPr lang="en-US" dirty="0"/>
          </a:p>
        </p:txBody>
      </p:sp>
      <p:sp>
        <p:nvSpPr>
          <p:cNvPr id="11" name="Text 9"/>
          <p:cNvSpPr/>
          <p:nvPr/>
        </p:nvSpPr>
        <p:spPr>
          <a:xfrm>
            <a:off x="514350" y="1902358"/>
            <a:ext cx="224693" cy="256032"/>
          </a:xfrm>
          <a:prstGeom prst="rect">
            <a:avLst/>
          </a:prstGeom>
          <a:noFill/>
          <a:ln/>
        </p:spPr>
        <p:txBody>
          <a:bodyPr wrap="none" lIns="57150" tIns="28575" rIns="57150" bIns="28575" rtlCol="0" anchor="t"/>
          <a:lstStyle/>
          <a:p>
            <a:pPr marL="0" indent="0" algn="l">
              <a:lnSpc>
                <a:spcPts val="1013"/>
              </a:lnSpc>
              <a:buNone/>
            </a:pPr>
            <a:r>
              <a:rPr lang="en-US" sz="800" kern="0" spc="41" dirty="0">
                <a:solidFill>
                  <a:srgbClr val="0A0A0A"/>
                </a:solidFill>
                <a:latin typeface="Liberation Sans Narrow" pitchFamily="34" charset="0"/>
                <a:ea typeface="Liberation Sans Narrow" pitchFamily="34" charset="-122"/>
                <a:cs typeface="Liberation Sans Narrow" pitchFamily="34" charset="-120"/>
              </a:rPr>
              <a:t>01</a:t>
            </a:r>
            <a:endParaRPr lang="en-US" sz="800" dirty="0"/>
          </a:p>
        </p:txBody>
      </p:sp>
      <p:sp>
        <p:nvSpPr>
          <p:cNvPr id="12" name="Text 10"/>
          <p:cNvSpPr/>
          <p:nvPr/>
        </p:nvSpPr>
        <p:spPr>
          <a:xfrm>
            <a:off x="1165547" y="1902358"/>
            <a:ext cx="3170597" cy="245791"/>
          </a:xfrm>
          <a:prstGeom prst="rect">
            <a:avLst/>
          </a:prstGeom>
          <a:noFill/>
          <a:ln/>
        </p:spPr>
        <p:txBody>
          <a:bodyPr wrap="square" lIns="0" tIns="0" rIns="0" bIns="0" rtlCol="0" anchor="t"/>
          <a:lstStyle/>
          <a:p>
            <a:pPr marL="0" indent="0" algn="l">
              <a:lnSpc>
                <a:spcPts val="1055"/>
              </a:lnSpc>
              <a:buNone/>
            </a:pPr>
            <a:r>
              <a:rPr lang="en-US" sz="703" dirty="0">
                <a:solidFill>
                  <a:srgbClr val="1F1F1F"/>
                </a:solidFill>
                <a:latin typeface="Carlito" pitchFamily="34" charset="0"/>
                <a:ea typeface="Carlito" pitchFamily="34" charset="-122"/>
                <a:cs typeface="Carlito" pitchFamily="34" charset="-120"/>
              </a:rPr>
              <a:t>Context-blindness: real-world actionable precision ≈ 0.3.</a:t>
            </a:r>
            <a:endParaRPr lang="en-US" sz="703" dirty="0"/>
          </a:p>
        </p:txBody>
      </p:sp>
      <p:sp>
        <p:nvSpPr>
          <p:cNvPr id="13" name="Text 11"/>
          <p:cNvSpPr/>
          <p:nvPr/>
        </p:nvSpPr>
        <p:spPr>
          <a:xfrm>
            <a:off x="514350" y="2159533"/>
            <a:ext cx="3821906" cy="7144"/>
          </a:xfrm>
          <a:prstGeom prst="rect">
            <a:avLst/>
          </a:prstGeom>
          <a:solidFill>
            <a:srgbClr val="D9D9D9"/>
          </a:solidFill>
          <a:ln/>
        </p:spPr>
        <p:txBody>
          <a:bodyPr wrap="square" rtlCol="0" anchor="ctr"/>
          <a:lstStyle/>
          <a:p>
            <a:pPr marL="0" indent="0">
              <a:buNone/>
            </a:pPr>
            <a:endParaRPr lang="en-US" dirty="0"/>
          </a:p>
        </p:txBody>
      </p:sp>
      <p:sp>
        <p:nvSpPr>
          <p:cNvPr id="14" name="Text 12"/>
          <p:cNvSpPr/>
          <p:nvPr/>
        </p:nvSpPr>
        <p:spPr>
          <a:xfrm>
            <a:off x="503377" y="2211826"/>
            <a:ext cx="246639" cy="224028"/>
          </a:xfrm>
          <a:prstGeom prst="rect">
            <a:avLst/>
          </a:prstGeom>
          <a:noFill/>
          <a:ln w="7144">
            <a:solidFill>
              <a:srgbClr val="0A0A0A"/>
            </a:solidFill>
            <a:prstDash val="solid"/>
          </a:ln>
        </p:spPr>
        <p:txBody>
          <a:bodyPr wrap="square" rtlCol="0" anchor="ctr"/>
          <a:lstStyle/>
          <a:p>
            <a:pPr marL="0" indent="0">
              <a:buNone/>
            </a:pPr>
            <a:endParaRPr lang="en-US" dirty="0"/>
          </a:p>
        </p:txBody>
      </p:sp>
      <p:sp>
        <p:nvSpPr>
          <p:cNvPr id="15" name="Text 13"/>
          <p:cNvSpPr/>
          <p:nvPr/>
        </p:nvSpPr>
        <p:spPr>
          <a:xfrm>
            <a:off x="514350" y="2223827"/>
            <a:ext cx="224693" cy="256032"/>
          </a:xfrm>
          <a:prstGeom prst="rect">
            <a:avLst/>
          </a:prstGeom>
          <a:noFill/>
          <a:ln/>
        </p:spPr>
        <p:txBody>
          <a:bodyPr wrap="none" lIns="57150" tIns="28575" rIns="57150" bIns="28575" rtlCol="0" anchor="t"/>
          <a:lstStyle/>
          <a:p>
            <a:pPr marL="0" indent="0" algn="l">
              <a:lnSpc>
                <a:spcPts val="1013"/>
              </a:lnSpc>
              <a:buNone/>
            </a:pPr>
            <a:r>
              <a:rPr lang="en-US" sz="800" kern="0" spc="41" dirty="0">
                <a:solidFill>
                  <a:srgbClr val="0A0A0A"/>
                </a:solidFill>
                <a:latin typeface="Liberation Sans Narrow" pitchFamily="34" charset="0"/>
                <a:ea typeface="Liberation Sans Narrow" pitchFamily="34" charset="-122"/>
                <a:cs typeface="Liberation Sans Narrow" pitchFamily="34" charset="-120"/>
              </a:rPr>
              <a:t>02</a:t>
            </a:r>
            <a:endParaRPr lang="en-US" sz="800" dirty="0"/>
          </a:p>
        </p:txBody>
      </p:sp>
      <p:sp>
        <p:nvSpPr>
          <p:cNvPr id="16" name="Text 14"/>
          <p:cNvSpPr/>
          <p:nvPr/>
        </p:nvSpPr>
        <p:spPr>
          <a:xfrm>
            <a:off x="1165547" y="2223827"/>
            <a:ext cx="3170597" cy="245791"/>
          </a:xfrm>
          <a:prstGeom prst="rect">
            <a:avLst/>
          </a:prstGeom>
          <a:noFill/>
          <a:ln/>
        </p:spPr>
        <p:txBody>
          <a:bodyPr wrap="square" lIns="0" tIns="0" rIns="0" bIns="0" rtlCol="0" anchor="t"/>
          <a:lstStyle/>
          <a:p>
            <a:pPr marL="0" indent="0" algn="l">
              <a:lnSpc>
                <a:spcPts val="1055"/>
              </a:lnSpc>
              <a:buNone/>
            </a:pPr>
            <a:r>
              <a:rPr lang="en-US" sz="703" dirty="0">
                <a:solidFill>
                  <a:srgbClr val="1F1F1F"/>
                </a:solidFill>
                <a:latin typeface="Carlito" pitchFamily="34" charset="0"/>
                <a:ea typeface="Carlito" pitchFamily="34" charset="-122"/>
                <a:cs typeface="Carlito" pitchFamily="34" charset="-120"/>
              </a:rPr>
              <a:t>No dataflow: a pattern matcher with no notion of protected data.</a:t>
            </a:r>
            <a:endParaRPr lang="en-US" sz="703" dirty="0"/>
          </a:p>
        </p:txBody>
      </p:sp>
      <p:sp>
        <p:nvSpPr>
          <p:cNvPr id="17" name="Text 15"/>
          <p:cNvSpPr/>
          <p:nvPr/>
        </p:nvSpPr>
        <p:spPr>
          <a:xfrm>
            <a:off x="514350" y="2481002"/>
            <a:ext cx="3821906" cy="7144"/>
          </a:xfrm>
          <a:prstGeom prst="rect">
            <a:avLst/>
          </a:prstGeom>
          <a:solidFill>
            <a:srgbClr val="D9D9D9"/>
          </a:solidFill>
          <a:ln/>
        </p:spPr>
        <p:txBody>
          <a:bodyPr wrap="square" rtlCol="0" anchor="ctr"/>
          <a:lstStyle/>
          <a:p>
            <a:pPr marL="0" indent="0">
              <a:buNone/>
            </a:pPr>
            <a:endParaRPr lang="en-US" dirty="0"/>
          </a:p>
        </p:txBody>
      </p:sp>
      <p:sp>
        <p:nvSpPr>
          <p:cNvPr id="18" name="Text 16"/>
          <p:cNvSpPr/>
          <p:nvPr/>
        </p:nvSpPr>
        <p:spPr>
          <a:xfrm>
            <a:off x="503377" y="2533294"/>
            <a:ext cx="246639" cy="224028"/>
          </a:xfrm>
          <a:prstGeom prst="rect">
            <a:avLst/>
          </a:prstGeom>
          <a:noFill/>
          <a:ln w="7144">
            <a:solidFill>
              <a:srgbClr val="0A0A0A"/>
            </a:solidFill>
            <a:prstDash val="solid"/>
          </a:ln>
        </p:spPr>
        <p:txBody>
          <a:bodyPr wrap="square" rtlCol="0" anchor="ctr"/>
          <a:lstStyle/>
          <a:p>
            <a:pPr marL="0" indent="0">
              <a:buNone/>
            </a:pPr>
            <a:endParaRPr lang="en-US" dirty="0"/>
          </a:p>
        </p:txBody>
      </p:sp>
      <p:sp>
        <p:nvSpPr>
          <p:cNvPr id="19" name="Text 17"/>
          <p:cNvSpPr/>
          <p:nvPr/>
        </p:nvSpPr>
        <p:spPr>
          <a:xfrm>
            <a:off x="514350" y="2545296"/>
            <a:ext cx="224693" cy="256032"/>
          </a:xfrm>
          <a:prstGeom prst="rect">
            <a:avLst/>
          </a:prstGeom>
          <a:noFill/>
          <a:ln/>
        </p:spPr>
        <p:txBody>
          <a:bodyPr wrap="none" lIns="57150" tIns="28575" rIns="57150" bIns="28575" rtlCol="0" anchor="t"/>
          <a:lstStyle/>
          <a:p>
            <a:pPr marL="0" indent="0" algn="l">
              <a:lnSpc>
                <a:spcPts val="1013"/>
              </a:lnSpc>
              <a:buNone/>
            </a:pPr>
            <a:r>
              <a:rPr lang="en-US" sz="800" kern="0" spc="41" dirty="0">
                <a:solidFill>
                  <a:srgbClr val="0A0A0A"/>
                </a:solidFill>
                <a:latin typeface="Liberation Sans Narrow" pitchFamily="34" charset="0"/>
                <a:ea typeface="Liberation Sans Narrow" pitchFamily="34" charset="-122"/>
                <a:cs typeface="Liberation Sans Narrow" pitchFamily="34" charset="-120"/>
              </a:rPr>
              <a:t>03</a:t>
            </a:r>
            <a:endParaRPr lang="en-US" sz="800" dirty="0"/>
          </a:p>
        </p:txBody>
      </p:sp>
      <p:sp>
        <p:nvSpPr>
          <p:cNvPr id="20" name="Text 18"/>
          <p:cNvSpPr/>
          <p:nvPr/>
        </p:nvSpPr>
        <p:spPr>
          <a:xfrm>
            <a:off x="1165547" y="2545296"/>
            <a:ext cx="3170597" cy="245791"/>
          </a:xfrm>
          <a:prstGeom prst="rect">
            <a:avLst/>
          </a:prstGeom>
          <a:noFill/>
          <a:ln/>
        </p:spPr>
        <p:txBody>
          <a:bodyPr wrap="square" lIns="0" tIns="0" rIns="0" bIns="0" rtlCol="0" anchor="t"/>
          <a:lstStyle/>
          <a:p>
            <a:pPr marL="0" indent="0" algn="l">
              <a:lnSpc>
                <a:spcPts val="1055"/>
              </a:lnSpc>
              <a:buNone/>
            </a:pPr>
            <a:r>
              <a:rPr lang="en-US" sz="703" dirty="0">
                <a:solidFill>
                  <a:srgbClr val="1F1F1F"/>
                </a:solidFill>
                <a:latin typeface="Carlito" pitchFamily="34" charset="0"/>
                <a:ea typeface="Carlito" pitchFamily="34" charset="-122"/>
                <a:cs typeface="Carlito" pitchFamily="34" charset="-120"/>
              </a:rPr>
              <a:t>No prioritisation: 52 candidates reported as a set, not an order.</a:t>
            </a:r>
            <a:endParaRPr lang="en-US" sz="703" dirty="0"/>
          </a:p>
        </p:txBody>
      </p:sp>
      <p:sp>
        <p:nvSpPr>
          <p:cNvPr id="21" name="Text 19"/>
          <p:cNvSpPr/>
          <p:nvPr/>
        </p:nvSpPr>
        <p:spPr>
          <a:xfrm>
            <a:off x="514350" y="2802471"/>
            <a:ext cx="3821906" cy="7144"/>
          </a:xfrm>
          <a:prstGeom prst="rect">
            <a:avLst/>
          </a:prstGeom>
          <a:solidFill>
            <a:srgbClr val="D9D9D9"/>
          </a:solidFill>
          <a:ln/>
        </p:spPr>
        <p:txBody>
          <a:bodyPr wrap="square" rtlCol="0" anchor="ctr"/>
          <a:lstStyle/>
          <a:p>
            <a:pPr marL="0" indent="0">
              <a:buNone/>
            </a:pPr>
            <a:endParaRPr lang="en-US" dirty="0"/>
          </a:p>
        </p:txBody>
      </p:sp>
      <p:sp>
        <p:nvSpPr>
          <p:cNvPr id="22" name="Text 20"/>
          <p:cNvSpPr/>
          <p:nvPr/>
        </p:nvSpPr>
        <p:spPr>
          <a:xfrm>
            <a:off x="503377" y="2854763"/>
            <a:ext cx="246639" cy="224028"/>
          </a:xfrm>
          <a:prstGeom prst="rect">
            <a:avLst/>
          </a:prstGeom>
          <a:noFill/>
          <a:ln w="7144">
            <a:solidFill>
              <a:srgbClr val="0A0A0A"/>
            </a:solidFill>
            <a:prstDash val="solid"/>
          </a:ln>
        </p:spPr>
        <p:txBody>
          <a:bodyPr wrap="square" rtlCol="0" anchor="ctr"/>
          <a:lstStyle/>
          <a:p>
            <a:pPr marL="0" indent="0">
              <a:buNone/>
            </a:pPr>
            <a:endParaRPr lang="en-US" dirty="0"/>
          </a:p>
        </p:txBody>
      </p:sp>
      <p:sp>
        <p:nvSpPr>
          <p:cNvPr id="23" name="Text 21"/>
          <p:cNvSpPr/>
          <p:nvPr/>
        </p:nvSpPr>
        <p:spPr>
          <a:xfrm>
            <a:off x="514350" y="2866765"/>
            <a:ext cx="224693" cy="256032"/>
          </a:xfrm>
          <a:prstGeom prst="rect">
            <a:avLst/>
          </a:prstGeom>
          <a:noFill/>
          <a:ln/>
        </p:spPr>
        <p:txBody>
          <a:bodyPr wrap="none" lIns="57150" tIns="28575" rIns="57150" bIns="28575" rtlCol="0" anchor="t"/>
          <a:lstStyle/>
          <a:p>
            <a:pPr marL="0" indent="0" algn="l">
              <a:lnSpc>
                <a:spcPts val="1013"/>
              </a:lnSpc>
              <a:buNone/>
            </a:pPr>
            <a:r>
              <a:rPr lang="en-US" sz="800" kern="0" spc="41" dirty="0">
                <a:solidFill>
                  <a:srgbClr val="0A0A0A"/>
                </a:solidFill>
                <a:latin typeface="Liberation Sans Narrow" pitchFamily="34" charset="0"/>
                <a:ea typeface="Liberation Sans Narrow" pitchFamily="34" charset="-122"/>
                <a:cs typeface="Liberation Sans Narrow" pitchFamily="34" charset="-120"/>
              </a:rPr>
              <a:t>04</a:t>
            </a:r>
            <a:endParaRPr lang="en-US" sz="800" dirty="0"/>
          </a:p>
        </p:txBody>
      </p:sp>
      <p:sp>
        <p:nvSpPr>
          <p:cNvPr id="24" name="Text 22"/>
          <p:cNvSpPr/>
          <p:nvPr/>
        </p:nvSpPr>
        <p:spPr>
          <a:xfrm>
            <a:off x="1165547" y="2866765"/>
            <a:ext cx="3170597" cy="245791"/>
          </a:xfrm>
          <a:prstGeom prst="rect">
            <a:avLst/>
          </a:prstGeom>
          <a:noFill/>
          <a:ln/>
        </p:spPr>
        <p:txBody>
          <a:bodyPr wrap="square" lIns="0" tIns="0" rIns="0" bIns="0" rtlCol="0" anchor="t"/>
          <a:lstStyle/>
          <a:p>
            <a:pPr marL="0" indent="0" algn="l">
              <a:lnSpc>
                <a:spcPts val="1055"/>
              </a:lnSpc>
              <a:buNone/>
            </a:pPr>
            <a:r>
              <a:rPr lang="en-US" sz="703" dirty="0">
                <a:solidFill>
                  <a:srgbClr val="1F1F1F"/>
                </a:solidFill>
                <a:latin typeface="Carlito" pitchFamily="34" charset="0"/>
                <a:ea typeface="Carlito" pitchFamily="34" charset="-122"/>
                <a:cs typeface="Carlito" pitchFamily="34" charset="-120"/>
              </a:rPr>
              <a:t>Recall asymmetry: P 0.87 / R 0.66 — a third of ground-truth assets missed.</a:t>
            </a:r>
            <a:endParaRPr lang="en-US" sz="703" dirty="0"/>
          </a:p>
        </p:txBody>
      </p:sp>
      <p:sp>
        <p:nvSpPr>
          <p:cNvPr id="25" name="Text 23"/>
          <p:cNvSpPr/>
          <p:nvPr/>
        </p:nvSpPr>
        <p:spPr>
          <a:xfrm>
            <a:off x="514350" y="3123940"/>
            <a:ext cx="3821906" cy="7144"/>
          </a:xfrm>
          <a:prstGeom prst="rect">
            <a:avLst/>
          </a:prstGeom>
          <a:solidFill>
            <a:srgbClr val="D9D9D9"/>
          </a:solidFill>
          <a:ln/>
        </p:spPr>
        <p:txBody>
          <a:bodyPr wrap="square" rtlCol="0" anchor="ctr"/>
          <a:lstStyle/>
          <a:p>
            <a:pPr marL="0" indent="0">
              <a:buNone/>
            </a:pPr>
            <a:endParaRPr lang="en-US" dirty="0"/>
          </a:p>
        </p:txBody>
      </p:sp>
      <p:sp>
        <p:nvSpPr>
          <p:cNvPr id="26" name="Text 24"/>
          <p:cNvSpPr/>
          <p:nvPr/>
        </p:nvSpPr>
        <p:spPr>
          <a:xfrm>
            <a:off x="503377" y="3176232"/>
            <a:ext cx="246639" cy="224028"/>
          </a:xfrm>
          <a:prstGeom prst="rect">
            <a:avLst/>
          </a:prstGeom>
          <a:noFill/>
          <a:ln w="7144">
            <a:solidFill>
              <a:srgbClr val="0A0A0A"/>
            </a:solidFill>
            <a:prstDash val="solid"/>
          </a:ln>
        </p:spPr>
        <p:txBody>
          <a:bodyPr wrap="square" rtlCol="0" anchor="ctr"/>
          <a:lstStyle/>
          <a:p>
            <a:pPr marL="0" indent="0">
              <a:buNone/>
            </a:pPr>
            <a:endParaRPr lang="en-US" dirty="0"/>
          </a:p>
        </p:txBody>
      </p:sp>
      <p:sp>
        <p:nvSpPr>
          <p:cNvPr id="27" name="Text 25"/>
          <p:cNvSpPr/>
          <p:nvPr/>
        </p:nvSpPr>
        <p:spPr>
          <a:xfrm>
            <a:off x="514350" y="3188233"/>
            <a:ext cx="224693" cy="256032"/>
          </a:xfrm>
          <a:prstGeom prst="rect">
            <a:avLst/>
          </a:prstGeom>
          <a:noFill/>
          <a:ln/>
        </p:spPr>
        <p:txBody>
          <a:bodyPr wrap="none" lIns="57150" tIns="28575" rIns="57150" bIns="28575" rtlCol="0" anchor="t"/>
          <a:lstStyle/>
          <a:p>
            <a:pPr marL="0" indent="0" algn="l">
              <a:lnSpc>
                <a:spcPts val="1013"/>
              </a:lnSpc>
              <a:buNone/>
            </a:pPr>
            <a:r>
              <a:rPr lang="en-US" sz="800" kern="0" spc="41" dirty="0">
                <a:solidFill>
                  <a:srgbClr val="0A0A0A"/>
                </a:solidFill>
                <a:latin typeface="Liberation Sans Narrow" pitchFamily="34" charset="0"/>
                <a:ea typeface="Liberation Sans Narrow" pitchFamily="34" charset="-122"/>
                <a:cs typeface="Liberation Sans Narrow" pitchFamily="34" charset="-120"/>
              </a:rPr>
              <a:t>05</a:t>
            </a:r>
            <a:endParaRPr lang="en-US" sz="800" dirty="0"/>
          </a:p>
        </p:txBody>
      </p:sp>
      <p:sp>
        <p:nvSpPr>
          <p:cNvPr id="28" name="Text 26"/>
          <p:cNvSpPr/>
          <p:nvPr/>
        </p:nvSpPr>
        <p:spPr>
          <a:xfrm>
            <a:off x="1165547" y="3188233"/>
            <a:ext cx="3170597" cy="245791"/>
          </a:xfrm>
          <a:prstGeom prst="rect">
            <a:avLst/>
          </a:prstGeom>
          <a:noFill/>
          <a:ln/>
        </p:spPr>
        <p:txBody>
          <a:bodyPr wrap="square" lIns="0" tIns="0" rIns="0" bIns="0" rtlCol="0" anchor="t"/>
          <a:lstStyle/>
          <a:p>
            <a:pPr marL="0" indent="0" algn="l">
              <a:lnSpc>
                <a:spcPts val="1055"/>
              </a:lnSpc>
              <a:buNone/>
            </a:pPr>
            <a:r>
              <a:rPr lang="en-US" sz="800" dirty="0">
                <a:solidFill>
                  <a:srgbClr val="1F1F1F"/>
                </a:solidFill>
                <a:latin typeface="Carlito" pitchFamily="34" charset="0"/>
                <a:ea typeface="Carlito" pitchFamily="34" charset="-122"/>
                <a:cs typeface="Carlito" pitchFamily="34" charset="-120"/>
              </a:rPr>
              <a:t>Coverage: Java, C/C++, Python “not yet demonstrated.”</a:t>
            </a:r>
            <a:endParaRPr lang="en-US" sz="800" dirty="0"/>
          </a:p>
        </p:txBody>
      </p:sp>
      <p:sp>
        <p:nvSpPr>
          <p:cNvPr id="29" name="Text 27"/>
          <p:cNvSpPr/>
          <p:nvPr/>
        </p:nvSpPr>
        <p:spPr>
          <a:xfrm>
            <a:off x="514350" y="3445408"/>
            <a:ext cx="3821906" cy="7144"/>
          </a:xfrm>
          <a:prstGeom prst="rect">
            <a:avLst/>
          </a:prstGeom>
          <a:solidFill>
            <a:srgbClr val="D9D9D9"/>
          </a:solidFill>
          <a:ln/>
        </p:spPr>
        <p:txBody>
          <a:bodyPr wrap="square" rtlCol="0" anchor="ctr"/>
          <a:lstStyle/>
          <a:p>
            <a:pPr marL="0" indent="0">
              <a:buNone/>
            </a:pPr>
            <a:endParaRPr lang="en-US" dirty="0"/>
          </a:p>
        </p:txBody>
      </p:sp>
      <p:sp>
        <p:nvSpPr>
          <p:cNvPr id="30" name="Text 28"/>
          <p:cNvSpPr/>
          <p:nvPr/>
        </p:nvSpPr>
        <p:spPr>
          <a:xfrm>
            <a:off x="4800600" y="1613036"/>
            <a:ext cx="4343400"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OUR CORRECTION</a:t>
            </a:r>
            <a:endParaRPr lang="en-US" sz="800" dirty="0"/>
          </a:p>
        </p:txBody>
      </p:sp>
      <p:sp>
        <p:nvSpPr>
          <p:cNvPr id="31" name="Text 29"/>
          <p:cNvSpPr/>
          <p:nvPr/>
        </p:nvSpPr>
        <p:spPr>
          <a:xfrm>
            <a:off x="4800600" y="1845208"/>
            <a:ext cx="3829050" cy="888243"/>
          </a:xfrm>
          <a:prstGeom prst="rect">
            <a:avLst/>
          </a:prstGeom>
          <a:noFill/>
          <a:ln/>
        </p:spPr>
        <p:txBody>
          <a:bodyPr wrap="square" lIns="0" tIns="0" rIns="0" bIns="0" rtlCol="0" anchor="t"/>
          <a:lstStyle/>
          <a:p>
            <a:pPr marL="0" indent="0" algn="l">
              <a:lnSpc>
                <a:spcPts val="1185"/>
              </a:lnSpc>
              <a:buNone/>
            </a:pPr>
            <a:r>
              <a:rPr lang="en-US" sz="800" dirty="0">
                <a:solidFill>
                  <a:srgbClr val="1F1F1F"/>
                </a:solidFill>
                <a:latin typeface="Carlito" pitchFamily="34" charset="0"/>
                <a:ea typeface="Carlito" pitchFamily="34" charset="-122"/>
                <a:cs typeface="Carlito" pitchFamily="34" charset="-120"/>
              </a:rPr>
              <a:t>Treat Crysy's rule corpus as the input to our contribution rather than a competitor. Reuse the discovery layer; add the semantic layer above it. Dataflow context attacks Flaw 1 (a value reaching bcrypt from an HTTP form field is a password; one reaching sha256 from a file handle terminating in a cache key is not), Flaw 2 by construction, Flaw 3 by producing a ranked plan.</a:t>
            </a:r>
            <a:endParaRPr lang="en-US" sz="800" dirty="0"/>
          </a:p>
        </p:txBody>
      </p:sp>
      <p:sp>
        <p:nvSpPr>
          <p:cNvPr id="32" name="Text 30"/>
          <p:cNvSpPr/>
          <p:nvPr/>
        </p:nvSpPr>
        <p:spPr>
          <a:xfrm>
            <a:off x="4800600" y="2711276"/>
            <a:ext cx="3829050" cy="7144"/>
          </a:xfrm>
          <a:prstGeom prst="rect">
            <a:avLst/>
          </a:prstGeom>
          <a:solidFill>
            <a:srgbClr val="D9D9D9"/>
          </a:solidFill>
          <a:ln/>
        </p:spPr>
        <p:txBody>
          <a:bodyPr wrap="square" rtlCol="0" anchor="ctr"/>
          <a:lstStyle/>
          <a:p>
            <a:pPr marL="0" indent="0">
              <a:buNone/>
            </a:pPr>
            <a:endParaRPr lang="en-US" dirty="0"/>
          </a:p>
        </p:txBody>
      </p:sp>
      <p:sp>
        <p:nvSpPr>
          <p:cNvPr id="33" name="Text 31"/>
          <p:cNvSpPr/>
          <p:nvPr/>
        </p:nvSpPr>
        <p:spPr>
          <a:xfrm>
            <a:off x="4800600" y="2832720"/>
            <a:ext cx="3829050" cy="164592"/>
          </a:xfrm>
          <a:prstGeom prst="rect">
            <a:avLst/>
          </a:prstGeom>
          <a:noFill/>
          <a:ln/>
        </p:spPr>
        <p:txBody>
          <a:bodyPr wrap="square" lIns="0" tIns="0" rIns="0" bIns="0" rtlCol="0" anchor="t"/>
          <a:lstStyle/>
          <a:p>
            <a:pPr marL="0" indent="0" algn="l">
              <a:lnSpc>
                <a:spcPts val="1013"/>
              </a:lnSpc>
              <a:buNone/>
            </a:pPr>
            <a:r>
              <a:rPr lang="en-US" sz="675" dirty="0">
                <a:solidFill>
                  <a:srgbClr val="4A4A4A"/>
                </a:solidFill>
                <a:latin typeface="Carlito" pitchFamily="34" charset="0"/>
                <a:ea typeface="Carlito" pitchFamily="34" charset="-122"/>
                <a:cs typeface="Carlito" pitchFamily="34" charset="-120"/>
              </a:rPr>
              <a:t>Flaw 4 partially addressed by constant propagation; Flaw 5 is our scope choice.</a:t>
            </a:r>
            <a:endParaRPr lang="en-US" sz="675" dirty="0"/>
          </a:p>
        </p:txBody>
      </p:sp>
      <p:sp>
        <p:nvSpPr>
          <p:cNvPr id="34" name="Shape 32"/>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35" name="Text 33"/>
          <p:cNvSpPr/>
          <p:nvPr/>
        </p:nvSpPr>
        <p:spPr>
          <a:xfrm>
            <a:off x="1463040" y="4846320"/>
            <a:ext cx="7132320" cy="137160"/>
          </a:xfrm>
          <a:prstGeom prst="rect">
            <a:avLst/>
          </a:prstGeom>
          <a:noFill/>
          <a:ln/>
        </p:spPr>
        <p:txBody>
          <a:bodyPr wrap="squar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05 — LITERATURE SURVEY</a:t>
            </a:r>
            <a:endParaRPr lang="en-US" sz="800" dirty="0"/>
          </a:p>
        </p:txBody>
      </p:sp>
      <p:sp>
        <p:nvSpPr>
          <p:cNvPr id="36" name="Text 34"/>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21 / 39</a:t>
            </a:r>
            <a:endParaRPr lang="en-US" sz="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750174"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7278812" y="400050"/>
            <a:ext cx="1350838" cy="117872"/>
          </a:xfrm>
          <a:prstGeom prst="rect">
            <a:avLst/>
          </a:prstGeom>
          <a:noFill/>
          <a:ln/>
        </p:spPr>
        <p:txBody>
          <a:bodyPr wrap="non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REVIEW REPORT I — PAGE 22</a:t>
            </a:r>
            <a:endParaRPr lang="en-US" sz="619" dirty="0"/>
          </a:p>
        </p:txBody>
      </p:sp>
      <p:sp>
        <p:nvSpPr>
          <p:cNvPr id="5" name="Text 3"/>
          <p:cNvSpPr/>
          <p:nvPr/>
        </p:nvSpPr>
        <p:spPr>
          <a:xfrm>
            <a:off x="514350" y="796528"/>
            <a:ext cx="8629650" cy="164592"/>
          </a:xfrm>
          <a:prstGeom prst="rect">
            <a:avLst/>
          </a:prstGeom>
          <a:noFill/>
          <a:ln/>
        </p:spPr>
        <p:txBody>
          <a:bodyPr wrap="square" lIns="0" tIns="0" rIns="0" bIns="0" rtlCol="0" anchor="t"/>
          <a:lstStyle/>
          <a:p>
            <a:pPr marL="0" indent="0" algn="l">
              <a:lnSpc>
                <a:spcPts val="928"/>
              </a:lnSpc>
              <a:buNone/>
            </a:pPr>
            <a:r>
              <a:rPr lang="en-US" sz="800" kern="0" spc="136" dirty="0">
                <a:solidFill>
                  <a:srgbClr val="4A4A4A"/>
                </a:solidFill>
                <a:latin typeface="Carlito" pitchFamily="34" charset="0"/>
                <a:ea typeface="Carlito" pitchFamily="34" charset="-122"/>
                <a:cs typeface="Carlito" pitchFamily="34" charset="-120"/>
              </a:rPr>
              <a:t>5.3 CRITICAL ANALYSIS — P2 QUANTUM-SAFE CODE AUDITING</a:t>
            </a:r>
            <a:endParaRPr lang="en-US" sz="800" dirty="0"/>
          </a:p>
        </p:txBody>
      </p:sp>
      <p:sp>
        <p:nvSpPr>
          <p:cNvPr id="6" name="Text 4"/>
          <p:cNvSpPr/>
          <p:nvPr/>
        </p:nvSpPr>
        <p:spPr>
          <a:xfrm>
            <a:off x="514350" y="1000125"/>
            <a:ext cx="8486775" cy="345619"/>
          </a:xfrm>
          <a:prstGeom prst="rect">
            <a:avLst/>
          </a:prstGeom>
          <a:noFill/>
          <a:ln/>
        </p:spPr>
        <p:txBody>
          <a:bodyPr wrap="squar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The score cannot discriminate.</a:t>
            </a:r>
            <a:endParaRPr lang="en-US" sz="2250" dirty="0"/>
          </a:p>
        </p:txBody>
      </p:sp>
      <p:sp>
        <p:nvSpPr>
          <p:cNvPr id="7" name="Text 5"/>
          <p:cNvSpPr/>
          <p:nvPr/>
        </p:nvSpPr>
        <p:spPr>
          <a:xfrm>
            <a:off x="514350" y="1434443"/>
            <a:ext cx="8115300" cy="7144"/>
          </a:xfrm>
          <a:prstGeom prst="rect">
            <a:avLst/>
          </a:prstGeom>
          <a:solidFill>
            <a:srgbClr val="D9D9D9"/>
          </a:solidFill>
          <a:ln/>
        </p:spPr>
        <p:txBody>
          <a:bodyPr wrap="square" rtlCol="0" anchor="ctr"/>
          <a:lstStyle/>
          <a:p>
            <a:pPr marL="0" indent="0">
              <a:buNone/>
            </a:pPr>
            <a:endParaRPr lang="en-US" dirty="0"/>
          </a:p>
        </p:txBody>
      </p:sp>
      <p:sp>
        <p:nvSpPr>
          <p:cNvPr id="8" name="Shape 6"/>
          <p:cNvSpPr/>
          <p:nvPr/>
        </p:nvSpPr>
        <p:spPr>
          <a:xfrm>
            <a:off x="4568428" y="1613036"/>
            <a:ext cx="0" cy="3130414"/>
          </a:xfrm>
          <a:prstGeom prst="line">
            <a:avLst/>
          </a:prstGeom>
          <a:noFill/>
          <a:ln w="7144">
            <a:solidFill>
              <a:srgbClr val="D1D5DB"/>
            </a:solidFill>
            <a:prstDash val="solid"/>
          </a:ln>
        </p:spPr>
        <p:txBody>
          <a:bodyPr/>
          <a:lstStyle/>
          <a:p>
            <a:endParaRPr lang="en-US"/>
          </a:p>
        </p:txBody>
      </p:sp>
      <p:sp>
        <p:nvSpPr>
          <p:cNvPr id="9" name="Text 7"/>
          <p:cNvSpPr/>
          <p:nvPr/>
        </p:nvSpPr>
        <p:spPr>
          <a:xfrm>
            <a:off x="514350" y="1613036"/>
            <a:ext cx="3821906"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FLAWS</a:t>
            </a:r>
            <a:endParaRPr lang="en-US" sz="800" dirty="0"/>
          </a:p>
        </p:txBody>
      </p:sp>
      <p:sp>
        <p:nvSpPr>
          <p:cNvPr id="10" name="Text 8"/>
          <p:cNvSpPr/>
          <p:nvPr/>
        </p:nvSpPr>
        <p:spPr>
          <a:xfrm>
            <a:off x="503377" y="1904644"/>
            <a:ext cx="246639" cy="224028"/>
          </a:xfrm>
          <a:prstGeom prst="rect">
            <a:avLst/>
          </a:prstGeom>
          <a:noFill/>
          <a:ln w="7144">
            <a:solidFill>
              <a:srgbClr val="0A0A0A"/>
            </a:solidFill>
            <a:prstDash val="solid"/>
          </a:ln>
        </p:spPr>
        <p:txBody>
          <a:bodyPr wrap="square" rtlCol="0" anchor="ctr"/>
          <a:lstStyle/>
          <a:p>
            <a:pPr marL="0" indent="0">
              <a:buNone/>
            </a:pPr>
            <a:endParaRPr lang="en-US" dirty="0"/>
          </a:p>
        </p:txBody>
      </p:sp>
      <p:sp>
        <p:nvSpPr>
          <p:cNvPr id="11" name="Text 9"/>
          <p:cNvSpPr/>
          <p:nvPr/>
        </p:nvSpPr>
        <p:spPr>
          <a:xfrm>
            <a:off x="514350" y="1916646"/>
            <a:ext cx="224693" cy="256032"/>
          </a:xfrm>
          <a:prstGeom prst="rect">
            <a:avLst/>
          </a:prstGeom>
          <a:noFill/>
          <a:ln/>
        </p:spPr>
        <p:txBody>
          <a:bodyPr wrap="none" lIns="57150" tIns="28575" rIns="57150" bIns="28575" rtlCol="0" anchor="t"/>
          <a:lstStyle/>
          <a:p>
            <a:pPr marL="0" indent="0" algn="l">
              <a:lnSpc>
                <a:spcPts val="1013"/>
              </a:lnSpc>
              <a:buNone/>
            </a:pPr>
            <a:r>
              <a:rPr lang="en-US" sz="800" kern="0" spc="41" dirty="0">
                <a:solidFill>
                  <a:srgbClr val="0A0A0A"/>
                </a:solidFill>
                <a:latin typeface="Liberation Sans Narrow" pitchFamily="34" charset="0"/>
                <a:ea typeface="Liberation Sans Narrow" pitchFamily="34" charset="-122"/>
                <a:cs typeface="Liberation Sans Narrow" pitchFamily="34" charset="-120"/>
              </a:rPr>
              <a:t>01</a:t>
            </a:r>
            <a:endParaRPr lang="en-US" sz="800" dirty="0"/>
          </a:p>
        </p:txBody>
      </p:sp>
      <p:sp>
        <p:nvSpPr>
          <p:cNvPr id="12" name="Text 10"/>
          <p:cNvSpPr/>
          <p:nvPr/>
        </p:nvSpPr>
        <p:spPr>
          <a:xfrm>
            <a:off x="1165547" y="1916646"/>
            <a:ext cx="3170597" cy="329184"/>
          </a:xfrm>
          <a:prstGeom prst="rect">
            <a:avLst/>
          </a:prstGeom>
          <a:noFill/>
          <a:ln/>
        </p:spPr>
        <p:txBody>
          <a:bodyPr wrap="square" lIns="0" tIns="0" rIns="0" bIns="0" rtlCol="0" anchor="t"/>
          <a:lstStyle/>
          <a:p>
            <a:pPr marL="0" indent="0" algn="l">
              <a:lnSpc>
                <a:spcPts val="1055"/>
              </a:lnSpc>
              <a:buNone/>
            </a:pPr>
            <a:r>
              <a:rPr lang="en-US" sz="800" dirty="0">
                <a:solidFill>
                  <a:srgbClr val="1F1F1F"/>
                </a:solidFill>
                <a:latin typeface="Carlito" pitchFamily="34" charset="0"/>
                <a:ea typeface="Carlito" pitchFamily="34" charset="-122"/>
                <a:cs typeface="Carlito" pitchFamily="34" charset="-120"/>
              </a:rPr>
              <a:t>Discrimination failure: VQE score is a function of algorithm properties only — every RSA-2048 site receives the same score.</a:t>
            </a:r>
            <a:endParaRPr lang="en-US" sz="800" dirty="0"/>
          </a:p>
        </p:txBody>
      </p:sp>
      <p:sp>
        <p:nvSpPr>
          <p:cNvPr id="13" name="Text 11"/>
          <p:cNvSpPr/>
          <p:nvPr/>
        </p:nvSpPr>
        <p:spPr>
          <a:xfrm>
            <a:off x="514350" y="2255974"/>
            <a:ext cx="3821906" cy="7144"/>
          </a:xfrm>
          <a:prstGeom prst="rect">
            <a:avLst/>
          </a:prstGeom>
          <a:solidFill>
            <a:srgbClr val="D9D9D9"/>
          </a:solidFill>
          <a:ln/>
        </p:spPr>
        <p:txBody>
          <a:bodyPr wrap="square" rtlCol="0" anchor="ctr"/>
          <a:lstStyle/>
          <a:p>
            <a:pPr marL="0" indent="0">
              <a:buNone/>
            </a:pPr>
            <a:endParaRPr lang="en-US" dirty="0"/>
          </a:p>
        </p:txBody>
      </p:sp>
      <p:sp>
        <p:nvSpPr>
          <p:cNvPr id="14" name="Text 12"/>
          <p:cNvSpPr/>
          <p:nvPr/>
        </p:nvSpPr>
        <p:spPr>
          <a:xfrm>
            <a:off x="503377" y="2322554"/>
            <a:ext cx="246639" cy="224028"/>
          </a:xfrm>
          <a:prstGeom prst="rect">
            <a:avLst/>
          </a:prstGeom>
          <a:noFill/>
          <a:ln w="7144">
            <a:solidFill>
              <a:srgbClr val="0A0A0A"/>
            </a:solidFill>
            <a:prstDash val="solid"/>
          </a:ln>
        </p:spPr>
        <p:txBody>
          <a:bodyPr wrap="square" rtlCol="0" anchor="ctr"/>
          <a:lstStyle/>
          <a:p>
            <a:pPr marL="0" indent="0">
              <a:buNone/>
            </a:pPr>
            <a:endParaRPr lang="en-US" dirty="0"/>
          </a:p>
        </p:txBody>
      </p:sp>
      <p:sp>
        <p:nvSpPr>
          <p:cNvPr id="15" name="Text 13"/>
          <p:cNvSpPr/>
          <p:nvPr/>
        </p:nvSpPr>
        <p:spPr>
          <a:xfrm>
            <a:off x="514350" y="2334555"/>
            <a:ext cx="224693" cy="256032"/>
          </a:xfrm>
          <a:prstGeom prst="rect">
            <a:avLst/>
          </a:prstGeom>
          <a:noFill/>
          <a:ln/>
        </p:spPr>
        <p:txBody>
          <a:bodyPr wrap="none" lIns="57150" tIns="28575" rIns="57150" bIns="28575" rtlCol="0" anchor="t"/>
          <a:lstStyle/>
          <a:p>
            <a:pPr marL="0" indent="0" algn="l">
              <a:lnSpc>
                <a:spcPts val="1013"/>
              </a:lnSpc>
              <a:buNone/>
            </a:pPr>
            <a:r>
              <a:rPr lang="en-US" sz="800" kern="0" spc="41" dirty="0">
                <a:solidFill>
                  <a:srgbClr val="0A0A0A"/>
                </a:solidFill>
                <a:latin typeface="Liberation Sans Narrow" pitchFamily="34" charset="0"/>
                <a:ea typeface="Liberation Sans Narrow" pitchFamily="34" charset="-122"/>
                <a:cs typeface="Liberation Sans Narrow" pitchFamily="34" charset="-120"/>
              </a:rPr>
              <a:t>02</a:t>
            </a:r>
            <a:endParaRPr lang="en-US" sz="800" dirty="0"/>
          </a:p>
        </p:txBody>
      </p:sp>
      <p:sp>
        <p:nvSpPr>
          <p:cNvPr id="16" name="Text 14"/>
          <p:cNvSpPr/>
          <p:nvPr/>
        </p:nvSpPr>
        <p:spPr>
          <a:xfrm>
            <a:off x="1165547" y="2334555"/>
            <a:ext cx="3170597" cy="329184"/>
          </a:xfrm>
          <a:prstGeom prst="rect">
            <a:avLst/>
          </a:prstGeom>
          <a:noFill/>
          <a:ln/>
        </p:spPr>
        <p:txBody>
          <a:bodyPr wrap="square" lIns="0" tIns="0" rIns="0" bIns="0" rtlCol="0" anchor="t"/>
          <a:lstStyle/>
          <a:p>
            <a:pPr marL="0" indent="0" algn="l">
              <a:lnSpc>
                <a:spcPts val="1055"/>
              </a:lnSpc>
              <a:buNone/>
            </a:pPr>
            <a:r>
              <a:rPr lang="en-US" sz="800" dirty="0">
                <a:solidFill>
                  <a:srgbClr val="1F1F1F"/>
                </a:solidFill>
                <a:latin typeface="Carlito" pitchFamily="34" charset="0"/>
                <a:ea typeface="Carlito" pitchFamily="34" charset="-122"/>
                <a:cs typeface="Carlito" pitchFamily="34" charset="-120"/>
              </a:rPr>
              <a:t>Quantum machinery is decorative: a weighted sum computed expensively; authors concede outputs are not forecasts of qubit requirements.</a:t>
            </a:r>
            <a:endParaRPr lang="en-US" sz="800" dirty="0"/>
          </a:p>
        </p:txBody>
      </p:sp>
      <p:sp>
        <p:nvSpPr>
          <p:cNvPr id="17" name="Text 15"/>
          <p:cNvSpPr/>
          <p:nvPr/>
        </p:nvSpPr>
        <p:spPr>
          <a:xfrm>
            <a:off x="514350" y="2673883"/>
            <a:ext cx="3821906" cy="7144"/>
          </a:xfrm>
          <a:prstGeom prst="rect">
            <a:avLst/>
          </a:prstGeom>
          <a:solidFill>
            <a:srgbClr val="D9D9D9"/>
          </a:solidFill>
          <a:ln/>
        </p:spPr>
        <p:txBody>
          <a:bodyPr wrap="square" rtlCol="0" anchor="ctr"/>
          <a:lstStyle/>
          <a:p>
            <a:pPr marL="0" indent="0">
              <a:buNone/>
            </a:pPr>
            <a:endParaRPr lang="en-US" dirty="0"/>
          </a:p>
        </p:txBody>
      </p:sp>
      <p:sp>
        <p:nvSpPr>
          <p:cNvPr id="18" name="Text 16"/>
          <p:cNvSpPr/>
          <p:nvPr/>
        </p:nvSpPr>
        <p:spPr>
          <a:xfrm>
            <a:off x="503377" y="2740463"/>
            <a:ext cx="246639" cy="224028"/>
          </a:xfrm>
          <a:prstGeom prst="rect">
            <a:avLst/>
          </a:prstGeom>
          <a:noFill/>
          <a:ln w="7144">
            <a:solidFill>
              <a:srgbClr val="0A0A0A"/>
            </a:solidFill>
            <a:prstDash val="solid"/>
          </a:ln>
        </p:spPr>
        <p:txBody>
          <a:bodyPr wrap="square" rtlCol="0" anchor="ctr"/>
          <a:lstStyle/>
          <a:p>
            <a:pPr marL="0" indent="0">
              <a:buNone/>
            </a:pPr>
            <a:endParaRPr lang="en-US" dirty="0"/>
          </a:p>
        </p:txBody>
      </p:sp>
      <p:sp>
        <p:nvSpPr>
          <p:cNvPr id="19" name="Text 17"/>
          <p:cNvSpPr/>
          <p:nvPr/>
        </p:nvSpPr>
        <p:spPr>
          <a:xfrm>
            <a:off x="514350" y="2752465"/>
            <a:ext cx="224693" cy="256032"/>
          </a:xfrm>
          <a:prstGeom prst="rect">
            <a:avLst/>
          </a:prstGeom>
          <a:noFill/>
          <a:ln/>
        </p:spPr>
        <p:txBody>
          <a:bodyPr wrap="none" lIns="57150" tIns="28575" rIns="57150" bIns="28575" rtlCol="0" anchor="t"/>
          <a:lstStyle/>
          <a:p>
            <a:pPr marL="0" indent="0" algn="l">
              <a:lnSpc>
                <a:spcPts val="1013"/>
              </a:lnSpc>
              <a:buNone/>
            </a:pPr>
            <a:r>
              <a:rPr lang="en-US" sz="800" kern="0" spc="41" dirty="0">
                <a:solidFill>
                  <a:srgbClr val="0A0A0A"/>
                </a:solidFill>
                <a:latin typeface="Liberation Sans Narrow" pitchFamily="34" charset="0"/>
                <a:ea typeface="Liberation Sans Narrow" pitchFamily="34" charset="-122"/>
                <a:cs typeface="Liberation Sans Narrow" pitchFamily="34" charset="-120"/>
              </a:rPr>
              <a:t>03</a:t>
            </a:r>
            <a:endParaRPr lang="en-US" sz="800" dirty="0"/>
          </a:p>
        </p:txBody>
      </p:sp>
      <p:sp>
        <p:nvSpPr>
          <p:cNvPr id="20" name="Text 18"/>
          <p:cNvSpPr/>
          <p:nvPr/>
        </p:nvSpPr>
        <p:spPr>
          <a:xfrm>
            <a:off x="1165547" y="2752465"/>
            <a:ext cx="3170597" cy="329184"/>
          </a:xfrm>
          <a:prstGeom prst="rect">
            <a:avLst/>
          </a:prstGeom>
          <a:noFill/>
          <a:ln/>
        </p:spPr>
        <p:txBody>
          <a:bodyPr wrap="square" lIns="0" tIns="0" rIns="0" bIns="0" rtlCol="0" anchor="t"/>
          <a:lstStyle/>
          <a:p>
            <a:pPr marL="0" indent="0" algn="l">
              <a:lnSpc>
                <a:spcPts val="1055"/>
              </a:lnSpc>
              <a:buNone/>
            </a:pPr>
            <a:r>
              <a:rPr lang="en-US" sz="800" dirty="0">
                <a:solidFill>
                  <a:srgbClr val="1F1F1F"/>
                </a:solidFill>
                <a:latin typeface="Carlito" pitchFamily="34" charset="0"/>
                <a:ea typeface="Carlito" pitchFamily="34" charset="-122"/>
                <a:cs typeface="Carlito" pitchFamily="34" charset="-120"/>
              </a:rPr>
              <a:t>Evaluation ceiling: metrics from a stratified 10.4% sample; recall 100% suggests task made easy by construction.</a:t>
            </a:r>
            <a:endParaRPr lang="en-US" sz="800" dirty="0"/>
          </a:p>
        </p:txBody>
      </p:sp>
      <p:sp>
        <p:nvSpPr>
          <p:cNvPr id="21" name="Text 19"/>
          <p:cNvSpPr/>
          <p:nvPr/>
        </p:nvSpPr>
        <p:spPr>
          <a:xfrm>
            <a:off x="514350" y="3091793"/>
            <a:ext cx="3821906" cy="7144"/>
          </a:xfrm>
          <a:prstGeom prst="rect">
            <a:avLst/>
          </a:prstGeom>
          <a:solidFill>
            <a:srgbClr val="D9D9D9"/>
          </a:solidFill>
          <a:ln/>
        </p:spPr>
        <p:txBody>
          <a:bodyPr wrap="square" rtlCol="0" anchor="ctr"/>
          <a:lstStyle/>
          <a:p>
            <a:pPr marL="0" indent="0">
              <a:buNone/>
            </a:pPr>
            <a:endParaRPr lang="en-US" dirty="0"/>
          </a:p>
        </p:txBody>
      </p:sp>
      <p:sp>
        <p:nvSpPr>
          <p:cNvPr id="22" name="Text 20"/>
          <p:cNvSpPr/>
          <p:nvPr/>
        </p:nvSpPr>
        <p:spPr>
          <a:xfrm>
            <a:off x="503377" y="3158372"/>
            <a:ext cx="246639" cy="224028"/>
          </a:xfrm>
          <a:prstGeom prst="rect">
            <a:avLst/>
          </a:prstGeom>
          <a:noFill/>
          <a:ln w="7144">
            <a:solidFill>
              <a:srgbClr val="0A0A0A"/>
            </a:solidFill>
            <a:prstDash val="solid"/>
          </a:ln>
        </p:spPr>
        <p:txBody>
          <a:bodyPr wrap="square" rtlCol="0" anchor="ctr"/>
          <a:lstStyle/>
          <a:p>
            <a:pPr marL="0" indent="0">
              <a:buNone/>
            </a:pPr>
            <a:endParaRPr lang="en-US" dirty="0"/>
          </a:p>
        </p:txBody>
      </p:sp>
      <p:sp>
        <p:nvSpPr>
          <p:cNvPr id="23" name="Text 21"/>
          <p:cNvSpPr/>
          <p:nvPr/>
        </p:nvSpPr>
        <p:spPr>
          <a:xfrm>
            <a:off x="514350" y="3170374"/>
            <a:ext cx="224693" cy="256032"/>
          </a:xfrm>
          <a:prstGeom prst="rect">
            <a:avLst/>
          </a:prstGeom>
          <a:noFill/>
          <a:ln/>
        </p:spPr>
        <p:txBody>
          <a:bodyPr wrap="none" lIns="57150" tIns="28575" rIns="57150" bIns="28575" rtlCol="0" anchor="t"/>
          <a:lstStyle/>
          <a:p>
            <a:pPr marL="0" indent="0" algn="l">
              <a:lnSpc>
                <a:spcPts val="1013"/>
              </a:lnSpc>
              <a:buNone/>
            </a:pPr>
            <a:r>
              <a:rPr lang="en-US" sz="800" kern="0" spc="41" dirty="0">
                <a:solidFill>
                  <a:srgbClr val="0A0A0A"/>
                </a:solidFill>
                <a:latin typeface="Liberation Sans Narrow" pitchFamily="34" charset="0"/>
                <a:ea typeface="Liberation Sans Narrow" pitchFamily="34" charset="-122"/>
                <a:cs typeface="Liberation Sans Narrow" pitchFamily="34" charset="-120"/>
              </a:rPr>
              <a:t>04</a:t>
            </a:r>
            <a:endParaRPr lang="en-US" sz="800" dirty="0"/>
          </a:p>
        </p:txBody>
      </p:sp>
      <p:sp>
        <p:nvSpPr>
          <p:cNvPr id="24" name="Text 22"/>
          <p:cNvSpPr/>
          <p:nvPr/>
        </p:nvSpPr>
        <p:spPr>
          <a:xfrm>
            <a:off x="1165547" y="3170374"/>
            <a:ext cx="3170597" cy="329184"/>
          </a:xfrm>
          <a:prstGeom prst="rect">
            <a:avLst/>
          </a:prstGeom>
          <a:noFill/>
          <a:ln/>
        </p:spPr>
        <p:txBody>
          <a:bodyPr wrap="square" lIns="0" tIns="0" rIns="0" bIns="0" rtlCol="0" anchor="t"/>
          <a:lstStyle/>
          <a:p>
            <a:pPr marL="0" indent="0" algn="l">
              <a:lnSpc>
                <a:spcPts val="1055"/>
              </a:lnSpc>
              <a:buNone/>
            </a:pPr>
            <a:r>
              <a:rPr lang="en-US" sz="800" dirty="0">
                <a:solidFill>
                  <a:srgbClr val="1F1F1F"/>
                </a:solidFill>
                <a:latin typeface="Carlito" pitchFamily="34" charset="0"/>
                <a:ea typeface="Carlito" pitchFamily="34" charset="-122"/>
                <a:cs typeface="Carlito" pitchFamily="34" charset="-120"/>
              </a:rPr>
              <a:t>No baseline comparison: CryptoGuard, Bandit, SonarQube comparison listed as future work.</a:t>
            </a:r>
            <a:endParaRPr lang="en-US" sz="800" dirty="0"/>
          </a:p>
        </p:txBody>
      </p:sp>
      <p:sp>
        <p:nvSpPr>
          <p:cNvPr id="25" name="Text 23"/>
          <p:cNvSpPr/>
          <p:nvPr/>
        </p:nvSpPr>
        <p:spPr>
          <a:xfrm>
            <a:off x="514350" y="3509702"/>
            <a:ext cx="3821906" cy="7144"/>
          </a:xfrm>
          <a:prstGeom prst="rect">
            <a:avLst/>
          </a:prstGeom>
          <a:solidFill>
            <a:srgbClr val="D9D9D9"/>
          </a:solidFill>
          <a:ln/>
        </p:spPr>
        <p:txBody>
          <a:bodyPr wrap="square" rtlCol="0" anchor="ctr"/>
          <a:lstStyle/>
          <a:p>
            <a:pPr marL="0" indent="0">
              <a:buNone/>
            </a:pPr>
            <a:endParaRPr lang="en-US" dirty="0"/>
          </a:p>
        </p:txBody>
      </p:sp>
      <p:sp>
        <p:nvSpPr>
          <p:cNvPr id="26" name="Text 24"/>
          <p:cNvSpPr/>
          <p:nvPr/>
        </p:nvSpPr>
        <p:spPr>
          <a:xfrm>
            <a:off x="4800600" y="1613036"/>
            <a:ext cx="4343400"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OUR CORRECTION</a:t>
            </a:r>
            <a:endParaRPr lang="en-US" sz="800" dirty="0"/>
          </a:p>
        </p:txBody>
      </p:sp>
      <p:sp>
        <p:nvSpPr>
          <p:cNvPr id="27" name="Text 25"/>
          <p:cNvSpPr/>
          <p:nvPr/>
        </p:nvSpPr>
        <p:spPr>
          <a:xfrm>
            <a:off x="4800600" y="1845208"/>
            <a:ext cx="3829050" cy="888243"/>
          </a:xfrm>
          <a:prstGeom prst="rect">
            <a:avLst/>
          </a:prstGeom>
          <a:noFill/>
          <a:ln/>
        </p:spPr>
        <p:txBody>
          <a:bodyPr wrap="square" lIns="0" tIns="0" rIns="0" bIns="0" rtlCol="0" anchor="t"/>
          <a:lstStyle/>
          <a:p>
            <a:pPr marL="0" indent="0" algn="l">
              <a:lnSpc>
                <a:spcPts val="1185"/>
              </a:lnSpc>
              <a:buNone/>
            </a:pPr>
            <a:r>
              <a:rPr lang="en-US" sz="800" dirty="0">
                <a:solidFill>
                  <a:srgbClr val="1F1F1F"/>
                </a:solidFill>
                <a:latin typeface="Carlito" pitchFamily="34" charset="0"/>
                <a:ea typeface="Carlito" pitchFamily="34" charset="-122"/>
                <a:cs typeface="Carlito" pitchFamily="34" charset="-120"/>
              </a:rPr>
              <a:t>Score is a function of the protected data path — retention lifetime × exposure surface × algorithm class × key reuse — so it varies across identical algorithms and orders them. Justified against Mosca's inequality and a decision-theoretic utility model, not a quantum circuit. Evaluated on a fully labelled benchmark with ranking quality reported (which P2 never measures) and baseline comparisons P2 defers.</a:t>
            </a:r>
            <a:endParaRPr lang="en-US" sz="800" dirty="0"/>
          </a:p>
        </p:txBody>
      </p:sp>
      <p:sp>
        <p:nvSpPr>
          <p:cNvPr id="28" name="Shape 26"/>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29" name="Text 27"/>
          <p:cNvSpPr/>
          <p:nvPr/>
        </p:nvSpPr>
        <p:spPr>
          <a:xfrm>
            <a:off x="1463040" y="4846320"/>
            <a:ext cx="7132320" cy="137160"/>
          </a:xfrm>
          <a:prstGeom prst="rect">
            <a:avLst/>
          </a:prstGeom>
          <a:noFill/>
          <a:ln/>
        </p:spPr>
        <p:txBody>
          <a:bodyPr wrap="squar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05 — LITERATURE SURVEY</a:t>
            </a:r>
            <a:endParaRPr lang="en-US" sz="800" dirty="0"/>
          </a:p>
        </p:txBody>
      </p:sp>
      <p:sp>
        <p:nvSpPr>
          <p:cNvPr id="30" name="Text 28"/>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22 / 39</a:t>
            </a:r>
            <a:endParaRPr lang="en-US" sz="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750174"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7278812" y="400050"/>
            <a:ext cx="1350838" cy="117872"/>
          </a:xfrm>
          <a:prstGeom prst="rect">
            <a:avLst/>
          </a:prstGeom>
          <a:noFill/>
          <a:ln/>
        </p:spPr>
        <p:txBody>
          <a:bodyPr wrap="non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REVIEW REPORT I — PAGE 23</a:t>
            </a:r>
            <a:endParaRPr lang="en-US" sz="619" dirty="0"/>
          </a:p>
        </p:txBody>
      </p:sp>
      <p:sp>
        <p:nvSpPr>
          <p:cNvPr id="5" name="Text 3"/>
          <p:cNvSpPr/>
          <p:nvPr/>
        </p:nvSpPr>
        <p:spPr>
          <a:xfrm>
            <a:off x="514350" y="796528"/>
            <a:ext cx="8629650" cy="164592"/>
          </a:xfrm>
          <a:prstGeom prst="rect">
            <a:avLst/>
          </a:prstGeom>
          <a:noFill/>
          <a:ln/>
        </p:spPr>
        <p:txBody>
          <a:bodyPr wrap="square" lIns="0" tIns="0" rIns="0" bIns="0" rtlCol="0" anchor="t"/>
          <a:lstStyle/>
          <a:p>
            <a:pPr marL="0" indent="0" algn="l">
              <a:lnSpc>
                <a:spcPts val="928"/>
              </a:lnSpc>
              <a:buNone/>
            </a:pPr>
            <a:r>
              <a:rPr lang="en-US" sz="800" kern="0" spc="136" dirty="0">
                <a:solidFill>
                  <a:srgbClr val="4A4A4A"/>
                </a:solidFill>
                <a:latin typeface="Carlito" pitchFamily="34" charset="0"/>
                <a:ea typeface="Carlito" pitchFamily="34" charset="-122"/>
                <a:cs typeface="Carlito" pitchFamily="34" charset="-120"/>
              </a:rPr>
              <a:t>5.3 CRITICAL ANALYSIS — P3 LLM MIGRATION</a:t>
            </a:r>
            <a:endParaRPr lang="en-US" sz="800" dirty="0"/>
          </a:p>
        </p:txBody>
      </p:sp>
      <p:sp>
        <p:nvSpPr>
          <p:cNvPr id="6" name="Text 4"/>
          <p:cNvSpPr/>
          <p:nvPr/>
        </p:nvSpPr>
        <p:spPr>
          <a:xfrm>
            <a:off x="514350" y="1000125"/>
            <a:ext cx="8486775" cy="345619"/>
          </a:xfrm>
          <a:prstGeom prst="rect">
            <a:avLst/>
          </a:prstGeom>
          <a:noFill/>
          <a:ln/>
        </p:spPr>
        <p:txBody>
          <a:bodyPr wrap="squar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A 92.5% headline on the easiest instance.</a:t>
            </a:r>
            <a:endParaRPr lang="en-US" sz="2250" dirty="0"/>
          </a:p>
        </p:txBody>
      </p:sp>
      <p:sp>
        <p:nvSpPr>
          <p:cNvPr id="7" name="Text 5"/>
          <p:cNvSpPr/>
          <p:nvPr/>
        </p:nvSpPr>
        <p:spPr>
          <a:xfrm>
            <a:off x="514350" y="1434443"/>
            <a:ext cx="8115300" cy="7144"/>
          </a:xfrm>
          <a:prstGeom prst="rect">
            <a:avLst/>
          </a:prstGeom>
          <a:solidFill>
            <a:srgbClr val="D9D9D9"/>
          </a:solidFill>
          <a:ln/>
        </p:spPr>
        <p:txBody>
          <a:bodyPr wrap="square" rtlCol="0" anchor="ctr"/>
          <a:lstStyle/>
          <a:p>
            <a:pPr marL="0" indent="0">
              <a:buNone/>
            </a:pPr>
            <a:endParaRPr lang="en-US" dirty="0"/>
          </a:p>
        </p:txBody>
      </p:sp>
      <p:sp>
        <p:nvSpPr>
          <p:cNvPr id="8" name="Shape 6"/>
          <p:cNvSpPr/>
          <p:nvPr/>
        </p:nvSpPr>
        <p:spPr>
          <a:xfrm>
            <a:off x="4568428" y="1613036"/>
            <a:ext cx="0" cy="3130414"/>
          </a:xfrm>
          <a:prstGeom prst="line">
            <a:avLst/>
          </a:prstGeom>
          <a:noFill/>
          <a:ln w="7144">
            <a:solidFill>
              <a:srgbClr val="D1D5DB"/>
            </a:solidFill>
            <a:prstDash val="solid"/>
          </a:ln>
        </p:spPr>
        <p:txBody>
          <a:bodyPr/>
          <a:lstStyle/>
          <a:p>
            <a:endParaRPr lang="en-US"/>
          </a:p>
        </p:txBody>
      </p:sp>
      <p:sp>
        <p:nvSpPr>
          <p:cNvPr id="9" name="Text 7"/>
          <p:cNvSpPr/>
          <p:nvPr/>
        </p:nvSpPr>
        <p:spPr>
          <a:xfrm>
            <a:off x="514350" y="1613036"/>
            <a:ext cx="3821906"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FLAWS</a:t>
            </a:r>
            <a:endParaRPr lang="en-US" sz="800" dirty="0"/>
          </a:p>
        </p:txBody>
      </p:sp>
      <p:sp>
        <p:nvSpPr>
          <p:cNvPr id="10" name="Text 8"/>
          <p:cNvSpPr/>
          <p:nvPr/>
        </p:nvSpPr>
        <p:spPr>
          <a:xfrm>
            <a:off x="503377" y="1904644"/>
            <a:ext cx="246639" cy="224028"/>
          </a:xfrm>
          <a:prstGeom prst="rect">
            <a:avLst/>
          </a:prstGeom>
          <a:noFill/>
          <a:ln w="7144">
            <a:solidFill>
              <a:srgbClr val="0A0A0A"/>
            </a:solidFill>
            <a:prstDash val="solid"/>
          </a:ln>
        </p:spPr>
        <p:txBody>
          <a:bodyPr wrap="square" rtlCol="0" anchor="ctr"/>
          <a:lstStyle/>
          <a:p>
            <a:pPr marL="0" indent="0">
              <a:buNone/>
            </a:pPr>
            <a:endParaRPr lang="en-US" dirty="0"/>
          </a:p>
        </p:txBody>
      </p:sp>
      <p:sp>
        <p:nvSpPr>
          <p:cNvPr id="11" name="Text 9"/>
          <p:cNvSpPr/>
          <p:nvPr/>
        </p:nvSpPr>
        <p:spPr>
          <a:xfrm>
            <a:off x="514350" y="1916646"/>
            <a:ext cx="224693" cy="256032"/>
          </a:xfrm>
          <a:prstGeom prst="rect">
            <a:avLst/>
          </a:prstGeom>
          <a:noFill/>
          <a:ln/>
        </p:spPr>
        <p:txBody>
          <a:bodyPr wrap="none" lIns="57150" tIns="28575" rIns="57150" bIns="28575" rtlCol="0" anchor="t"/>
          <a:lstStyle/>
          <a:p>
            <a:pPr marL="0" indent="0" algn="l">
              <a:lnSpc>
                <a:spcPts val="1013"/>
              </a:lnSpc>
              <a:buNone/>
            </a:pPr>
            <a:r>
              <a:rPr lang="en-US" sz="800" kern="0" spc="41" dirty="0">
                <a:solidFill>
                  <a:srgbClr val="0A0A0A"/>
                </a:solidFill>
                <a:latin typeface="Liberation Sans Narrow" pitchFamily="34" charset="0"/>
                <a:ea typeface="Liberation Sans Narrow" pitchFamily="34" charset="-122"/>
                <a:cs typeface="Liberation Sans Narrow" pitchFamily="34" charset="-120"/>
              </a:rPr>
              <a:t>01</a:t>
            </a:r>
            <a:endParaRPr lang="en-US" sz="800" dirty="0"/>
          </a:p>
        </p:txBody>
      </p:sp>
      <p:sp>
        <p:nvSpPr>
          <p:cNvPr id="12" name="Text 10"/>
          <p:cNvSpPr/>
          <p:nvPr/>
        </p:nvSpPr>
        <p:spPr>
          <a:xfrm>
            <a:off x="1165547" y="1916646"/>
            <a:ext cx="3170597" cy="493776"/>
          </a:xfrm>
          <a:prstGeom prst="rect">
            <a:avLst/>
          </a:prstGeom>
          <a:noFill/>
          <a:ln/>
        </p:spPr>
        <p:txBody>
          <a:bodyPr wrap="square" lIns="0" tIns="0" rIns="0" bIns="0" rtlCol="0" anchor="t"/>
          <a:lstStyle/>
          <a:p>
            <a:pPr marL="0" indent="0" algn="l">
              <a:lnSpc>
                <a:spcPts val="1055"/>
              </a:lnSpc>
              <a:buNone/>
            </a:pPr>
            <a:r>
              <a:rPr lang="en-US" sz="800" dirty="0">
                <a:solidFill>
                  <a:srgbClr val="1F1F1F"/>
                </a:solidFill>
                <a:latin typeface="Carlito" pitchFamily="34" charset="0"/>
                <a:ea typeface="Carlito" pitchFamily="34" charset="-122"/>
                <a:cs typeface="Carlito" pitchFamily="34" charset="-120"/>
              </a:rPr>
              <a:t>Synthetic single-fragment setting: 800 paired fragments constructed synthetically; authors state real-world validation “showed degraded performance.”</a:t>
            </a:r>
            <a:endParaRPr lang="en-US" sz="800" dirty="0"/>
          </a:p>
        </p:txBody>
      </p:sp>
      <p:sp>
        <p:nvSpPr>
          <p:cNvPr id="13" name="Text 11"/>
          <p:cNvSpPr/>
          <p:nvPr/>
        </p:nvSpPr>
        <p:spPr>
          <a:xfrm>
            <a:off x="514350" y="2389919"/>
            <a:ext cx="3821906" cy="7144"/>
          </a:xfrm>
          <a:prstGeom prst="rect">
            <a:avLst/>
          </a:prstGeom>
          <a:solidFill>
            <a:srgbClr val="D9D9D9"/>
          </a:solidFill>
          <a:ln/>
        </p:spPr>
        <p:txBody>
          <a:bodyPr wrap="square" rtlCol="0" anchor="ctr"/>
          <a:lstStyle/>
          <a:p>
            <a:pPr marL="0" indent="0">
              <a:buNone/>
            </a:pPr>
            <a:endParaRPr lang="en-US" dirty="0"/>
          </a:p>
        </p:txBody>
      </p:sp>
      <p:sp>
        <p:nvSpPr>
          <p:cNvPr id="14" name="Text 12"/>
          <p:cNvSpPr/>
          <p:nvPr/>
        </p:nvSpPr>
        <p:spPr>
          <a:xfrm>
            <a:off x="503377" y="2456499"/>
            <a:ext cx="246639" cy="224028"/>
          </a:xfrm>
          <a:prstGeom prst="rect">
            <a:avLst/>
          </a:prstGeom>
          <a:noFill/>
          <a:ln w="7144">
            <a:solidFill>
              <a:srgbClr val="0A0A0A"/>
            </a:solidFill>
            <a:prstDash val="solid"/>
          </a:ln>
        </p:spPr>
        <p:txBody>
          <a:bodyPr wrap="square" rtlCol="0" anchor="ctr"/>
          <a:lstStyle/>
          <a:p>
            <a:pPr marL="0" indent="0">
              <a:buNone/>
            </a:pPr>
            <a:endParaRPr lang="en-US" dirty="0"/>
          </a:p>
        </p:txBody>
      </p:sp>
      <p:sp>
        <p:nvSpPr>
          <p:cNvPr id="15" name="Text 13"/>
          <p:cNvSpPr/>
          <p:nvPr/>
        </p:nvSpPr>
        <p:spPr>
          <a:xfrm>
            <a:off x="514350" y="2468500"/>
            <a:ext cx="224693" cy="256032"/>
          </a:xfrm>
          <a:prstGeom prst="rect">
            <a:avLst/>
          </a:prstGeom>
          <a:noFill/>
          <a:ln/>
        </p:spPr>
        <p:txBody>
          <a:bodyPr wrap="none" lIns="57150" tIns="28575" rIns="57150" bIns="28575" rtlCol="0" anchor="t"/>
          <a:lstStyle/>
          <a:p>
            <a:pPr marL="0" indent="0" algn="l">
              <a:lnSpc>
                <a:spcPts val="1013"/>
              </a:lnSpc>
              <a:buNone/>
            </a:pPr>
            <a:r>
              <a:rPr lang="en-US" sz="800" kern="0" spc="41" dirty="0">
                <a:solidFill>
                  <a:srgbClr val="0A0A0A"/>
                </a:solidFill>
                <a:latin typeface="Liberation Sans Narrow" pitchFamily="34" charset="0"/>
                <a:ea typeface="Liberation Sans Narrow" pitchFamily="34" charset="-122"/>
                <a:cs typeface="Liberation Sans Narrow" pitchFamily="34" charset="-120"/>
              </a:rPr>
              <a:t>02</a:t>
            </a:r>
            <a:endParaRPr lang="en-US" sz="800" dirty="0"/>
          </a:p>
        </p:txBody>
      </p:sp>
      <p:sp>
        <p:nvSpPr>
          <p:cNvPr id="16" name="Text 14"/>
          <p:cNvSpPr/>
          <p:nvPr/>
        </p:nvSpPr>
        <p:spPr>
          <a:xfrm>
            <a:off x="1165547" y="2468500"/>
            <a:ext cx="3170597" cy="329184"/>
          </a:xfrm>
          <a:prstGeom prst="rect">
            <a:avLst/>
          </a:prstGeom>
          <a:noFill/>
          <a:ln/>
        </p:spPr>
        <p:txBody>
          <a:bodyPr wrap="square" lIns="0" tIns="0" rIns="0" bIns="0" rtlCol="0" anchor="t"/>
          <a:lstStyle/>
          <a:p>
            <a:pPr marL="0" indent="0" algn="l">
              <a:lnSpc>
                <a:spcPts val="1055"/>
              </a:lnSpc>
              <a:buNone/>
            </a:pPr>
            <a:r>
              <a:rPr lang="en-US" sz="800" dirty="0">
                <a:solidFill>
                  <a:srgbClr val="1F1F1F"/>
                </a:solidFill>
                <a:latin typeface="Carlito" pitchFamily="34" charset="0"/>
                <a:ea typeface="Carlito" pitchFamily="34" charset="-122"/>
                <a:cs typeface="Carlito" pitchFamily="34" charset="-120"/>
              </a:rPr>
              <a:t>Verification is round-trip, not equivalence: a round-trip passes even if the patch silently weakens parameters or breaks interoperability.</a:t>
            </a:r>
            <a:endParaRPr lang="en-US" sz="800" dirty="0"/>
          </a:p>
        </p:txBody>
      </p:sp>
      <p:sp>
        <p:nvSpPr>
          <p:cNvPr id="17" name="Text 15"/>
          <p:cNvSpPr/>
          <p:nvPr/>
        </p:nvSpPr>
        <p:spPr>
          <a:xfrm>
            <a:off x="514350" y="2807829"/>
            <a:ext cx="3821906" cy="7144"/>
          </a:xfrm>
          <a:prstGeom prst="rect">
            <a:avLst/>
          </a:prstGeom>
          <a:solidFill>
            <a:srgbClr val="D9D9D9"/>
          </a:solidFill>
          <a:ln/>
        </p:spPr>
        <p:txBody>
          <a:bodyPr wrap="square" rtlCol="0" anchor="ctr"/>
          <a:lstStyle/>
          <a:p>
            <a:pPr marL="0" indent="0">
              <a:buNone/>
            </a:pPr>
            <a:endParaRPr lang="en-US" dirty="0"/>
          </a:p>
        </p:txBody>
      </p:sp>
      <p:sp>
        <p:nvSpPr>
          <p:cNvPr id="18" name="Text 16"/>
          <p:cNvSpPr/>
          <p:nvPr/>
        </p:nvSpPr>
        <p:spPr>
          <a:xfrm>
            <a:off x="503377" y="2874408"/>
            <a:ext cx="246639" cy="224028"/>
          </a:xfrm>
          <a:prstGeom prst="rect">
            <a:avLst/>
          </a:prstGeom>
          <a:noFill/>
          <a:ln w="7144">
            <a:solidFill>
              <a:srgbClr val="0A0A0A"/>
            </a:solidFill>
            <a:prstDash val="solid"/>
          </a:ln>
        </p:spPr>
        <p:txBody>
          <a:bodyPr wrap="square" rtlCol="0" anchor="ctr"/>
          <a:lstStyle/>
          <a:p>
            <a:pPr marL="0" indent="0">
              <a:buNone/>
            </a:pPr>
            <a:endParaRPr lang="en-US" dirty="0"/>
          </a:p>
        </p:txBody>
      </p:sp>
      <p:sp>
        <p:nvSpPr>
          <p:cNvPr id="19" name="Text 17"/>
          <p:cNvSpPr/>
          <p:nvPr/>
        </p:nvSpPr>
        <p:spPr>
          <a:xfrm>
            <a:off x="514350" y="2886410"/>
            <a:ext cx="224693" cy="256032"/>
          </a:xfrm>
          <a:prstGeom prst="rect">
            <a:avLst/>
          </a:prstGeom>
          <a:noFill/>
          <a:ln/>
        </p:spPr>
        <p:txBody>
          <a:bodyPr wrap="none" lIns="57150" tIns="28575" rIns="57150" bIns="28575" rtlCol="0" anchor="t"/>
          <a:lstStyle/>
          <a:p>
            <a:pPr marL="0" indent="0" algn="l">
              <a:lnSpc>
                <a:spcPts val="1013"/>
              </a:lnSpc>
              <a:buNone/>
            </a:pPr>
            <a:r>
              <a:rPr lang="en-US" sz="800" kern="0" spc="41" dirty="0">
                <a:solidFill>
                  <a:srgbClr val="0A0A0A"/>
                </a:solidFill>
                <a:latin typeface="Liberation Sans Narrow" pitchFamily="34" charset="0"/>
                <a:ea typeface="Liberation Sans Narrow" pitchFamily="34" charset="-122"/>
                <a:cs typeface="Liberation Sans Narrow" pitchFamily="34" charset="-120"/>
              </a:rPr>
              <a:t>03</a:t>
            </a:r>
            <a:endParaRPr lang="en-US" sz="800" dirty="0"/>
          </a:p>
        </p:txBody>
      </p:sp>
      <p:sp>
        <p:nvSpPr>
          <p:cNvPr id="20" name="Text 18"/>
          <p:cNvSpPr/>
          <p:nvPr/>
        </p:nvSpPr>
        <p:spPr>
          <a:xfrm>
            <a:off x="1165547" y="2886410"/>
            <a:ext cx="3170597" cy="329184"/>
          </a:xfrm>
          <a:prstGeom prst="rect">
            <a:avLst/>
          </a:prstGeom>
          <a:noFill/>
          <a:ln/>
        </p:spPr>
        <p:txBody>
          <a:bodyPr wrap="square" lIns="0" tIns="0" rIns="0" bIns="0" rtlCol="0" anchor="t"/>
          <a:lstStyle/>
          <a:p>
            <a:pPr marL="0" indent="0" algn="l">
              <a:lnSpc>
                <a:spcPts val="1055"/>
              </a:lnSpc>
              <a:buNone/>
            </a:pPr>
            <a:r>
              <a:rPr lang="en-US" sz="800" dirty="0">
                <a:solidFill>
                  <a:srgbClr val="1F1F1F"/>
                </a:solidFill>
                <a:latin typeface="Carlito" pitchFamily="34" charset="0"/>
                <a:ea typeface="Carlito" pitchFamily="34" charset="-122"/>
                <a:cs typeface="Carlito" pitchFamily="34" charset="-120"/>
              </a:rPr>
              <a:t>No discovery step: assumes the fragment to migrate has already been identified and isolated.</a:t>
            </a:r>
            <a:endParaRPr lang="en-US" sz="800" dirty="0"/>
          </a:p>
        </p:txBody>
      </p:sp>
      <p:sp>
        <p:nvSpPr>
          <p:cNvPr id="21" name="Text 19"/>
          <p:cNvSpPr/>
          <p:nvPr/>
        </p:nvSpPr>
        <p:spPr>
          <a:xfrm>
            <a:off x="514350" y="3225738"/>
            <a:ext cx="3821906" cy="7144"/>
          </a:xfrm>
          <a:prstGeom prst="rect">
            <a:avLst/>
          </a:prstGeom>
          <a:solidFill>
            <a:srgbClr val="D9D9D9"/>
          </a:solidFill>
          <a:ln/>
        </p:spPr>
        <p:txBody>
          <a:bodyPr wrap="square" rtlCol="0" anchor="ctr"/>
          <a:lstStyle/>
          <a:p>
            <a:pPr marL="0" indent="0">
              <a:buNone/>
            </a:pPr>
            <a:endParaRPr lang="en-US" dirty="0"/>
          </a:p>
        </p:txBody>
      </p:sp>
      <p:sp>
        <p:nvSpPr>
          <p:cNvPr id="22" name="Text 20"/>
          <p:cNvSpPr/>
          <p:nvPr/>
        </p:nvSpPr>
        <p:spPr>
          <a:xfrm>
            <a:off x="503377" y="3292318"/>
            <a:ext cx="246639" cy="224028"/>
          </a:xfrm>
          <a:prstGeom prst="rect">
            <a:avLst/>
          </a:prstGeom>
          <a:noFill/>
          <a:ln w="7144">
            <a:solidFill>
              <a:srgbClr val="0A0A0A"/>
            </a:solidFill>
            <a:prstDash val="solid"/>
          </a:ln>
        </p:spPr>
        <p:txBody>
          <a:bodyPr wrap="square" rtlCol="0" anchor="ctr"/>
          <a:lstStyle/>
          <a:p>
            <a:pPr marL="0" indent="0">
              <a:buNone/>
            </a:pPr>
            <a:endParaRPr lang="en-US" dirty="0"/>
          </a:p>
        </p:txBody>
      </p:sp>
      <p:sp>
        <p:nvSpPr>
          <p:cNvPr id="23" name="Text 21"/>
          <p:cNvSpPr/>
          <p:nvPr/>
        </p:nvSpPr>
        <p:spPr>
          <a:xfrm>
            <a:off x="514350" y="3304319"/>
            <a:ext cx="224693" cy="256032"/>
          </a:xfrm>
          <a:prstGeom prst="rect">
            <a:avLst/>
          </a:prstGeom>
          <a:noFill/>
          <a:ln/>
        </p:spPr>
        <p:txBody>
          <a:bodyPr wrap="none" lIns="57150" tIns="28575" rIns="57150" bIns="28575" rtlCol="0" anchor="t"/>
          <a:lstStyle/>
          <a:p>
            <a:pPr marL="0" indent="0" algn="l">
              <a:lnSpc>
                <a:spcPts val="1013"/>
              </a:lnSpc>
              <a:buNone/>
            </a:pPr>
            <a:r>
              <a:rPr lang="en-US" sz="800" kern="0" spc="41" dirty="0">
                <a:solidFill>
                  <a:srgbClr val="0A0A0A"/>
                </a:solidFill>
                <a:latin typeface="Liberation Sans Narrow" pitchFamily="34" charset="0"/>
                <a:ea typeface="Liberation Sans Narrow" pitchFamily="34" charset="-122"/>
                <a:cs typeface="Liberation Sans Narrow" pitchFamily="34" charset="-120"/>
              </a:rPr>
              <a:t>04</a:t>
            </a:r>
            <a:endParaRPr lang="en-US" sz="800" dirty="0"/>
          </a:p>
        </p:txBody>
      </p:sp>
      <p:sp>
        <p:nvSpPr>
          <p:cNvPr id="24" name="Text 22"/>
          <p:cNvSpPr/>
          <p:nvPr/>
        </p:nvSpPr>
        <p:spPr>
          <a:xfrm>
            <a:off x="1165547" y="3304319"/>
            <a:ext cx="3170597" cy="245791"/>
          </a:xfrm>
          <a:prstGeom prst="rect">
            <a:avLst/>
          </a:prstGeom>
          <a:noFill/>
          <a:ln/>
        </p:spPr>
        <p:txBody>
          <a:bodyPr wrap="square" lIns="0" tIns="0" rIns="0" bIns="0" rtlCol="0" anchor="t"/>
          <a:lstStyle/>
          <a:p>
            <a:pPr marL="0" indent="0" algn="l">
              <a:lnSpc>
                <a:spcPts val="1055"/>
              </a:lnSpc>
              <a:buNone/>
            </a:pPr>
            <a:r>
              <a:rPr lang="en-US" sz="703" dirty="0">
                <a:solidFill>
                  <a:srgbClr val="1F1F1F"/>
                </a:solidFill>
                <a:latin typeface="Carlito" pitchFamily="34" charset="0"/>
                <a:ea typeface="Carlito" pitchFamily="34" charset="-122"/>
                <a:cs typeface="Carlito" pitchFamily="34" charset="-120"/>
              </a:rPr>
              <a:t>Python only, closed models: reproducibility bounded by proprietary API versions.</a:t>
            </a:r>
            <a:endParaRPr lang="en-US" sz="703" dirty="0"/>
          </a:p>
        </p:txBody>
      </p:sp>
      <p:sp>
        <p:nvSpPr>
          <p:cNvPr id="25" name="Text 23"/>
          <p:cNvSpPr/>
          <p:nvPr/>
        </p:nvSpPr>
        <p:spPr>
          <a:xfrm>
            <a:off x="514350" y="3575782"/>
            <a:ext cx="3821906" cy="7144"/>
          </a:xfrm>
          <a:prstGeom prst="rect">
            <a:avLst/>
          </a:prstGeom>
          <a:solidFill>
            <a:srgbClr val="D9D9D9"/>
          </a:solidFill>
          <a:ln/>
        </p:spPr>
        <p:txBody>
          <a:bodyPr wrap="square" rtlCol="0" anchor="ctr"/>
          <a:lstStyle/>
          <a:p>
            <a:pPr marL="0" indent="0">
              <a:buNone/>
            </a:pPr>
            <a:endParaRPr lang="en-US" dirty="0"/>
          </a:p>
        </p:txBody>
      </p:sp>
      <p:sp>
        <p:nvSpPr>
          <p:cNvPr id="26" name="Text 24"/>
          <p:cNvSpPr/>
          <p:nvPr/>
        </p:nvSpPr>
        <p:spPr>
          <a:xfrm>
            <a:off x="4800600" y="1613036"/>
            <a:ext cx="4343400"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OUR CORRECTION</a:t>
            </a:r>
            <a:endParaRPr lang="en-US" sz="800" dirty="0"/>
          </a:p>
        </p:txBody>
      </p:sp>
      <p:sp>
        <p:nvSpPr>
          <p:cNvPr id="27" name="Text 25"/>
          <p:cNvSpPr/>
          <p:nvPr/>
        </p:nvSpPr>
        <p:spPr>
          <a:xfrm>
            <a:off x="4800600" y="1845208"/>
            <a:ext cx="3829050" cy="877824"/>
          </a:xfrm>
          <a:prstGeom prst="rect">
            <a:avLst/>
          </a:prstGeom>
          <a:noFill/>
          <a:ln/>
        </p:spPr>
        <p:txBody>
          <a:bodyPr wrap="square" lIns="0" tIns="0" rIns="0" bIns="0" rtlCol="0" anchor="t"/>
          <a:lstStyle/>
          <a:p>
            <a:pPr marL="0" indent="0" algn="l">
              <a:lnSpc>
                <a:spcPts val="1125"/>
              </a:lnSpc>
              <a:buNone/>
            </a:pPr>
            <a:r>
              <a:rPr lang="en-US" sz="800" dirty="0">
                <a:solidFill>
                  <a:srgbClr val="1F1F1F"/>
                </a:solidFill>
                <a:latin typeface="Carlito" pitchFamily="34" charset="0"/>
                <a:ea typeface="Carlito" pitchFamily="34" charset="-122"/>
                <a:cs typeface="Carlito" pitchFamily="34" charset="-120"/>
              </a:rPr>
              <a:t>Patch synthesis is the LAST stage of our pipeline, applied to sites our own analysis located, in real multi-file repositories, verified by differential equivalence against the unmigrated implementation plus property-based tests plus an interoperability check with a non-migrated peer under hybrid negotiation. We will report the honest degradation from 92.5% and treat the gap between synthetic and real as a finding.</a:t>
            </a:r>
            <a:endParaRPr lang="en-US" sz="800" dirty="0"/>
          </a:p>
        </p:txBody>
      </p:sp>
      <p:sp>
        <p:nvSpPr>
          <p:cNvPr id="28" name="Shape 26"/>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29" name="Text 27"/>
          <p:cNvSpPr/>
          <p:nvPr/>
        </p:nvSpPr>
        <p:spPr>
          <a:xfrm>
            <a:off x="1463040" y="4846320"/>
            <a:ext cx="7132320" cy="137160"/>
          </a:xfrm>
          <a:prstGeom prst="rect">
            <a:avLst/>
          </a:prstGeom>
          <a:noFill/>
          <a:ln/>
        </p:spPr>
        <p:txBody>
          <a:bodyPr wrap="squar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05 — LITERATURE SURVEY</a:t>
            </a:r>
            <a:endParaRPr lang="en-US" sz="800" dirty="0"/>
          </a:p>
        </p:txBody>
      </p:sp>
      <p:sp>
        <p:nvSpPr>
          <p:cNvPr id="30" name="Text 28"/>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23 / 39</a:t>
            </a:r>
            <a:endParaRPr lang="en-US" sz="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750174"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7278812" y="400050"/>
            <a:ext cx="1350838" cy="117872"/>
          </a:xfrm>
          <a:prstGeom prst="rect">
            <a:avLst/>
          </a:prstGeom>
          <a:noFill/>
          <a:ln/>
        </p:spPr>
        <p:txBody>
          <a:bodyPr wrap="non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REVIEW REPORT I — PAGE 24</a:t>
            </a:r>
            <a:endParaRPr lang="en-US" sz="619" dirty="0"/>
          </a:p>
        </p:txBody>
      </p:sp>
      <p:sp>
        <p:nvSpPr>
          <p:cNvPr id="5" name="Text 3"/>
          <p:cNvSpPr/>
          <p:nvPr/>
        </p:nvSpPr>
        <p:spPr>
          <a:xfrm>
            <a:off x="514350" y="796528"/>
            <a:ext cx="8629650" cy="164592"/>
          </a:xfrm>
          <a:prstGeom prst="rect">
            <a:avLst/>
          </a:prstGeom>
          <a:noFill/>
          <a:ln/>
        </p:spPr>
        <p:txBody>
          <a:bodyPr wrap="square" lIns="0" tIns="0" rIns="0" bIns="0" rtlCol="0" anchor="t"/>
          <a:lstStyle/>
          <a:p>
            <a:pPr marL="0" indent="0" algn="l">
              <a:lnSpc>
                <a:spcPts val="928"/>
              </a:lnSpc>
              <a:buNone/>
            </a:pPr>
            <a:r>
              <a:rPr lang="en-US" sz="800" kern="0" spc="136" dirty="0">
                <a:solidFill>
                  <a:srgbClr val="4A4A4A"/>
                </a:solidFill>
                <a:latin typeface="Liberation Sans Narrow" pitchFamily="34" charset="0"/>
                <a:ea typeface="Liberation Sans Narrow" pitchFamily="34" charset="-122"/>
                <a:cs typeface="Liberation Sans Narrow" pitchFamily="34" charset="-120"/>
              </a:rPr>
              <a:t>5.3 CRITICAL ANALYSIS — P4 &amp; P5</a:t>
            </a:r>
            <a:endParaRPr lang="en-US" sz="800" dirty="0"/>
          </a:p>
        </p:txBody>
      </p:sp>
      <p:sp>
        <p:nvSpPr>
          <p:cNvPr id="6" name="Text 4"/>
          <p:cNvSpPr/>
          <p:nvPr/>
        </p:nvSpPr>
        <p:spPr>
          <a:xfrm>
            <a:off x="514350" y="1000125"/>
            <a:ext cx="8486775" cy="345619"/>
          </a:xfrm>
          <a:prstGeom prst="rect">
            <a:avLst/>
          </a:prstGeom>
          <a:noFill/>
          <a:ln/>
        </p:spPr>
        <p:txBody>
          <a:bodyPr wrap="squar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Vision without mechanism; index without validation.</a:t>
            </a:r>
            <a:endParaRPr lang="en-US" sz="2250" dirty="0"/>
          </a:p>
        </p:txBody>
      </p:sp>
      <p:sp>
        <p:nvSpPr>
          <p:cNvPr id="7" name="Text 5"/>
          <p:cNvSpPr/>
          <p:nvPr/>
        </p:nvSpPr>
        <p:spPr>
          <a:xfrm>
            <a:off x="514350" y="1434443"/>
            <a:ext cx="8115300" cy="7144"/>
          </a:xfrm>
          <a:prstGeom prst="rect">
            <a:avLst/>
          </a:prstGeom>
          <a:solidFill>
            <a:srgbClr val="D9D9D9"/>
          </a:solidFill>
          <a:ln/>
        </p:spPr>
        <p:txBody>
          <a:bodyPr wrap="square" rtlCol="0" anchor="ctr"/>
          <a:lstStyle/>
          <a:p>
            <a:pPr marL="0" indent="0">
              <a:buNone/>
            </a:pPr>
            <a:endParaRPr lang="en-US" dirty="0"/>
          </a:p>
        </p:txBody>
      </p:sp>
      <p:sp>
        <p:nvSpPr>
          <p:cNvPr id="8" name="Shape 6"/>
          <p:cNvSpPr/>
          <p:nvPr/>
        </p:nvSpPr>
        <p:spPr>
          <a:xfrm>
            <a:off x="4568428" y="1613036"/>
            <a:ext cx="0" cy="3130414"/>
          </a:xfrm>
          <a:prstGeom prst="line">
            <a:avLst/>
          </a:prstGeom>
          <a:noFill/>
          <a:ln w="7144">
            <a:solidFill>
              <a:srgbClr val="D1D5DB"/>
            </a:solidFill>
            <a:prstDash val="solid"/>
          </a:ln>
        </p:spPr>
        <p:txBody>
          <a:bodyPr/>
          <a:lstStyle/>
          <a:p>
            <a:endParaRPr lang="en-US"/>
          </a:p>
        </p:txBody>
      </p:sp>
      <p:sp>
        <p:nvSpPr>
          <p:cNvPr id="9" name="Text 7"/>
          <p:cNvSpPr/>
          <p:nvPr/>
        </p:nvSpPr>
        <p:spPr>
          <a:xfrm>
            <a:off x="514350" y="1613036"/>
            <a:ext cx="3931634" cy="164592"/>
          </a:xfrm>
          <a:prstGeom prst="rect">
            <a:avLst/>
          </a:prstGeom>
          <a:noFill/>
          <a:ln/>
        </p:spPr>
        <p:txBody>
          <a:bodyPr wrap="square" lIns="0" tIns="0" rIns="0" bIns="0" rtlCol="0" anchor="t"/>
          <a:lstStyle/>
          <a:p>
            <a:pPr marL="0" indent="0" algn="l">
              <a:lnSpc>
                <a:spcPts val="928"/>
              </a:lnSpc>
              <a:buNone/>
            </a:pPr>
            <a:r>
              <a:rPr lang="en-US" sz="800" kern="0" spc="111" dirty="0">
                <a:solidFill>
                  <a:srgbClr val="0A0A0A"/>
                </a:solidFill>
                <a:latin typeface="Liberation Sans Narrow" pitchFamily="34" charset="0"/>
                <a:ea typeface="Liberation Sans Narrow" pitchFamily="34" charset="-122"/>
                <a:cs typeface="Liberation Sans Narrow" pitchFamily="34" charset="-120"/>
              </a:rPr>
              <a:t>P4 — AQUA VISION (ZHANG, ICSE'26)</a:t>
            </a:r>
            <a:endParaRPr lang="en-US" sz="800" dirty="0"/>
          </a:p>
        </p:txBody>
      </p:sp>
      <p:sp>
        <p:nvSpPr>
          <p:cNvPr id="10" name="Text 8"/>
          <p:cNvSpPr/>
          <p:nvPr/>
        </p:nvSpPr>
        <p:spPr>
          <a:xfrm>
            <a:off x="514350" y="1816633"/>
            <a:ext cx="3821906" cy="157922"/>
          </a:xfrm>
          <a:prstGeom prst="rect">
            <a:avLst/>
          </a:prstGeom>
          <a:noFill/>
          <a:ln/>
        </p:spPr>
        <p:txBody>
          <a:bodyPr wrap="none" lIns="0" tIns="0" rIns="0" bIns="0" rtlCol="0" anchor="t"/>
          <a:lstStyle/>
          <a:p>
            <a:pPr marL="0" indent="0" algn="l">
              <a:lnSpc>
                <a:spcPts val="1152"/>
              </a:lnSpc>
              <a:buNone/>
            </a:pPr>
            <a:r>
              <a:rPr lang="en-US" sz="900" kern="0" spc="-5" dirty="0">
                <a:solidFill>
                  <a:srgbClr val="0A0A0A"/>
                </a:solidFill>
                <a:latin typeface="Carlito" pitchFamily="34" charset="0"/>
                <a:ea typeface="Carlito" pitchFamily="34" charset="-122"/>
                <a:cs typeface="Carlito" pitchFamily="34" charset="-120"/>
              </a:rPr>
              <a:t>A two-page agenda</a:t>
            </a:r>
            <a:endParaRPr lang="en-US" sz="900" dirty="0"/>
          </a:p>
        </p:txBody>
      </p:sp>
      <p:sp>
        <p:nvSpPr>
          <p:cNvPr id="11" name="Text 9"/>
          <p:cNvSpPr/>
          <p:nvPr/>
        </p:nvSpPr>
        <p:spPr>
          <a:xfrm>
            <a:off x="514350" y="2048582"/>
            <a:ext cx="3821906" cy="693481"/>
          </a:xfrm>
          <a:prstGeom prst="rect">
            <a:avLst/>
          </a:prstGeom>
          <a:noFill/>
          <a:ln/>
        </p:spPr>
        <p:txBody>
          <a:bodyPr wrap="square" lIns="0" tIns="0" rIns="0" bIns="0" rtlCol="0" anchor="t"/>
          <a:lstStyle/>
          <a:p>
            <a:pPr marL="0" indent="0" algn="l">
              <a:lnSpc>
                <a:spcPts val="1111"/>
              </a:lnSpc>
              <a:buNone/>
            </a:pPr>
            <a:r>
              <a:rPr lang="en-US" sz="800" dirty="0">
                <a:solidFill>
                  <a:srgbClr val="1F1F1F"/>
                </a:solidFill>
                <a:latin typeface="Carlito" pitchFamily="34" charset="0"/>
                <a:ea typeface="Carlito" pitchFamily="34" charset="-122"/>
                <a:cs typeface="Carlito" pitchFamily="34" charset="-120"/>
              </a:rPr>
              <a:t>A two-page agenda that correctly names detection, semantic refactoring and hybrid verification as the three missing pillars. It implements none of them. Its critique of existing tools (not designed for “PQC's probabilistic behavior, side-channel sensitivity, and complex performance trade-offs”) is asserted rather than measured.</a:t>
            </a:r>
            <a:endParaRPr lang="en-US" sz="800" dirty="0"/>
          </a:p>
        </p:txBody>
      </p:sp>
      <p:sp>
        <p:nvSpPr>
          <p:cNvPr id="12" name="Text 10"/>
          <p:cNvSpPr/>
          <p:nvPr/>
        </p:nvSpPr>
        <p:spPr>
          <a:xfrm>
            <a:off x="514350" y="2698663"/>
            <a:ext cx="3821906" cy="7144"/>
          </a:xfrm>
          <a:prstGeom prst="rect">
            <a:avLst/>
          </a:prstGeom>
          <a:solidFill>
            <a:srgbClr val="D9D9D9"/>
          </a:solidFill>
          <a:ln/>
        </p:spPr>
        <p:txBody>
          <a:bodyPr wrap="square" rtlCol="0" anchor="ctr"/>
          <a:lstStyle/>
          <a:p>
            <a:pPr marL="0" indent="0">
              <a:buNone/>
            </a:pPr>
            <a:endParaRPr lang="en-US" dirty="0"/>
          </a:p>
        </p:txBody>
      </p:sp>
      <p:sp>
        <p:nvSpPr>
          <p:cNvPr id="13" name="Text 11"/>
          <p:cNvSpPr/>
          <p:nvPr/>
        </p:nvSpPr>
        <p:spPr>
          <a:xfrm>
            <a:off x="514350" y="2791532"/>
            <a:ext cx="3821906" cy="142232"/>
          </a:xfrm>
          <a:prstGeom prst="rect">
            <a:avLst/>
          </a:prstGeom>
          <a:noFill/>
          <a:ln/>
        </p:spPr>
        <p:txBody>
          <a:bodyPr wrap="none" lIns="0" tIns="0" rIns="0" bIns="0" rtlCol="0" anchor="t">
            <a:normAutofit/>
          </a:bodyPr>
          <a:lstStyle/>
          <a:p>
            <a:pPr marL="0" indent="0" algn="l">
              <a:lnSpc>
                <a:spcPts val="886"/>
              </a:lnSpc>
              <a:buNone/>
            </a:pPr>
            <a:r>
              <a:rPr lang="en-US" sz="800" kern="0" spc="106" dirty="0">
                <a:solidFill>
                  <a:srgbClr val="0A0A0A"/>
                </a:solidFill>
                <a:latin typeface="Courier New" pitchFamily="34" charset="0"/>
                <a:ea typeface="Courier New" pitchFamily="34" charset="-122"/>
                <a:cs typeface="Courier New" pitchFamily="34" charset="-120"/>
              </a:rPr>
              <a:t>OUR CORRECTION</a:t>
            </a:r>
            <a:endParaRPr lang="en-US" sz="800" dirty="0"/>
          </a:p>
        </p:txBody>
      </p:sp>
      <p:sp>
        <p:nvSpPr>
          <p:cNvPr id="14" name="Text 12"/>
          <p:cNvSpPr/>
          <p:nvPr/>
        </p:nvSpPr>
        <p:spPr>
          <a:xfrm>
            <a:off x="514350" y="2961196"/>
            <a:ext cx="3821906" cy="340157"/>
          </a:xfrm>
          <a:prstGeom prst="rect">
            <a:avLst/>
          </a:prstGeom>
          <a:noFill/>
          <a:ln/>
        </p:spPr>
        <p:txBody>
          <a:bodyPr wrap="square" lIns="0" tIns="0" rIns="0" bIns="0" rtlCol="0" anchor="t"/>
          <a:lstStyle/>
          <a:p>
            <a:pPr marL="0" indent="0" algn="l">
              <a:lnSpc>
                <a:spcPts val="1090"/>
              </a:lnSpc>
              <a:buNone/>
            </a:pPr>
            <a:r>
              <a:rPr lang="en-US" sz="800" dirty="0">
                <a:solidFill>
                  <a:srgbClr val="1F1F1F"/>
                </a:solidFill>
                <a:latin typeface="Carlito" pitchFamily="34" charset="0"/>
                <a:ea typeface="Carlito" pitchFamily="34" charset="-122"/>
                <a:cs typeface="Carlito" pitchFamily="34" charset="-120"/>
              </a:rPr>
              <a:t>We implement and measure two of the three pillars (semantic refactoring, hybrid verification) and cite this paper as independent third-party confirmation that the gap is the recognised one.</a:t>
            </a:r>
            <a:endParaRPr lang="en-US" sz="800" dirty="0"/>
          </a:p>
        </p:txBody>
      </p:sp>
      <p:sp>
        <p:nvSpPr>
          <p:cNvPr id="15" name="Text 13"/>
          <p:cNvSpPr/>
          <p:nvPr/>
        </p:nvSpPr>
        <p:spPr>
          <a:xfrm>
            <a:off x="4800600" y="1613036"/>
            <a:ext cx="4343400"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Liberation Sans Narrow" pitchFamily="34" charset="0"/>
                <a:ea typeface="Liberation Sans Narrow" pitchFamily="34" charset="-122"/>
                <a:cs typeface="Liberation Sans Narrow" pitchFamily="34" charset="-120"/>
              </a:rPr>
              <a:t>P5 — CARS (COSTA, 2026)</a:t>
            </a:r>
            <a:endParaRPr lang="en-US" sz="800" dirty="0"/>
          </a:p>
        </p:txBody>
      </p:sp>
      <p:sp>
        <p:nvSpPr>
          <p:cNvPr id="16" name="Text 14"/>
          <p:cNvSpPr/>
          <p:nvPr/>
        </p:nvSpPr>
        <p:spPr>
          <a:xfrm>
            <a:off x="4800600" y="1816633"/>
            <a:ext cx="4020502" cy="157922"/>
          </a:xfrm>
          <a:prstGeom prst="rect">
            <a:avLst/>
          </a:prstGeom>
          <a:noFill/>
          <a:ln/>
        </p:spPr>
        <p:txBody>
          <a:bodyPr wrap="none" lIns="0" tIns="0" rIns="0" bIns="0" rtlCol="0" anchor="t"/>
          <a:lstStyle/>
          <a:p>
            <a:pPr marL="0" indent="0" algn="l">
              <a:lnSpc>
                <a:spcPts val="1152"/>
              </a:lnSpc>
              <a:buNone/>
            </a:pPr>
            <a:r>
              <a:rPr lang="en-US" sz="900" kern="0" spc="-5" dirty="0">
                <a:solidFill>
                  <a:srgbClr val="0A0A0A"/>
                </a:solidFill>
                <a:latin typeface="Carlito" pitchFamily="34" charset="0"/>
                <a:ea typeface="Carlito" pitchFamily="34" charset="-122"/>
                <a:cs typeface="Carlito" pitchFamily="34" charset="-120"/>
              </a:rPr>
              <a:t>Wrong granularity</a:t>
            </a:r>
            <a:endParaRPr lang="en-US" sz="900" dirty="0"/>
          </a:p>
        </p:txBody>
      </p:sp>
      <p:sp>
        <p:nvSpPr>
          <p:cNvPr id="17" name="Text 15"/>
          <p:cNvSpPr/>
          <p:nvPr/>
        </p:nvSpPr>
        <p:spPr>
          <a:xfrm>
            <a:off x="4800600" y="2048582"/>
            <a:ext cx="3829050" cy="693481"/>
          </a:xfrm>
          <a:prstGeom prst="rect">
            <a:avLst/>
          </a:prstGeom>
          <a:noFill/>
          <a:ln/>
        </p:spPr>
        <p:txBody>
          <a:bodyPr wrap="square" lIns="0" tIns="0" rIns="0" bIns="0" rtlCol="0" anchor="t"/>
          <a:lstStyle/>
          <a:p>
            <a:pPr marL="0" indent="0" algn="l">
              <a:lnSpc>
                <a:spcPts val="1111"/>
              </a:lnSpc>
              <a:buNone/>
            </a:pPr>
            <a:r>
              <a:rPr lang="en-US" sz="800" dirty="0">
                <a:solidFill>
                  <a:srgbClr val="1F1F1F"/>
                </a:solidFill>
                <a:latin typeface="Carlito" pitchFamily="34" charset="0"/>
                <a:ea typeface="Carlito" pitchFamily="34" charset="-122"/>
                <a:cs typeface="Carlito" pitchFamily="34" charset="-120"/>
              </a:rPr>
              <a:t>Wrong granularity: scores an organisation or repository on five dimensions. An engineer with a sprint to plan cannot act on the number 31.4. Subjective weights: derived from a 12-expert Delphi process — defensible but not grounded in outcomes. Unvalidated, admitted: “External predictive validation against migration outcomes remains future work.”</a:t>
            </a:r>
            <a:endParaRPr lang="en-US" sz="800" dirty="0"/>
          </a:p>
        </p:txBody>
      </p:sp>
      <p:sp>
        <p:nvSpPr>
          <p:cNvPr id="18" name="Text 16"/>
          <p:cNvSpPr/>
          <p:nvPr/>
        </p:nvSpPr>
        <p:spPr>
          <a:xfrm>
            <a:off x="4800600" y="2698663"/>
            <a:ext cx="3829050" cy="7144"/>
          </a:xfrm>
          <a:prstGeom prst="rect">
            <a:avLst/>
          </a:prstGeom>
          <a:solidFill>
            <a:srgbClr val="D9D9D9"/>
          </a:solidFill>
          <a:ln/>
        </p:spPr>
        <p:txBody>
          <a:bodyPr wrap="square" rtlCol="0" anchor="ctr"/>
          <a:lstStyle/>
          <a:p>
            <a:pPr marL="0" indent="0">
              <a:buNone/>
            </a:pPr>
            <a:endParaRPr lang="en-US" dirty="0"/>
          </a:p>
        </p:txBody>
      </p:sp>
      <p:sp>
        <p:nvSpPr>
          <p:cNvPr id="19" name="Text 17"/>
          <p:cNvSpPr/>
          <p:nvPr/>
        </p:nvSpPr>
        <p:spPr>
          <a:xfrm>
            <a:off x="4800600" y="2791532"/>
            <a:ext cx="4343400" cy="142232"/>
          </a:xfrm>
          <a:prstGeom prst="rect">
            <a:avLst/>
          </a:prstGeom>
          <a:noFill/>
          <a:ln/>
        </p:spPr>
        <p:txBody>
          <a:bodyPr wrap="none" lIns="0" tIns="0" rIns="0" bIns="0" rtlCol="0" anchor="t">
            <a:normAutofit/>
          </a:bodyPr>
          <a:lstStyle/>
          <a:p>
            <a:pPr marL="0" indent="0" algn="l">
              <a:lnSpc>
                <a:spcPts val="886"/>
              </a:lnSpc>
              <a:buNone/>
            </a:pPr>
            <a:r>
              <a:rPr lang="en-US" sz="800" kern="0" spc="106" dirty="0">
                <a:solidFill>
                  <a:srgbClr val="0A0A0A"/>
                </a:solidFill>
                <a:latin typeface="Courier New" pitchFamily="34" charset="0"/>
                <a:ea typeface="Courier New" pitchFamily="34" charset="-122"/>
                <a:cs typeface="Courier New" pitchFamily="34" charset="-120"/>
              </a:rPr>
              <a:t>OUR CORRECTION</a:t>
            </a:r>
            <a:endParaRPr lang="en-US" sz="800" dirty="0"/>
          </a:p>
        </p:txBody>
      </p:sp>
      <p:sp>
        <p:nvSpPr>
          <p:cNvPr id="20" name="Text 18"/>
          <p:cNvSpPr/>
          <p:nvPr/>
        </p:nvSpPr>
        <p:spPr>
          <a:xfrm>
            <a:off x="4800600" y="2961196"/>
            <a:ext cx="3829050" cy="340157"/>
          </a:xfrm>
          <a:prstGeom prst="rect">
            <a:avLst/>
          </a:prstGeom>
          <a:noFill/>
          <a:ln/>
        </p:spPr>
        <p:txBody>
          <a:bodyPr wrap="square" lIns="0" tIns="0" rIns="0" bIns="0" rtlCol="0" anchor="t"/>
          <a:lstStyle/>
          <a:p>
            <a:pPr marL="0" indent="0" algn="l">
              <a:lnSpc>
                <a:spcPts val="1090"/>
              </a:lnSpc>
              <a:buNone/>
            </a:pPr>
            <a:r>
              <a:rPr lang="en-US" sz="800" dirty="0">
                <a:solidFill>
                  <a:srgbClr val="1F1F1F"/>
                </a:solidFill>
                <a:latin typeface="Carlito" pitchFamily="34" charset="0"/>
                <a:ea typeface="Carlito" pitchFamily="34" charset="-122"/>
                <a:cs typeface="Carlito" pitchFamily="34" charset="-120"/>
              </a:rPr>
              <a:t>We score data paths, not organisations. Validation is against an expert-elicited priority ordering on held-out repositories, not against the same opinions that built the index.</a:t>
            </a:r>
            <a:endParaRPr lang="en-US" sz="800" dirty="0"/>
          </a:p>
        </p:txBody>
      </p:sp>
      <p:sp>
        <p:nvSpPr>
          <p:cNvPr id="21" name="Shape 19"/>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22" name="Text 20"/>
          <p:cNvSpPr/>
          <p:nvPr/>
        </p:nvSpPr>
        <p:spPr>
          <a:xfrm>
            <a:off x="1463040" y="4846320"/>
            <a:ext cx="7132320" cy="137160"/>
          </a:xfrm>
          <a:prstGeom prst="rect">
            <a:avLst/>
          </a:prstGeom>
          <a:noFill/>
          <a:ln/>
        </p:spPr>
        <p:txBody>
          <a:bodyPr wrap="squar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05 — LITERATURE SURVEY</a:t>
            </a:r>
            <a:endParaRPr lang="en-US" sz="800" dirty="0"/>
          </a:p>
        </p:txBody>
      </p:sp>
      <p:sp>
        <p:nvSpPr>
          <p:cNvPr id="23" name="Text 21"/>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24 / 39</a:t>
            </a:r>
            <a:endParaRPr lang="en-US" sz="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750174"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7278812" y="400050"/>
            <a:ext cx="1350838" cy="117872"/>
          </a:xfrm>
          <a:prstGeom prst="rect">
            <a:avLst/>
          </a:prstGeom>
          <a:noFill/>
          <a:ln/>
        </p:spPr>
        <p:txBody>
          <a:bodyPr wrap="non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REVIEW REPORT I — PAGE 25</a:t>
            </a:r>
            <a:endParaRPr lang="en-US" sz="619" dirty="0"/>
          </a:p>
        </p:txBody>
      </p:sp>
      <p:sp>
        <p:nvSpPr>
          <p:cNvPr id="5" name="Text 3"/>
          <p:cNvSpPr/>
          <p:nvPr/>
        </p:nvSpPr>
        <p:spPr>
          <a:xfrm>
            <a:off x="514350" y="796528"/>
            <a:ext cx="8629650" cy="164592"/>
          </a:xfrm>
          <a:prstGeom prst="rect">
            <a:avLst/>
          </a:prstGeom>
          <a:noFill/>
          <a:ln/>
        </p:spPr>
        <p:txBody>
          <a:bodyPr wrap="square" lIns="0" tIns="0" rIns="0" bIns="0" rtlCol="0" anchor="t"/>
          <a:lstStyle/>
          <a:p>
            <a:pPr marL="0" indent="0" algn="l">
              <a:lnSpc>
                <a:spcPts val="928"/>
              </a:lnSpc>
              <a:buNone/>
            </a:pPr>
            <a:r>
              <a:rPr lang="en-US" sz="800" kern="0" spc="136" dirty="0">
                <a:solidFill>
                  <a:srgbClr val="4A4A4A"/>
                </a:solidFill>
                <a:latin typeface="Carlito" pitchFamily="34" charset="0"/>
                <a:ea typeface="Carlito" pitchFamily="34" charset="-122"/>
                <a:cs typeface="Carlito" pitchFamily="34" charset="-120"/>
              </a:rPr>
              <a:t>5.3 CRITICAL ANALYSIS — P6/P7 &amp; P8/P12</a:t>
            </a:r>
            <a:endParaRPr lang="en-US" sz="800" dirty="0"/>
          </a:p>
        </p:txBody>
      </p:sp>
      <p:sp>
        <p:nvSpPr>
          <p:cNvPr id="6" name="Text 4"/>
          <p:cNvSpPr/>
          <p:nvPr/>
        </p:nvSpPr>
        <p:spPr>
          <a:xfrm>
            <a:off x="514350" y="1000125"/>
            <a:ext cx="8486775" cy="691238"/>
          </a:xfrm>
          <a:prstGeom prst="rect">
            <a:avLst/>
          </a:prstGeom>
          <a:noFill/>
          <a:ln/>
        </p:spPr>
        <p:txBody>
          <a:bodyPr wrap="squar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Standards above, decision theory above — no mechanism below.</a:t>
            </a:r>
            <a:endParaRPr lang="en-US" sz="2250" dirty="0"/>
          </a:p>
        </p:txBody>
      </p:sp>
      <p:sp>
        <p:nvSpPr>
          <p:cNvPr id="7" name="Text 5"/>
          <p:cNvSpPr/>
          <p:nvPr/>
        </p:nvSpPr>
        <p:spPr>
          <a:xfrm>
            <a:off x="514350" y="1754460"/>
            <a:ext cx="8115300" cy="7144"/>
          </a:xfrm>
          <a:prstGeom prst="rect">
            <a:avLst/>
          </a:prstGeom>
          <a:solidFill>
            <a:srgbClr val="D9D9D9"/>
          </a:solidFill>
          <a:ln/>
        </p:spPr>
        <p:txBody>
          <a:bodyPr wrap="square" rtlCol="0" anchor="ctr"/>
          <a:lstStyle/>
          <a:p>
            <a:pPr marL="0" indent="0">
              <a:buNone/>
            </a:pPr>
            <a:endParaRPr lang="en-US" dirty="0"/>
          </a:p>
        </p:txBody>
      </p:sp>
      <p:sp>
        <p:nvSpPr>
          <p:cNvPr id="8" name="Shape 6"/>
          <p:cNvSpPr/>
          <p:nvPr/>
        </p:nvSpPr>
        <p:spPr>
          <a:xfrm>
            <a:off x="4568428" y="1933054"/>
            <a:ext cx="0" cy="2810396"/>
          </a:xfrm>
          <a:prstGeom prst="line">
            <a:avLst/>
          </a:prstGeom>
          <a:noFill/>
          <a:ln w="7144">
            <a:solidFill>
              <a:srgbClr val="D1D5DB"/>
            </a:solidFill>
            <a:prstDash val="solid"/>
          </a:ln>
        </p:spPr>
        <p:txBody>
          <a:bodyPr/>
          <a:lstStyle/>
          <a:p>
            <a:endParaRPr lang="en-US"/>
          </a:p>
        </p:txBody>
      </p:sp>
      <p:sp>
        <p:nvSpPr>
          <p:cNvPr id="9" name="Text 7"/>
          <p:cNvSpPr/>
          <p:nvPr/>
        </p:nvSpPr>
        <p:spPr>
          <a:xfrm>
            <a:off x="514350" y="1933054"/>
            <a:ext cx="3931634" cy="164592"/>
          </a:xfrm>
          <a:prstGeom prst="rect">
            <a:avLst/>
          </a:prstGeom>
          <a:noFill/>
          <a:ln/>
        </p:spPr>
        <p:txBody>
          <a:bodyPr wrap="square" lIns="0" tIns="0" rIns="0" bIns="0" rtlCol="0" anchor="t"/>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P6 / P7 — CBOM STANDARDISATION &amp; COMPLIANCE</a:t>
            </a:r>
            <a:endParaRPr lang="en-US" sz="800" dirty="0"/>
          </a:p>
        </p:txBody>
      </p:sp>
      <p:sp>
        <p:nvSpPr>
          <p:cNvPr id="10" name="Text 8"/>
          <p:cNvSpPr/>
          <p:nvPr/>
        </p:nvSpPr>
        <p:spPr>
          <a:xfrm>
            <a:off x="514350" y="2136651"/>
            <a:ext cx="3821906" cy="702259"/>
          </a:xfrm>
          <a:prstGeom prst="rect">
            <a:avLst/>
          </a:prstGeom>
          <a:noFill/>
          <a:ln/>
        </p:spPr>
        <p:txBody>
          <a:bodyPr wrap="square" lIns="0" tIns="0" rIns="0" bIns="0" rtlCol="0" anchor="t"/>
          <a:lstStyle/>
          <a:p>
            <a:pPr marL="0" indent="0" algn="l">
              <a:lnSpc>
                <a:spcPts val="1125"/>
              </a:lnSpc>
              <a:buNone/>
            </a:pPr>
            <a:r>
              <a:rPr lang="en-US" sz="800" dirty="0">
                <a:solidFill>
                  <a:srgbClr val="1F1F1F"/>
                </a:solidFill>
                <a:latin typeface="Carlito" pitchFamily="34" charset="0"/>
                <a:ea typeface="Carlito" pitchFamily="34" charset="-122"/>
                <a:cs typeface="Carlito" pitchFamily="34" charset="-120"/>
              </a:rPr>
              <a:t>Both operate strictly above the inventory. P6 defines the schema and evidence model; P7 adds a policy engine classifying assets against machine-readable rules. Neither generates the semantic content their layers need — a policy engine reasoning over a semantically flat CBOM inherits its blindness, and can express “RSA is non-compliant” but not “this RSA use is urgent.”</a:t>
            </a:r>
            <a:endParaRPr lang="en-US" sz="800" dirty="0"/>
          </a:p>
        </p:txBody>
      </p:sp>
      <p:sp>
        <p:nvSpPr>
          <p:cNvPr id="11" name="Text 9"/>
          <p:cNvSpPr/>
          <p:nvPr/>
        </p:nvSpPr>
        <p:spPr>
          <a:xfrm>
            <a:off x="514350" y="3074096"/>
            <a:ext cx="3821906" cy="7144"/>
          </a:xfrm>
          <a:prstGeom prst="rect">
            <a:avLst/>
          </a:prstGeom>
          <a:solidFill>
            <a:srgbClr val="D9D9D9"/>
          </a:solidFill>
          <a:ln/>
        </p:spPr>
        <p:txBody>
          <a:bodyPr wrap="square" rtlCol="0" anchor="ctr"/>
          <a:lstStyle/>
          <a:p>
            <a:pPr marL="0" indent="0">
              <a:buNone/>
            </a:pPr>
            <a:endParaRPr lang="en-US" dirty="0"/>
          </a:p>
        </p:txBody>
      </p:sp>
      <p:sp>
        <p:nvSpPr>
          <p:cNvPr id="12" name="Text 10"/>
          <p:cNvSpPr/>
          <p:nvPr/>
        </p:nvSpPr>
        <p:spPr>
          <a:xfrm>
            <a:off x="514350" y="3225958"/>
            <a:ext cx="3821906" cy="142232"/>
          </a:xfrm>
          <a:prstGeom prst="rect">
            <a:avLst/>
          </a:prstGeom>
          <a:noFill/>
          <a:ln/>
        </p:spPr>
        <p:txBody>
          <a:bodyPr wrap="none" lIns="0" tIns="0" rIns="0" bIns="0" rtlCol="0" anchor="t">
            <a:normAutofit/>
          </a:bodyPr>
          <a:lstStyle/>
          <a:p>
            <a:pPr marL="0" indent="0" algn="l">
              <a:lnSpc>
                <a:spcPts val="886"/>
              </a:lnSpc>
              <a:buNone/>
            </a:pPr>
            <a:r>
              <a:rPr lang="en-US" sz="800" kern="0" spc="106" dirty="0">
                <a:solidFill>
                  <a:srgbClr val="0A0A0A"/>
                </a:solidFill>
                <a:latin typeface="Courier New" pitchFamily="34" charset="0"/>
                <a:ea typeface="Courier New" pitchFamily="34" charset="-122"/>
                <a:cs typeface="Courier New" pitchFamily="34" charset="-120"/>
              </a:rPr>
              <a:t>OUR CORRECTION</a:t>
            </a:r>
            <a:endParaRPr lang="en-US" sz="800" dirty="0"/>
          </a:p>
        </p:txBody>
      </p:sp>
      <p:sp>
        <p:nvSpPr>
          <p:cNvPr id="13" name="Text 11"/>
          <p:cNvSpPr/>
          <p:nvPr/>
        </p:nvSpPr>
        <p:spPr>
          <a:xfrm>
            <a:off x="514350" y="3395622"/>
            <a:ext cx="3821906" cy="340157"/>
          </a:xfrm>
          <a:prstGeom prst="rect">
            <a:avLst/>
          </a:prstGeom>
          <a:noFill/>
          <a:ln/>
        </p:spPr>
        <p:txBody>
          <a:bodyPr wrap="square" lIns="0" tIns="0" rIns="0" bIns="0" rtlCol="0" anchor="t"/>
          <a:lstStyle/>
          <a:p>
            <a:pPr marL="0" indent="0" algn="l">
              <a:lnSpc>
                <a:spcPts val="1090"/>
              </a:lnSpc>
              <a:buNone/>
            </a:pPr>
            <a:r>
              <a:rPr lang="en-US" sz="800" dirty="0">
                <a:solidFill>
                  <a:srgbClr val="1F1F1F"/>
                </a:solidFill>
                <a:latin typeface="Carlito" pitchFamily="34" charset="0"/>
                <a:ea typeface="Carlito" pitchFamily="34" charset="-122"/>
                <a:cs typeface="Carlito" pitchFamily="34" charset="-120"/>
              </a:rPr>
              <a:t>Treat P6 as an output contract; design retention/exposure annotations as an extension — the cleanest route to adoption.</a:t>
            </a:r>
            <a:endParaRPr lang="en-US" sz="800" dirty="0"/>
          </a:p>
        </p:txBody>
      </p:sp>
      <p:sp>
        <p:nvSpPr>
          <p:cNvPr id="14" name="Text 12"/>
          <p:cNvSpPr/>
          <p:nvPr/>
        </p:nvSpPr>
        <p:spPr>
          <a:xfrm>
            <a:off x="4800600" y="1933054"/>
            <a:ext cx="4343400" cy="164592"/>
          </a:xfrm>
          <a:prstGeom prst="rect">
            <a:avLst/>
          </a:prstGeom>
          <a:noFill/>
          <a:ln/>
        </p:spPr>
        <p:txBody>
          <a:bodyPr wrap="square" lIns="0" tIns="0" rIns="0" bIns="0" rtlCol="0" anchor="t"/>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P8 / P12 — HNDL FEASIBILITY &amp; DECISION THEORY</a:t>
            </a:r>
            <a:endParaRPr lang="en-US" sz="800" dirty="0"/>
          </a:p>
        </p:txBody>
      </p:sp>
      <p:sp>
        <p:nvSpPr>
          <p:cNvPr id="15" name="Text 13"/>
          <p:cNvSpPr/>
          <p:nvPr/>
        </p:nvSpPr>
        <p:spPr>
          <a:xfrm>
            <a:off x="4800600" y="2136651"/>
            <a:ext cx="3829050" cy="865537"/>
          </a:xfrm>
          <a:prstGeom prst="rect">
            <a:avLst/>
          </a:prstGeom>
          <a:noFill/>
          <a:ln/>
        </p:spPr>
        <p:txBody>
          <a:bodyPr wrap="square" lIns="0" tIns="0" rIns="0" bIns="0" rtlCol="0" anchor="t">
            <a:normAutofit/>
          </a:bodyPr>
          <a:lstStyle/>
          <a:p>
            <a:pPr marL="0" indent="0" algn="l">
              <a:lnSpc>
                <a:spcPts val="1125"/>
              </a:lnSpc>
              <a:buNone/>
            </a:pPr>
            <a:r>
              <a:rPr lang="en-US" sz="800" dirty="0">
                <a:solidFill>
                  <a:srgbClr val="1F1F1F"/>
                </a:solidFill>
                <a:latin typeface="Carlito" pitchFamily="34" charset="0"/>
                <a:ea typeface="Carlito" pitchFamily="34" charset="-122"/>
                <a:cs typeface="Carlito" pitchFamily="34" charset="-120"/>
              </a:rPr>
              <a:t>Both reason at the level of the organisation or the data class. They establish that prioritisation should be driven by sensitivity lifetime — P8 contrasts state secrets and genome records against session cookies and ephemeral messaging — but provide no mechanism for determining which class a given call site belongs to. The mapping from a line of code to a retention class is left to a human.</a:t>
            </a:r>
            <a:endParaRPr lang="en-US" sz="800" dirty="0"/>
          </a:p>
        </p:txBody>
      </p:sp>
      <p:sp>
        <p:nvSpPr>
          <p:cNvPr id="16" name="Text 14"/>
          <p:cNvSpPr/>
          <p:nvPr/>
        </p:nvSpPr>
        <p:spPr>
          <a:xfrm>
            <a:off x="4800600" y="2936751"/>
            <a:ext cx="3829050" cy="7144"/>
          </a:xfrm>
          <a:prstGeom prst="rect">
            <a:avLst/>
          </a:prstGeom>
          <a:solidFill>
            <a:srgbClr val="D9D9D9"/>
          </a:solidFill>
          <a:ln/>
        </p:spPr>
        <p:txBody>
          <a:bodyPr wrap="square" rtlCol="0" anchor="ctr"/>
          <a:lstStyle/>
          <a:p>
            <a:pPr marL="0" indent="0">
              <a:buNone/>
            </a:pPr>
            <a:endParaRPr lang="en-US" dirty="0"/>
          </a:p>
        </p:txBody>
      </p:sp>
      <p:sp>
        <p:nvSpPr>
          <p:cNvPr id="17" name="Text 15"/>
          <p:cNvSpPr/>
          <p:nvPr/>
        </p:nvSpPr>
        <p:spPr>
          <a:xfrm>
            <a:off x="4800600" y="3029620"/>
            <a:ext cx="4343400" cy="142232"/>
          </a:xfrm>
          <a:prstGeom prst="rect">
            <a:avLst/>
          </a:prstGeom>
          <a:noFill/>
          <a:ln/>
        </p:spPr>
        <p:txBody>
          <a:bodyPr wrap="none" lIns="0" tIns="0" rIns="0" bIns="0" rtlCol="0" anchor="t">
            <a:normAutofit/>
          </a:bodyPr>
          <a:lstStyle/>
          <a:p>
            <a:pPr marL="0" indent="0" algn="l">
              <a:lnSpc>
                <a:spcPts val="886"/>
              </a:lnSpc>
              <a:buNone/>
            </a:pPr>
            <a:r>
              <a:rPr lang="en-US" sz="800" kern="0" spc="106" dirty="0">
                <a:solidFill>
                  <a:srgbClr val="0A0A0A"/>
                </a:solidFill>
                <a:latin typeface="Courier New" pitchFamily="34" charset="0"/>
                <a:ea typeface="Courier New" pitchFamily="34" charset="-122"/>
                <a:cs typeface="Courier New" pitchFamily="34" charset="-120"/>
              </a:rPr>
              <a:t>OUR CORRECTION</a:t>
            </a:r>
            <a:endParaRPr lang="en-US" sz="800" dirty="0"/>
          </a:p>
        </p:txBody>
      </p:sp>
      <p:sp>
        <p:nvSpPr>
          <p:cNvPr id="18" name="Text 16"/>
          <p:cNvSpPr/>
          <p:nvPr/>
        </p:nvSpPr>
        <p:spPr>
          <a:xfrm>
            <a:off x="4800600" y="3199284"/>
            <a:ext cx="4135374" cy="170078"/>
          </a:xfrm>
          <a:prstGeom prst="rect">
            <a:avLst/>
          </a:prstGeom>
          <a:noFill/>
          <a:ln/>
        </p:spPr>
        <p:txBody>
          <a:bodyPr wrap="square" lIns="0" tIns="0" rIns="0" bIns="0" rtlCol="0" anchor="t"/>
          <a:lstStyle/>
          <a:p>
            <a:pPr marL="0" indent="0" algn="l">
              <a:lnSpc>
                <a:spcPts val="1090"/>
              </a:lnSpc>
              <a:buNone/>
            </a:pPr>
            <a:r>
              <a:rPr lang="en-US" sz="800" dirty="0">
                <a:solidFill>
                  <a:srgbClr val="1F1F1F"/>
                </a:solidFill>
                <a:latin typeface="Carlito" pitchFamily="34" charset="0"/>
                <a:ea typeface="Carlito" pitchFamily="34" charset="-122"/>
                <a:cs typeface="Carlito" pitchFamily="34" charset="-120"/>
              </a:rPr>
              <a:t>This is the mechanism we build.</a:t>
            </a:r>
            <a:endParaRPr lang="en-US" sz="800" dirty="0"/>
          </a:p>
        </p:txBody>
      </p:sp>
      <p:sp>
        <p:nvSpPr>
          <p:cNvPr id="19" name="Shape 17"/>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20" name="Text 18"/>
          <p:cNvSpPr/>
          <p:nvPr/>
        </p:nvSpPr>
        <p:spPr>
          <a:xfrm>
            <a:off x="1463040" y="4846320"/>
            <a:ext cx="7132320" cy="137160"/>
          </a:xfrm>
          <a:prstGeom prst="rect">
            <a:avLst/>
          </a:prstGeom>
          <a:noFill/>
          <a:ln/>
        </p:spPr>
        <p:txBody>
          <a:bodyPr wrap="squar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05 — LITERATURE SURVEY</a:t>
            </a:r>
            <a:endParaRPr lang="en-US" sz="800" dirty="0"/>
          </a:p>
        </p:txBody>
      </p:sp>
      <p:sp>
        <p:nvSpPr>
          <p:cNvPr id="21" name="Text 19"/>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25 / 39</a:t>
            </a:r>
            <a:endParaRPr lang="en-US" sz="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750174"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7278812" y="400050"/>
            <a:ext cx="1350838" cy="117872"/>
          </a:xfrm>
          <a:prstGeom prst="rect">
            <a:avLst/>
          </a:prstGeom>
          <a:noFill/>
          <a:ln/>
        </p:spPr>
        <p:txBody>
          <a:bodyPr wrap="non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REVIEW REPORT I — PAGE 26</a:t>
            </a:r>
            <a:endParaRPr lang="en-US" sz="619" dirty="0"/>
          </a:p>
        </p:txBody>
      </p:sp>
      <p:sp>
        <p:nvSpPr>
          <p:cNvPr id="5" name="Text 3"/>
          <p:cNvSpPr/>
          <p:nvPr/>
        </p:nvSpPr>
        <p:spPr>
          <a:xfrm>
            <a:off x="514350" y="796528"/>
            <a:ext cx="8629650" cy="164592"/>
          </a:xfrm>
          <a:prstGeom prst="rect">
            <a:avLst/>
          </a:prstGeom>
          <a:noFill/>
          <a:ln/>
        </p:spPr>
        <p:txBody>
          <a:bodyPr wrap="square" lIns="0" tIns="0" rIns="0" bIns="0" rtlCol="0" anchor="t"/>
          <a:lstStyle/>
          <a:p>
            <a:pPr marL="0" indent="0" algn="l">
              <a:lnSpc>
                <a:spcPts val="928"/>
              </a:lnSpc>
              <a:buNone/>
            </a:pPr>
            <a:r>
              <a:rPr lang="en-US" sz="800" kern="0" spc="136" dirty="0">
                <a:solidFill>
                  <a:srgbClr val="4A4A4A"/>
                </a:solidFill>
                <a:latin typeface="Carlito" pitchFamily="34" charset="0"/>
                <a:ea typeface="Carlito" pitchFamily="34" charset="-122"/>
                <a:cs typeface="Carlito" pitchFamily="34" charset="-120"/>
              </a:rPr>
              <a:t>5.3 CRITICAL ANALYSIS — P9 / P10 / P11</a:t>
            </a:r>
            <a:endParaRPr lang="en-US" sz="800" dirty="0"/>
          </a:p>
        </p:txBody>
      </p:sp>
      <p:sp>
        <p:nvSpPr>
          <p:cNvPr id="6" name="Text 4"/>
          <p:cNvSpPr/>
          <p:nvPr/>
        </p:nvSpPr>
        <p:spPr>
          <a:xfrm>
            <a:off x="514350" y="1000125"/>
            <a:ext cx="8486775" cy="345619"/>
          </a:xfrm>
          <a:prstGeom prst="rect">
            <a:avLst/>
          </a:prstGeom>
          <a:noFill/>
          <a:ln/>
        </p:spPr>
        <p:txBody>
          <a:bodyPr wrap="squar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Surveys describe. Binary tooling predates standards.</a:t>
            </a:r>
            <a:endParaRPr lang="en-US" sz="2250" dirty="0"/>
          </a:p>
        </p:txBody>
      </p:sp>
      <p:sp>
        <p:nvSpPr>
          <p:cNvPr id="7" name="Text 5"/>
          <p:cNvSpPr/>
          <p:nvPr/>
        </p:nvSpPr>
        <p:spPr>
          <a:xfrm>
            <a:off x="514350" y="1434443"/>
            <a:ext cx="8115300" cy="7144"/>
          </a:xfrm>
          <a:prstGeom prst="rect">
            <a:avLst/>
          </a:prstGeom>
          <a:solidFill>
            <a:srgbClr val="D9D9D9"/>
          </a:solidFill>
          <a:ln/>
        </p:spPr>
        <p:txBody>
          <a:bodyPr wrap="square" rtlCol="0" anchor="ctr"/>
          <a:lstStyle/>
          <a:p>
            <a:pPr marL="0" indent="0">
              <a:buNone/>
            </a:pPr>
            <a:endParaRPr lang="en-US" dirty="0"/>
          </a:p>
        </p:txBody>
      </p:sp>
      <p:sp>
        <p:nvSpPr>
          <p:cNvPr id="8" name="Text 6"/>
          <p:cNvSpPr/>
          <p:nvPr/>
        </p:nvSpPr>
        <p:spPr>
          <a:xfrm>
            <a:off x="514350" y="1698761"/>
            <a:ext cx="2636021" cy="119015"/>
          </a:xfrm>
          <a:prstGeom prst="rect">
            <a:avLst/>
          </a:prstGeom>
          <a:noFill/>
          <a:ln/>
        </p:spPr>
        <p:txBody>
          <a:bodyPr wrap="none" lIns="0" tIns="0" rIns="0" bIns="0" rtlCol="0" anchor="t">
            <a:normAutofit/>
          </a:bodyPr>
          <a:lstStyle/>
          <a:p>
            <a:pPr marL="0" indent="0" algn="l">
              <a:lnSpc>
                <a:spcPts val="928"/>
              </a:lnSpc>
              <a:buNone/>
            </a:pPr>
            <a:r>
              <a:rPr lang="en-US" sz="800" kern="0" spc="111" dirty="0">
                <a:solidFill>
                  <a:srgbClr val="0A0A0A"/>
                </a:solidFill>
                <a:latin typeface="Liberation Sans Narrow" pitchFamily="34" charset="0"/>
                <a:ea typeface="Liberation Sans Narrow" pitchFamily="34" charset="-122"/>
                <a:cs typeface="Liberation Sans Narrow" pitchFamily="34" charset="-120"/>
              </a:rPr>
              <a:t>P9 / P10</a:t>
            </a:r>
            <a:endParaRPr lang="en-US" sz="800" dirty="0"/>
          </a:p>
        </p:txBody>
      </p:sp>
      <p:sp>
        <p:nvSpPr>
          <p:cNvPr id="9" name="Text 7"/>
          <p:cNvSpPr/>
          <p:nvPr/>
        </p:nvSpPr>
        <p:spPr>
          <a:xfrm>
            <a:off x="514350" y="1845208"/>
            <a:ext cx="2664753" cy="164592"/>
          </a:xfrm>
          <a:prstGeom prst="rect">
            <a:avLst/>
          </a:prstGeom>
          <a:noFill/>
          <a:ln/>
        </p:spPr>
        <p:txBody>
          <a:bodyPr wrap="none" lIns="0" tIns="0" rIns="0" bIns="0" rtlCol="0" anchor="t"/>
          <a:lstStyle/>
          <a:p>
            <a:pPr marL="0" indent="0" algn="l">
              <a:lnSpc>
                <a:spcPts val="844"/>
              </a:lnSpc>
              <a:buNone/>
            </a:pPr>
            <a:r>
              <a:rPr lang="en-US" sz="800" kern="0" spc="124" dirty="0">
                <a:solidFill>
                  <a:srgbClr val="4A4A4A"/>
                </a:solidFill>
                <a:latin typeface="Carlito" pitchFamily="34" charset="0"/>
                <a:ea typeface="Carlito" pitchFamily="34" charset="-122"/>
                <a:cs typeface="Carlito" pitchFamily="34" charset="-120"/>
              </a:rPr>
              <a:t>SURVEYS</a:t>
            </a:r>
            <a:endParaRPr lang="en-US" sz="800" dirty="0"/>
          </a:p>
        </p:txBody>
      </p:sp>
      <p:sp>
        <p:nvSpPr>
          <p:cNvPr id="10" name="Text 8"/>
          <p:cNvSpPr/>
          <p:nvPr/>
        </p:nvSpPr>
        <p:spPr>
          <a:xfrm>
            <a:off x="2600325" y="1698761"/>
            <a:ext cx="6029325" cy="509998"/>
          </a:xfrm>
          <a:prstGeom prst="rect">
            <a:avLst/>
          </a:prstGeom>
          <a:noFill/>
          <a:ln/>
        </p:spPr>
        <p:txBody>
          <a:bodyPr wrap="square" lIns="0" tIns="0" rIns="0" bIns="0" rtlCol="0" anchor="t"/>
          <a:lstStyle/>
          <a:p>
            <a:pPr marL="0" indent="0" algn="l">
              <a:lnSpc>
                <a:spcPts val="1133"/>
              </a:lnSpc>
              <a:buNone/>
            </a:pPr>
            <a:r>
              <a:rPr lang="en-US" sz="800" dirty="0">
                <a:solidFill>
                  <a:srgbClr val="1F1F1F"/>
                </a:solidFill>
                <a:latin typeface="Carlito" pitchFamily="34" charset="0"/>
                <a:ea typeface="Carlito" pitchFamily="34" charset="-122"/>
                <a:cs typeface="Carlito" pitchFamily="34" charset="-120"/>
              </a:rPr>
              <a:t>Both describe rather than measure, and both organise around “crypto-agility” without an operational definition computable from an artefact. </a:t>
            </a:r>
            <a:r>
              <a:rPr lang="en-US" sz="800" dirty="0">
                <a:solidFill>
                  <a:srgbClr val="0A0A0A"/>
                </a:solidFill>
                <a:latin typeface="Carlito" pitchFamily="34" charset="0"/>
                <a:ea typeface="Carlito" pitchFamily="34" charset="-122"/>
                <a:cs typeface="Carlito" pitchFamily="34" charset="-120"/>
              </a:rPr>
              <a:t>Our correction:</a:t>
            </a:r>
            <a:r>
              <a:rPr lang="en-US" sz="800" dirty="0">
                <a:solidFill>
                  <a:srgbClr val="1F1F1F"/>
                </a:solidFill>
                <a:latin typeface="Carlito" pitchFamily="34" charset="0"/>
                <a:ea typeface="Carlito" pitchFamily="34" charset="-122"/>
                <a:cs typeface="Carlito" pitchFamily="34" charset="-120"/>
              </a:rPr>
              <a:t> we supply one computable definition (the per-data-path exposure score) and evaluate it. We use the surveys only to fix the standards baseline.</a:t>
            </a:r>
            <a:endParaRPr lang="en-US" sz="800" dirty="0"/>
          </a:p>
        </p:txBody>
      </p:sp>
      <p:sp>
        <p:nvSpPr>
          <p:cNvPr id="11" name="Text 9"/>
          <p:cNvSpPr/>
          <p:nvPr/>
        </p:nvSpPr>
        <p:spPr>
          <a:xfrm>
            <a:off x="514350" y="2244700"/>
            <a:ext cx="8115300" cy="7144"/>
          </a:xfrm>
          <a:prstGeom prst="rect">
            <a:avLst/>
          </a:prstGeom>
          <a:solidFill>
            <a:srgbClr val="D9D9D9"/>
          </a:solidFill>
          <a:ln/>
        </p:spPr>
        <p:txBody>
          <a:bodyPr wrap="square" rtlCol="0" anchor="ctr"/>
          <a:lstStyle/>
          <a:p>
            <a:pPr marL="0" indent="0">
              <a:buNone/>
            </a:pPr>
            <a:endParaRPr lang="en-US" dirty="0"/>
          </a:p>
        </p:txBody>
      </p:sp>
      <p:sp>
        <p:nvSpPr>
          <p:cNvPr id="12" name="Text 10"/>
          <p:cNvSpPr/>
          <p:nvPr/>
        </p:nvSpPr>
        <p:spPr>
          <a:xfrm>
            <a:off x="514350" y="2366144"/>
            <a:ext cx="2971800" cy="119015"/>
          </a:xfrm>
          <a:prstGeom prst="rect">
            <a:avLst/>
          </a:prstGeom>
          <a:noFill/>
          <a:ln/>
        </p:spPr>
        <p:txBody>
          <a:bodyPr wrap="none" lIns="0" tIns="0" rIns="0" bIns="0" rtlCol="0" anchor="t">
            <a:normAutofit/>
          </a:bodyPr>
          <a:lstStyle/>
          <a:p>
            <a:pPr marL="0" indent="0" algn="l">
              <a:lnSpc>
                <a:spcPts val="928"/>
              </a:lnSpc>
              <a:buNone/>
            </a:pPr>
            <a:r>
              <a:rPr lang="en-US" sz="800" kern="0" spc="111" dirty="0">
                <a:solidFill>
                  <a:srgbClr val="0A0A0A"/>
                </a:solidFill>
                <a:latin typeface="Liberation Sans Narrow" pitchFamily="34" charset="0"/>
                <a:ea typeface="Liberation Sans Narrow" pitchFamily="34" charset="-122"/>
                <a:cs typeface="Liberation Sans Narrow" pitchFamily="34" charset="-120"/>
              </a:rPr>
              <a:t>P11</a:t>
            </a:r>
            <a:endParaRPr lang="en-US" sz="800" dirty="0"/>
          </a:p>
        </p:txBody>
      </p:sp>
      <p:sp>
        <p:nvSpPr>
          <p:cNvPr id="13" name="Text 11"/>
          <p:cNvSpPr/>
          <p:nvPr/>
        </p:nvSpPr>
        <p:spPr>
          <a:xfrm>
            <a:off x="514350" y="2512591"/>
            <a:ext cx="2464156" cy="164592"/>
          </a:xfrm>
          <a:prstGeom prst="rect">
            <a:avLst/>
          </a:prstGeom>
          <a:noFill/>
          <a:ln/>
        </p:spPr>
        <p:txBody>
          <a:bodyPr wrap="none" lIns="0" tIns="0" rIns="0" bIns="0" rtlCol="0" anchor="t"/>
          <a:lstStyle/>
          <a:p>
            <a:pPr marL="0" indent="0" algn="l">
              <a:lnSpc>
                <a:spcPts val="844"/>
              </a:lnSpc>
              <a:buNone/>
            </a:pPr>
            <a:r>
              <a:rPr lang="en-US" sz="800" kern="0" spc="124" dirty="0">
                <a:solidFill>
                  <a:srgbClr val="4A4A4A"/>
                </a:solidFill>
                <a:latin typeface="Carlito" pitchFamily="34" charset="0"/>
                <a:ea typeface="Carlito" pitchFamily="34" charset="-122"/>
                <a:cs typeface="Carlito" pitchFamily="34" charset="-120"/>
              </a:rPr>
              <a:t>BINARY TOOLCHAIN</a:t>
            </a:r>
            <a:endParaRPr lang="en-US" sz="800" dirty="0"/>
          </a:p>
        </p:txBody>
      </p:sp>
      <p:sp>
        <p:nvSpPr>
          <p:cNvPr id="14" name="Text 12"/>
          <p:cNvSpPr/>
          <p:nvPr/>
        </p:nvSpPr>
        <p:spPr>
          <a:xfrm>
            <a:off x="2600325" y="2329274"/>
            <a:ext cx="6029325" cy="339999"/>
          </a:xfrm>
          <a:prstGeom prst="rect">
            <a:avLst/>
          </a:prstGeom>
          <a:noFill/>
          <a:ln/>
        </p:spPr>
        <p:txBody>
          <a:bodyPr wrap="square" lIns="0" tIns="0" rIns="0" bIns="0" rtlCol="0" anchor="t"/>
          <a:lstStyle/>
          <a:p>
            <a:pPr marL="0" indent="0" algn="l">
              <a:lnSpc>
                <a:spcPts val="1133"/>
              </a:lnSpc>
              <a:buNone/>
            </a:pPr>
            <a:r>
              <a:rPr lang="en-US" sz="800" dirty="0">
                <a:solidFill>
                  <a:srgbClr val="1F1F1F"/>
                </a:solidFill>
                <a:latin typeface="Carlito" pitchFamily="34" charset="0"/>
                <a:ea typeface="Carlito" pitchFamily="34" charset="-122"/>
                <a:cs typeface="Carlito" pitchFamily="34" charset="-120"/>
              </a:rPr>
              <a:t>Predates FIPS 203/204/205 finalisation — target algorithm set is stale. Binary analysis loses the variable names, type information and configuration context that make retention inference possible. </a:t>
            </a:r>
            <a:r>
              <a:rPr lang="en-US" sz="800" dirty="0">
                <a:solidFill>
                  <a:srgbClr val="0A0A0A"/>
                </a:solidFill>
                <a:latin typeface="Carlito" pitchFamily="34" charset="0"/>
                <a:ea typeface="Carlito" pitchFamily="34" charset="-122"/>
                <a:cs typeface="Carlito" pitchFamily="34" charset="-120"/>
              </a:rPr>
              <a:t>Our correction:</a:t>
            </a:r>
            <a:r>
              <a:rPr lang="en-US" sz="800" dirty="0">
                <a:solidFill>
                  <a:srgbClr val="1F1F1F"/>
                </a:solidFill>
                <a:latin typeface="Carlito" pitchFamily="34" charset="0"/>
                <a:ea typeface="Carlito" pitchFamily="34" charset="-122"/>
                <a:cs typeface="Carlito" pitchFamily="34" charset="-120"/>
              </a:rPr>
              <a:t> source-level scope, stated as a deliberate trade-off.</a:t>
            </a:r>
            <a:endParaRPr lang="en-US" sz="800" dirty="0"/>
          </a:p>
        </p:txBody>
      </p:sp>
      <p:sp>
        <p:nvSpPr>
          <p:cNvPr id="15" name="Text 13"/>
          <p:cNvSpPr/>
          <p:nvPr/>
        </p:nvSpPr>
        <p:spPr>
          <a:xfrm>
            <a:off x="514350" y="2768203"/>
            <a:ext cx="8115300" cy="7144"/>
          </a:xfrm>
          <a:prstGeom prst="rect">
            <a:avLst/>
          </a:prstGeom>
          <a:solidFill>
            <a:srgbClr val="D9D9D9"/>
          </a:solidFill>
          <a:ln/>
        </p:spPr>
        <p:txBody>
          <a:bodyPr wrap="square" rtlCol="0" anchor="ctr"/>
          <a:lstStyle/>
          <a:p>
            <a:pPr marL="0" indent="0">
              <a:buNone/>
            </a:pPr>
            <a:endParaRPr lang="en-US" dirty="0"/>
          </a:p>
        </p:txBody>
      </p:sp>
      <p:sp>
        <p:nvSpPr>
          <p:cNvPr id="16" name="Text 14"/>
          <p:cNvSpPr/>
          <p:nvPr/>
        </p:nvSpPr>
        <p:spPr>
          <a:xfrm>
            <a:off x="514350" y="2889647"/>
            <a:ext cx="2971800" cy="119015"/>
          </a:xfrm>
          <a:prstGeom prst="rect">
            <a:avLst/>
          </a:prstGeom>
          <a:noFill/>
          <a:ln/>
        </p:spPr>
        <p:txBody>
          <a:bodyPr wrap="none" lIns="0" tIns="0" rIns="0" bIns="0" rtlCol="0" anchor="t">
            <a:normAutofit/>
          </a:bodyPr>
          <a:lstStyle/>
          <a:p>
            <a:pPr marL="0" indent="0" algn="l">
              <a:lnSpc>
                <a:spcPts val="928"/>
              </a:lnSpc>
              <a:buNone/>
            </a:pPr>
            <a:r>
              <a:rPr lang="en-US" sz="800" kern="0" spc="111" dirty="0">
                <a:solidFill>
                  <a:srgbClr val="0A0A0A"/>
                </a:solidFill>
                <a:latin typeface="Liberation Sans Narrow" pitchFamily="34" charset="0"/>
                <a:ea typeface="Liberation Sans Narrow" pitchFamily="34" charset="-122"/>
                <a:cs typeface="Liberation Sans Narrow" pitchFamily="34" charset="-120"/>
              </a:rPr>
              <a:t>P12</a:t>
            </a:r>
            <a:endParaRPr lang="en-US" sz="800" dirty="0"/>
          </a:p>
        </p:txBody>
      </p:sp>
      <p:sp>
        <p:nvSpPr>
          <p:cNvPr id="17" name="Text 15"/>
          <p:cNvSpPr/>
          <p:nvPr/>
        </p:nvSpPr>
        <p:spPr>
          <a:xfrm>
            <a:off x="514350" y="3036094"/>
            <a:ext cx="2464156" cy="164592"/>
          </a:xfrm>
          <a:prstGeom prst="rect">
            <a:avLst/>
          </a:prstGeom>
          <a:noFill/>
          <a:ln/>
        </p:spPr>
        <p:txBody>
          <a:bodyPr wrap="none" lIns="0" tIns="0" rIns="0" bIns="0" rtlCol="0" anchor="t"/>
          <a:lstStyle/>
          <a:p>
            <a:pPr marL="0" indent="0" algn="l">
              <a:lnSpc>
                <a:spcPts val="844"/>
              </a:lnSpc>
              <a:buNone/>
            </a:pPr>
            <a:r>
              <a:rPr lang="en-US" sz="800" kern="0" spc="124" dirty="0">
                <a:solidFill>
                  <a:srgbClr val="4A4A4A"/>
                </a:solidFill>
                <a:latin typeface="Carlito" pitchFamily="34" charset="0"/>
                <a:ea typeface="Carlito" pitchFamily="34" charset="-122"/>
                <a:cs typeface="Carlito" pitchFamily="34" charset="-120"/>
              </a:rPr>
              <a:t>COST OF WAITING</a:t>
            </a:r>
            <a:endParaRPr lang="en-US" sz="800" dirty="0"/>
          </a:p>
        </p:txBody>
      </p:sp>
      <p:sp>
        <p:nvSpPr>
          <p:cNvPr id="18" name="Text 16"/>
          <p:cNvSpPr/>
          <p:nvPr/>
        </p:nvSpPr>
        <p:spPr>
          <a:xfrm>
            <a:off x="2600325" y="2889647"/>
            <a:ext cx="6029325" cy="339999"/>
          </a:xfrm>
          <a:prstGeom prst="rect">
            <a:avLst/>
          </a:prstGeom>
          <a:noFill/>
          <a:ln/>
        </p:spPr>
        <p:txBody>
          <a:bodyPr wrap="square" lIns="0" tIns="0" rIns="0" bIns="0" rtlCol="0" anchor="t"/>
          <a:lstStyle/>
          <a:p>
            <a:pPr marL="0" indent="0" algn="l">
              <a:lnSpc>
                <a:spcPts val="1133"/>
              </a:lnSpc>
              <a:buNone/>
            </a:pPr>
            <a:r>
              <a:rPr lang="en-US" sz="800" dirty="0">
                <a:solidFill>
                  <a:srgbClr val="1F1F1F"/>
                </a:solidFill>
                <a:latin typeface="Carlito" pitchFamily="34" charset="0"/>
                <a:ea typeface="Carlito" pitchFamily="34" charset="-122"/>
                <a:cs typeface="Carlito" pitchFamily="34" charset="-120"/>
              </a:rPr>
              <a:t>Decision-theoretic treatment of migration timing under CRQC-date uncertainty. Provides the utility model our score can be justified against — we cite it rather than re-derive it.</a:t>
            </a:r>
            <a:endParaRPr lang="en-US" sz="800" dirty="0"/>
          </a:p>
        </p:txBody>
      </p:sp>
      <p:sp>
        <p:nvSpPr>
          <p:cNvPr id="19" name="Text 17"/>
          <p:cNvSpPr/>
          <p:nvPr/>
        </p:nvSpPr>
        <p:spPr>
          <a:xfrm>
            <a:off x="514350" y="3291706"/>
            <a:ext cx="8115300" cy="7144"/>
          </a:xfrm>
          <a:prstGeom prst="rect">
            <a:avLst/>
          </a:prstGeom>
          <a:solidFill>
            <a:srgbClr val="D9D9D9"/>
          </a:solidFill>
          <a:ln/>
        </p:spPr>
        <p:txBody>
          <a:bodyPr wrap="square" rtlCol="0" anchor="ctr"/>
          <a:lstStyle/>
          <a:p>
            <a:pPr marL="0" indent="0">
              <a:buNone/>
            </a:pPr>
            <a:endParaRPr lang="en-US" dirty="0"/>
          </a:p>
        </p:txBody>
      </p:sp>
      <p:sp>
        <p:nvSpPr>
          <p:cNvPr id="20" name="Shape 18"/>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21" name="Text 19"/>
          <p:cNvSpPr/>
          <p:nvPr/>
        </p:nvSpPr>
        <p:spPr>
          <a:xfrm>
            <a:off x="1463040" y="4846320"/>
            <a:ext cx="7132320" cy="137160"/>
          </a:xfrm>
          <a:prstGeom prst="rect">
            <a:avLst/>
          </a:prstGeom>
          <a:noFill/>
          <a:ln/>
        </p:spPr>
        <p:txBody>
          <a:bodyPr wrap="squar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05 — LITERATURE SURVEY</a:t>
            </a:r>
            <a:endParaRPr lang="en-US" sz="800" dirty="0"/>
          </a:p>
        </p:txBody>
      </p:sp>
      <p:sp>
        <p:nvSpPr>
          <p:cNvPr id="22" name="Text 20"/>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26 / 39</a:t>
            </a:r>
            <a:endParaRPr lang="en-US" sz="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750174"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7278812" y="400050"/>
            <a:ext cx="1350838" cy="117872"/>
          </a:xfrm>
          <a:prstGeom prst="rect">
            <a:avLst/>
          </a:prstGeom>
          <a:noFill/>
          <a:ln/>
        </p:spPr>
        <p:txBody>
          <a:bodyPr wrap="non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REVIEW REPORT I — PAGE 27</a:t>
            </a:r>
            <a:endParaRPr lang="en-US" sz="619" dirty="0"/>
          </a:p>
        </p:txBody>
      </p:sp>
      <p:sp>
        <p:nvSpPr>
          <p:cNvPr id="5" name="Text 3"/>
          <p:cNvSpPr/>
          <p:nvPr/>
        </p:nvSpPr>
        <p:spPr>
          <a:xfrm>
            <a:off x="514350" y="796528"/>
            <a:ext cx="8629650" cy="164592"/>
          </a:xfrm>
          <a:prstGeom prst="rect">
            <a:avLst/>
          </a:prstGeom>
          <a:noFill/>
          <a:ln/>
        </p:spPr>
        <p:txBody>
          <a:bodyPr wrap="square" lIns="0" tIns="0" rIns="0" bIns="0" rtlCol="0" anchor="t"/>
          <a:lstStyle/>
          <a:p>
            <a:pPr marL="0" indent="0" algn="l">
              <a:lnSpc>
                <a:spcPts val="928"/>
              </a:lnSpc>
              <a:buNone/>
            </a:pPr>
            <a:r>
              <a:rPr lang="en-US" sz="800" kern="0" spc="136" dirty="0">
                <a:solidFill>
                  <a:srgbClr val="4A4A4A"/>
                </a:solidFill>
                <a:latin typeface="Carlito" pitchFamily="34" charset="0"/>
                <a:ea typeface="Carlito" pitchFamily="34" charset="-122"/>
                <a:cs typeface="Carlito" pitchFamily="34" charset="-120"/>
              </a:rPr>
              <a:t>5.3 CRITICAL ANALYSIS — P13 / P14 / P15 / P16</a:t>
            </a:r>
            <a:endParaRPr lang="en-US" sz="800" dirty="0"/>
          </a:p>
        </p:txBody>
      </p:sp>
      <p:sp>
        <p:nvSpPr>
          <p:cNvPr id="6" name="Text 4"/>
          <p:cNvSpPr/>
          <p:nvPr/>
        </p:nvSpPr>
        <p:spPr>
          <a:xfrm>
            <a:off x="514350" y="1000125"/>
            <a:ext cx="8251031" cy="345619"/>
          </a:xfrm>
          <a:prstGeom prst="rect">
            <a:avLst/>
          </a:prstGeom>
          <a:noFill/>
          <a:ln/>
        </p:spPr>
        <p:txBody>
          <a:bodyPr wrap="non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The baselines, examined.</a:t>
            </a:r>
            <a:endParaRPr lang="en-US" sz="2250" dirty="0"/>
          </a:p>
        </p:txBody>
      </p:sp>
      <p:sp>
        <p:nvSpPr>
          <p:cNvPr id="7" name="Text 5"/>
          <p:cNvSpPr/>
          <p:nvPr/>
        </p:nvSpPr>
        <p:spPr>
          <a:xfrm>
            <a:off x="514350" y="1434443"/>
            <a:ext cx="8115300" cy="7144"/>
          </a:xfrm>
          <a:prstGeom prst="rect">
            <a:avLst/>
          </a:prstGeom>
          <a:solidFill>
            <a:srgbClr val="D9D9D9"/>
          </a:solidFill>
          <a:ln/>
        </p:spPr>
        <p:txBody>
          <a:bodyPr wrap="square" rtlCol="0" anchor="ctr"/>
          <a:lstStyle/>
          <a:p>
            <a:pPr marL="0" indent="0">
              <a:buNone/>
            </a:pPr>
            <a:endParaRPr lang="en-US" dirty="0"/>
          </a:p>
        </p:txBody>
      </p:sp>
      <p:sp>
        <p:nvSpPr>
          <p:cNvPr id="8" name="Text 6"/>
          <p:cNvSpPr/>
          <p:nvPr/>
        </p:nvSpPr>
        <p:spPr>
          <a:xfrm>
            <a:off x="514350" y="1641611"/>
            <a:ext cx="2435425"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Liberation Sans Narrow" pitchFamily="34" charset="0"/>
                <a:ea typeface="Liberation Sans Narrow" pitchFamily="34" charset="-122"/>
                <a:cs typeface="Liberation Sans Narrow" pitchFamily="34" charset="-120"/>
              </a:rPr>
              <a:t>P13 CRYPTOGUARD</a:t>
            </a:r>
            <a:endParaRPr lang="en-US" sz="800" dirty="0"/>
          </a:p>
        </p:txBody>
      </p:sp>
      <p:sp>
        <p:nvSpPr>
          <p:cNvPr id="9" name="Text 7"/>
          <p:cNvSpPr/>
          <p:nvPr/>
        </p:nvSpPr>
        <p:spPr>
          <a:xfrm>
            <a:off x="2600325" y="1641611"/>
            <a:ext cx="6029325" cy="329184"/>
          </a:xfrm>
          <a:prstGeom prst="rect">
            <a:avLst/>
          </a:prstGeom>
          <a:noFill/>
          <a:ln/>
        </p:spPr>
        <p:txBody>
          <a:bodyPr wrap="square" lIns="0" tIns="0" rIns="0" bIns="0" rtlCol="0" anchor="t"/>
          <a:lstStyle/>
          <a:p>
            <a:pPr marL="0" indent="0" algn="l">
              <a:lnSpc>
                <a:spcPts val="1013"/>
              </a:lnSpc>
              <a:buNone/>
            </a:pPr>
            <a:r>
              <a:rPr lang="en-US" sz="800" dirty="0">
                <a:solidFill>
                  <a:srgbClr val="1F1F1F"/>
                </a:solidFill>
                <a:latin typeface="Carlito" pitchFamily="34" charset="0"/>
                <a:ea typeface="Carlito" pitchFamily="34" charset="-122"/>
                <a:cs typeface="Carlito" pitchFamily="34" charset="-120"/>
              </a:rPr>
              <a:t>Targets incorrect API usage (ECB, hardcoded keys, short keys) rather than quantum-vulnerable-but-correct usage. Java-only. </a:t>
            </a:r>
            <a:r>
              <a:rPr lang="en-US" sz="800" dirty="0">
                <a:solidFill>
                  <a:srgbClr val="0A0A0A"/>
                </a:solidFill>
                <a:latin typeface="Carlito" pitchFamily="34" charset="0"/>
                <a:ea typeface="Carlito" pitchFamily="34" charset="-122"/>
                <a:cs typeface="Carlito" pitchFamily="34" charset="-120"/>
              </a:rPr>
              <a:t>Our correction:</a:t>
            </a:r>
            <a:r>
              <a:rPr lang="en-US" sz="800" dirty="0">
                <a:solidFill>
                  <a:srgbClr val="1F1F1F"/>
                </a:solidFill>
                <a:latin typeface="Carlito" pitchFamily="34" charset="0"/>
                <a:ea typeface="Carlito" pitchFamily="34" charset="-122"/>
                <a:cs typeface="Carlito" pitchFamily="34" charset="-120"/>
              </a:rPr>
              <a:t> borrow its technique — backward inter-procedural dataflow — and repoint it at a different question: “what does this call protect, and for how long?”</a:t>
            </a:r>
            <a:endParaRPr lang="en-US" sz="800" dirty="0"/>
          </a:p>
        </p:txBody>
      </p:sp>
      <p:sp>
        <p:nvSpPr>
          <p:cNvPr id="10" name="Text 8"/>
          <p:cNvSpPr/>
          <p:nvPr/>
        </p:nvSpPr>
        <p:spPr>
          <a:xfrm>
            <a:off x="514350" y="1984511"/>
            <a:ext cx="8115300" cy="7144"/>
          </a:xfrm>
          <a:prstGeom prst="rect">
            <a:avLst/>
          </a:prstGeom>
          <a:solidFill>
            <a:srgbClr val="D9D9D9"/>
          </a:solidFill>
          <a:ln/>
        </p:spPr>
        <p:txBody>
          <a:bodyPr wrap="square" rtlCol="0" anchor="ctr"/>
          <a:lstStyle/>
          <a:p>
            <a:pPr marL="0" indent="0">
              <a:buNone/>
            </a:pPr>
            <a:endParaRPr lang="en-US" dirty="0"/>
          </a:p>
        </p:txBody>
      </p:sp>
      <p:sp>
        <p:nvSpPr>
          <p:cNvPr id="11" name="Text 9"/>
          <p:cNvSpPr/>
          <p:nvPr/>
        </p:nvSpPr>
        <p:spPr>
          <a:xfrm>
            <a:off x="514350" y="2077380"/>
            <a:ext cx="2435425"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Liberation Sans Narrow" pitchFamily="34" charset="0"/>
                <a:ea typeface="Liberation Sans Narrow" pitchFamily="34" charset="-122"/>
                <a:cs typeface="Liberation Sans Narrow" pitchFamily="34" charset="-120"/>
              </a:rPr>
              <a:t>P14 PQC MIGRATION SLR</a:t>
            </a:r>
            <a:endParaRPr lang="en-US" sz="800" dirty="0"/>
          </a:p>
        </p:txBody>
      </p:sp>
      <p:sp>
        <p:nvSpPr>
          <p:cNvPr id="12" name="Text 10"/>
          <p:cNvSpPr/>
          <p:nvPr/>
        </p:nvSpPr>
        <p:spPr>
          <a:xfrm>
            <a:off x="2600325" y="2033136"/>
            <a:ext cx="6029325" cy="329184"/>
          </a:xfrm>
          <a:prstGeom prst="rect">
            <a:avLst/>
          </a:prstGeom>
          <a:noFill/>
          <a:ln/>
        </p:spPr>
        <p:txBody>
          <a:bodyPr wrap="square" lIns="0" tIns="0" rIns="0" bIns="0" rtlCol="0" anchor="t"/>
          <a:lstStyle/>
          <a:p>
            <a:pPr marL="0" indent="0" algn="l">
              <a:lnSpc>
                <a:spcPts val="1013"/>
              </a:lnSpc>
              <a:buNone/>
            </a:pPr>
            <a:r>
              <a:rPr lang="en-US" sz="800" dirty="0">
                <a:solidFill>
                  <a:srgbClr val="1F1F1F"/>
                </a:solidFill>
                <a:latin typeface="Carlito" pitchFamily="34" charset="0"/>
                <a:ea typeface="Carlito" pitchFamily="34" charset="-122"/>
                <a:cs typeface="Carlito" pitchFamily="34" charset="-120"/>
              </a:rPr>
              <a:t>Terminology, migration steps and roles “not defined precisely or consistently.” Implementations “mostly experimental.” Situation “chaotic.” Notably the first author of this review is also first author of Crysy [P1] — the gap has survived both a dedicated review AND a dedicated implementation by the same group.</a:t>
            </a:r>
            <a:endParaRPr lang="en-US" sz="800" dirty="0"/>
          </a:p>
        </p:txBody>
      </p:sp>
      <p:sp>
        <p:nvSpPr>
          <p:cNvPr id="13" name="Text 11"/>
          <p:cNvSpPr/>
          <p:nvPr/>
        </p:nvSpPr>
        <p:spPr>
          <a:xfrm>
            <a:off x="514350" y="2420280"/>
            <a:ext cx="8115300" cy="7144"/>
          </a:xfrm>
          <a:prstGeom prst="rect">
            <a:avLst/>
          </a:prstGeom>
          <a:solidFill>
            <a:srgbClr val="D9D9D9"/>
          </a:solidFill>
          <a:ln/>
        </p:spPr>
        <p:txBody>
          <a:bodyPr wrap="square" rtlCol="0" anchor="ctr"/>
          <a:lstStyle/>
          <a:p>
            <a:pPr marL="0" indent="0">
              <a:buNone/>
            </a:pPr>
            <a:endParaRPr lang="en-US" dirty="0"/>
          </a:p>
        </p:txBody>
      </p:sp>
      <p:sp>
        <p:nvSpPr>
          <p:cNvPr id="14" name="Text 12"/>
          <p:cNvSpPr/>
          <p:nvPr/>
        </p:nvSpPr>
        <p:spPr>
          <a:xfrm>
            <a:off x="514350" y="2513149"/>
            <a:ext cx="2301694"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Liberation Sans Narrow" pitchFamily="34" charset="0"/>
                <a:ea typeface="Liberation Sans Narrow" pitchFamily="34" charset="-122"/>
                <a:cs typeface="Liberation Sans Narrow" pitchFamily="34" charset="-120"/>
              </a:rPr>
              <a:t>P15 FEDERAL RESERVE HNDL</a:t>
            </a:r>
            <a:endParaRPr lang="en-US" sz="800" dirty="0"/>
          </a:p>
        </p:txBody>
      </p:sp>
      <p:sp>
        <p:nvSpPr>
          <p:cNvPr id="15" name="Text 13"/>
          <p:cNvSpPr/>
          <p:nvPr/>
        </p:nvSpPr>
        <p:spPr>
          <a:xfrm>
            <a:off x="2600325" y="2513149"/>
            <a:ext cx="6029325" cy="164592"/>
          </a:xfrm>
          <a:prstGeom prst="rect">
            <a:avLst/>
          </a:prstGeom>
          <a:noFill/>
          <a:ln/>
        </p:spPr>
        <p:txBody>
          <a:bodyPr wrap="square" lIns="0" tIns="0" rIns="0" bIns="0" rtlCol="0" anchor="t"/>
          <a:lstStyle/>
          <a:p>
            <a:pPr marL="0" indent="0" algn="l">
              <a:lnSpc>
                <a:spcPts val="1013"/>
              </a:lnSpc>
              <a:buNone/>
            </a:pPr>
            <a:r>
              <a:rPr lang="en-US" sz="675" dirty="0">
                <a:solidFill>
                  <a:srgbClr val="1F1F1F"/>
                </a:solidFill>
                <a:latin typeface="Carlito" pitchFamily="34" charset="0"/>
                <a:ea typeface="Carlito" pitchFamily="34" charset="-122"/>
                <a:cs typeface="Carlito" pitchFamily="34" charset="-120"/>
              </a:rPr>
              <a:t>Operates at the level of the financial system. No view of any individual system. </a:t>
            </a:r>
            <a:r>
              <a:rPr lang="en-US" sz="675" dirty="0">
                <a:solidFill>
                  <a:srgbClr val="0A0A0A"/>
                </a:solidFill>
                <a:latin typeface="Carlito" pitchFamily="34" charset="0"/>
                <a:ea typeface="Carlito" pitchFamily="34" charset="-122"/>
                <a:cs typeface="Carlito" pitchFamily="34" charset="-120"/>
              </a:rPr>
              <a:t>Our correction:</a:t>
            </a:r>
            <a:r>
              <a:rPr lang="en-US" sz="675" dirty="0">
                <a:solidFill>
                  <a:srgbClr val="1F1F1F"/>
                </a:solidFill>
                <a:latin typeface="Carlito" pitchFamily="34" charset="0"/>
                <a:ea typeface="Carlito" pitchFamily="34" charset="-122"/>
                <a:cs typeface="Carlito" pitchFamily="34" charset="-120"/>
              </a:rPr>
              <a:t> cited strictly as institutional justification for §2.1.</a:t>
            </a:r>
            <a:endParaRPr lang="en-US" sz="675" dirty="0"/>
          </a:p>
        </p:txBody>
      </p:sp>
      <p:sp>
        <p:nvSpPr>
          <p:cNvPr id="16" name="Text 14"/>
          <p:cNvSpPr/>
          <p:nvPr/>
        </p:nvSpPr>
        <p:spPr>
          <a:xfrm>
            <a:off x="514350" y="2727461"/>
            <a:ext cx="8115300" cy="7144"/>
          </a:xfrm>
          <a:prstGeom prst="rect">
            <a:avLst/>
          </a:prstGeom>
          <a:solidFill>
            <a:srgbClr val="D9D9D9"/>
          </a:solidFill>
          <a:ln/>
        </p:spPr>
        <p:txBody>
          <a:bodyPr wrap="square" rtlCol="0" anchor="ctr"/>
          <a:lstStyle/>
          <a:p>
            <a:pPr marL="0" indent="0">
              <a:buNone/>
            </a:pPr>
            <a:endParaRPr lang="en-US" dirty="0"/>
          </a:p>
        </p:txBody>
      </p:sp>
      <p:sp>
        <p:nvSpPr>
          <p:cNvPr id="17" name="Text 15"/>
          <p:cNvSpPr/>
          <p:nvPr/>
        </p:nvSpPr>
        <p:spPr>
          <a:xfrm>
            <a:off x="514350" y="2820330"/>
            <a:ext cx="2435425"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Liberation Sans Narrow" pitchFamily="34" charset="0"/>
                <a:ea typeface="Liberation Sans Narrow" pitchFamily="34" charset="-122"/>
                <a:cs typeface="Liberation Sans Narrow" pitchFamily="34" charset="-120"/>
              </a:rPr>
              <a:t>P16 COGNICRYPT</a:t>
            </a:r>
            <a:endParaRPr lang="en-US" sz="800" dirty="0"/>
          </a:p>
        </p:txBody>
      </p:sp>
      <p:sp>
        <p:nvSpPr>
          <p:cNvPr id="18" name="Text 16"/>
          <p:cNvSpPr/>
          <p:nvPr/>
        </p:nvSpPr>
        <p:spPr>
          <a:xfrm>
            <a:off x="2600325" y="2820330"/>
            <a:ext cx="6029325" cy="329184"/>
          </a:xfrm>
          <a:prstGeom prst="rect">
            <a:avLst/>
          </a:prstGeom>
          <a:noFill/>
          <a:ln/>
        </p:spPr>
        <p:txBody>
          <a:bodyPr wrap="square" lIns="0" tIns="0" rIns="0" bIns="0" rtlCol="0" anchor="t"/>
          <a:lstStyle/>
          <a:p>
            <a:pPr marL="0" indent="0" algn="l">
              <a:lnSpc>
                <a:spcPts val="1013"/>
              </a:lnSpc>
              <a:buNone/>
            </a:pPr>
            <a:r>
              <a:rPr lang="en-US" sz="800" dirty="0">
                <a:solidFill>
                  <a:srgbClr val="1F1F1F"/>
                </a:solidFill>
                <a:latin typeface="Carlito" pitchFamily="34" charset="0"/>
                <a:ea typeface="Carlito" pitchFamily="34" charset="-122"/>
                <a:cs typeface="Carlito" pitchFamily="34" charset="-120"/>
              </a:rPr>
              <a:t>Helps developers write NEW crypto code correctly. The post-quantum problem is overwhelmingly about code that already exists. 2026 evidence: general-purpose LLMs now exceed CogniCrypt on misuse detection. </a:t>
            </a:r>
            <a:r>
              <a:rPr lang="en-US" sz="800" dirty="0">
                <a:solidFill>
                  <a:srgbClr val="0A0A0A"/>
                </a:solidFill>
                <a:latin typeface="Carlito" pitchFamily="34" charset="0"/>
                <a:ea typeface="Carlito" pitchFamily="34" charset="-122"/>
                <a:cs typeface="Carlito" pitchFamily="34" charset="-120"/>
              </a:rPr>
              <a:t>Our correction:</a:t>
            </a:r>
            <a:r>
              <a:rPr lang="en-US" sz="800" dirty="0">
                <a:solidFill>
                  <a:srgbClr val="1F1F1F"/>
                </a:solidFill>
                <a:latin typeface="Carlito" pitchFamily="34" charset="0"/>
                <a:ea typeface="Carlito" pitchFamily="34" charset="-122"/>
                <a:cs typeface="Carlito" pitchFamily="34" charset="-120"/>
              </a:rPr>
              <a:t> correct-but-obsolete usage is the target class.</a:t>
            </a:r>
            <a:endParaRPr lang="en-US" sz="800" dirty="0"/>
          </a:p>
        </p:txBody>
      </p:sp>
      <p:sp>
        <p:nvSpPr>
          <p:cNvPr id="19" name="Text 17"/>
          <p:cNvSpPr/>
          <p:nvPr/>
        </p:nvSpPr>
        <p:spPr>
          <a:xfrm>
            <a:off x="514350" y="3163230"/>
            <a:ext cx="8115300" cy="7144"/>
          </a:xfrm>
          <a:prstGeom prst="rect">
            <a:avLst/>
          </a:prstGeom>
          <a:solidFill>
            <a:srgbClr val="D9D9D9"/>
          </a:solidFill>
          <a:ln/>
        </p:spPr>
        <p:txBody>
          <a:bodyPr wrap="square" rtlCol="0" anchor="ctr"/>
          <a:lstStyle/>
          <a:p>
            <a:pPr marL="0" indent="0">
              <a:buNone/>
            </a:pPr>
            <a:endParaRPr lang="en-US" dirty="0"/>
          </a:p>
        </p:txBody>
      </p:sp>
      <p:sp>
        <p:nvSpPr>
          <p:cNvPr id="20" name="Shape 18"/>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21" name="Text 19"/>
          <p:cNvSpPr/>
          <p:nvPr/>
        </p:nvSpPr>
        <p:spPr>
          <a:xfrm>
            <a:off x="1463040" y="4846320"/>
            <a:ext cx="7132320" cy="137160"/>
          </a:xfrm>
          <a:prstGeom prst="rect">
            <a:avLst/>
          </a:prstGeom>
          <a:noFill/>
          <a:ln/>
        </p:spPr>
        <p:txBody>
          <a:bodyPr wrap="squar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05 — LITERATURE SURVEY</a:t>
            </a:r>
            <a:endParaRPr lang="en-US" sz="800" dirty="0"/>
          </a:p>
        </p:txBody>
      </p:sp>
      <p:sp>
        <p:nvSpPr>
          <p:cNvPr id="22" name="Text 20"/>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27 / 39</a:t>
            </a:r>
            <a:endParaRPr lang="en-US" sz="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750174"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7278812" y="400050"/>
            <a:ext cx="1350838" cy="117872"/>
          </a:xfrm>
          <a:prstGeom prst="rect">
            <a:avLst/>
          </a:prstGeom>
          <a:noFill/>
          <a:ln/>
        </p:spPr>
        <p:txBody>
          <a:bodyPr wrap="non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REVIEW REPORT I — PAGE 28</a:t>
            </a:r>
            <a:endParaRPr lang="en-US" sz="619" dirty="0"/>
          </a:p>
        </p:txBody>
      </p:sp>
      <p:sp>
        <p:nvSpPr>
          <p:cNvPr id="5" name="Text 3"/>
          <p:cNvSpPr/>
          <p:nvPr/>
        </p:nvSpPr>
        <p:spPr>
          <a:xfrm>
            <a:off x="514350" y="767953"/>
            <a:ext cx="8629650" cy="164592"/>
          </a:xfrm>
          <a:prstGeom prst="rect">
            <a:avLst/>
          </a:prstGeom>
          <a:noFill/>
          <a:ln/>
        </p:spPr>
        <p:txBody>
          <a:bodyPr wrap="square" lIns="0" tIns="0" rIns="0" bIns="0" rtlCol="0" anchor="t"/>
          <a:lstStyle/>
          <a:p>
            <a:pPr marL="0" indent="0" algn="l">
              <a:lnSpc>
                <a:spcPts val="928"/>
              </a:lnSpc>
              <a:buNone/>
            </a:pPr>
            <a:r>
              <a:rPr lang="en-US" sz="800" kern="0" spc="136" dirty="0">
                <a:solidFill>
                  <a:srgbClr val="4A4A4A"/>
                </a:solidFill>
                <a:latin typeface="Liberation Sans Narrow" pitchFamily="34" charset="0"/>
                <a:ea typeface="Liberation Sans Narrow" pitchFamily="34" charset="-122"/>
                <a:cs typeface="Liberation Sans Narrow" pitchFamily="34" charset="-120"/>
              </a:rPr>
              <a:t>5.4 CONSOLIDATED RESEARCH GAP</a:t>
            </a:r>
            <a:endParaRPr lang="en-US" sz="800" dirty="0"/>
          </a:p>
        </p:txBody>
      </p:sp>
      <p:sp>
        <p:nvSpPr>
          <p:cNvPr id="6" name="Text 4"/>
          <p:cNvSpPr/>
          <p:nvPr/>
        </p:nvSpPr>
        <p:spPr>
          <a:xfrm>
            <a:off x="514350" y="971550"/>
            <a:ext cx="8486775" cy="345619"/>
          </a:xfrm>
          <a:prstGeom prst="rect">
            <a:avLst/>
          </a:prstGeom>
          <a:noFill/>
          <a:ln/>
        </p:spPr>
        <p:txBody>
          <a:bodyPr wrap="squar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The empty rows are the project.</a:t>
            </a:r>
            <a:endParaRPr lang="en-US" sz="2250" dirty="0"/>
          </a:p>
        </p:txBody>
      </p:sp>
      <p:sp>
        <p:nvSpPr>
          <p:cNvPr id="7" name="Text 5"/>
          <p:cNvSpPr/>
          <p:nvPr/>
        </p:nvSpPr>
        <p:spPr>
          <a:xfrm>
            <a:off x="514350" y="1377293"/>
            <a:ext cx="8115300" cy="7144"/>
          </a:xfrm>
          <a:prstGeom prst="rect">
            <a:avLst/>
          </a:prstGeom>
          <a:solidFill>
            <a:srgbClr val="D9D9D9"/>
          </a:solidFill>
          <a:ln/>
        </p:spPr>
        <p:txBody>
          <a:bodyPr wrap="square" rtlCol="0" anchor="ctr"/>
          <a:lstStyle/>
          <a:p>
            <a:pPr marL="0" indent="0">
              <a:buNone/>
            </a:pPr>
            <a:endParaRPr lang="en-US"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14350" y="1527311"/>
          <a:ext cx="8108156" cy="1990253"/>
        </p:xfrm>
        <a:graphic>
          <a:graphicData uri="http://schemas.openxmlformats.org/drawingml/2006/table">
            <a:tbl>
              <a:tblPr/>
              <a:tblGrid>
                <a:gridCol w="2270261">
                  <a:extLst>
                    <a:ext uri="{9D8B030D-6E8A-4147-A177-3AD203B41FA5}">
                      <a16:colId xmlns:a16="http://schemas.microsoft.com/office/drawing/2014/main" val="20000"/>
                    </a:ext>
                  </a:extLst>
                </a:gridCol>
                <a:gridCol w="563240">
                  <a:extLst>
                    <a:ext uri="{9D8B030D-6E8A-4147-A177-3AD203B41FA5}">
                      <a16:colId xmlns:a16="http://schemas.microsoft.com/office/drawing/2014/main" val="20001"/>
                    </a:ext>
                  </a:extLst>
                </a:gridCol>
                <a:gridCol w="602084">
                  <a:extLst>
                    <a:ext uri="{9D8B030D-6E8A-4147-A177-3AD203B41FA5}">
                      <a16:colId xmlns:a16="http://schemas.microsoft.com/office/drawing/2014/main" val="20002"/>
                    </a:ext>
                  </a:extLst>
                </a:gridCol>
                <a:gridCol w="602084">
                  <a:extLst>
                    <a:ext uri="{9D8B030D-6E8A-4147-A177-3AD203B41FA5}">
                      <a16:colId xmlns:a16="http://schemas.microsoft.com/office/drawing/2014/main" val="20003"/>
                    </a:ext>
                  </a:extLst>
                </a:gridCol>
                <a:gridCol w="602084">
                  <a:extLst>
                    <a:ext uri="{9D8B030D-6E8A-4147-A177-3AD203B41FA5}">
                      <a16:colId xmlns:a16="http://schemas.microsoft.com/office/drawing/2014/main" val="20004"/>
                    </a:ext>
                  </a:extLst>
                </a:gridCol>
                <a:gridCol w="974787">
                  <a:extLst>
                    <a:ext uri="{9D8B030D-6E8A-4147-A177-3AD203B41FA5}">
                      <a16:colId xmlns:a16="http://schemas.microsoft.com/office/drawing/2014/main" val="20005"/>
                    </a:ext>
                  </a:extLst>
                </a:gridCol>
                <a:gridCol w="1098910">
                  <a:extLst>
                    <a:ext uri="{9D8B030D-6E8A-4147-A177-3AD203B41FA5}">
                      <a16:colId xmlns:a16="http://schemas.microsoft.com/office/drawing/2014/main" val="20006"/>
                    </a:ext>
                  </a:extLst>
                </a:gridCol>
                <a:gridCol w="617600">
                  <a:extLst>
                    <a:ext uri="{9D8B030D-6E8A-4147-A177-3AD203B41FA5}">
                      <a16:colId xmlns:a16="http://schemas.microsoft.com/office/drawing/2014/main" val="20007"/>
                    </a:ext>
                  </a:extLst>
                </a:gridCol>
                <a:gridCol w="777106">
                  <a:extLst>
                    <a:ext uri="{9D8B030D-6E8A-4147-A177-3AD203B41FA5}">
                      <a16:colId xmlns:a16="http://schemas.microsoft.com/office/drawing/2014/main" val="20008"/>
                    </a:ext>
                  </a:extLst>
                </a:gridCol>
              </a:tblGrid>
              <a:tr h="0">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Capability</a:t>
                      </a:r>
                      <a:endParaRPr lang="en-US" sz="800" dirty="0">
                        <a:latin typeface="Carlito" charset="0"/>
                        <a:ea typeface="Carlito" charset="0"/>
                        <a:cs typeface="Carlito" charset="0"/>
                      </a:endParaRPr>
                    </a:p>
                  </a:txBody>
                  <a:tcPr marL="50006" marR="42863" marT="42863"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Carlito" pitchFamily="34" charset="0"/>
                          <a:ea typeface="Carlito" pitchFamily="34" charset="-122"/>
                          <a:cs typeface="Carlito" pitchFamily="34" charset="-120"/>
                        </a:rPr>
                        <a:t>P1</a:t>
                      </a:r>
                      <a:endParaRPr lang="en-US" sz="800" dirty="0">
                        <a:latin typeface="Carlito" charset="0"/>
                        <a:ea typeface="Carlito" charset="0"/>
                        <a:cs typeface="Carlito" charset="0"/>
                      </a:endParaRPr>
                    </a:p>
                  </a:txBody>
                  <a:tcPr marL="50006" marR="42863" marT="42863"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Carlito" pitchFamily="34" charset="0"/>
                          <a:ea typeface="Carlito" pitchFamily="34" charset="-122"/>
                          <a:cs typeface="Carlito" pitchFamily="34" charset="-120"/>
                        </a:rPr>
                        <a:t>P2</a:t>
                      </a:r>
                      <a:endParaRPr lang="en-US" sz="800" dirty="0">
                        <a:latin typeface="Carlito" charset="0"/>
                        <a:ea typeface="Carlito" charset="0"/>
                        <a:cs typeface="Carlito" charset="0"/>
                      </a:endParaRPr>
                    </a:p>
                  </a:txBody>
                  <a:tcPr marL="50006" marR="42863" marT="42863"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Carlito" pitchFamily="34" charset="0"/>
                          <a:ea typeface="Carlito" pitchFamily="34" charset="-122"/>
                          <a:cs typeface="Carlito" pitchFamily="34" charset="-120"/>
                        </a:rPr>
                        <a:t>P3</a:t>
                      </a:r>
                      <a:endParaRPr lang="en-US" sz="800" dirty="0">
                        <a:latin typeface="Carlito" charset="0"/>
                        <a:ea typeface="Carlito" charset="0"/>
                        <a:cs typeface="Carlito" charset="0"/>
                      </a:endParaRPr>
                    </a:p>
                  </a:txBody>
                  <a:tcPr marL="50006" marR="42863" marT="42863"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Carlito" pitchFamily="34" charset="0"/>
                          <a:ea typeface="Carlito" pitchFamily="34" charset="-122"/>
                          <a:cs typeface="Carlito" pitchFamily="34" charset="-120"/>
                        </a:rPr>
                        <a:t>P5</a:t>
                      </a:r>
                      <a:endParaRPr lang="en-US" sz="800" dirty="0">
                        <a:latin typeface="Carlito" charset="0"/>
                        <a:ea typeface="Carlito" charset="0"/>
                        <a:cs typeface="Carlito" charset="0"/>
                      </a:endParaRPr>
                    </a:p>
                  </a:txBody>
                  <a:tcPr marL="50006" marR="42863" marT="42863"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Carlito" pitchFamily="34" charset="0"/>
                          <a:ea typeface="Carlito" pitchFamily="34" charset="-122"/>
                          <a:cs typeface="Carlito" pitchFamily="34" charset="-120"/>
                        </a:rPr>
                        <a:t>P6 / P7</a:t>
                      </a:r>
                      <a:endParaRPr lang="en-US" sz="800" dirty="0">
                        <a:latin typeface="Carlito" charset="0"/>
                        <a:ea typeface="Carlito" charset="0"/>
                        <a:cs typeface="Carlito" charset="0"/>
                      </a:endParaRPr>
                    </a:p>
                  </a:txBody>
                  <a:tcPr marL="50006" marR="42863" marT="42863"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Carlito" pitchFamily="34" charset="0"/>
                          <a:ea typeface="Carlito" pitchFamily="34" charset="-122"/>
                          <a:cs typeface="Carlito" pitchFamily="34" charset="-120"/>
                        </a:rPr>
                        <a:t>P8 / P12</a:t>
                      </a:r>
                      <a:endParaRPr lang="en-US" sz="800" dirty="0">
                        <a:latin typeface="Carlito" charset="0"/>
                        <a:ea typeface="Carlito" charset="0"/>
                        <a:cs typeface="Carlito" charset="0"/>
                      </a:endParaRPr>
                    </a:p>
                  </a:txBody>
                  <a:tcPr marL="50006" marR="42863" marT="42863"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Carlito" pitchFamily="34" charset="0"/>
                          <a:ea typeface="Carlito" pitchFamily="34" charset="-122"/>
                          <a:cs typeface="Carlito" pitchFamily="34" charset="-120"/>
                        </a:rPr>
                        <a:t>P13</a:t>
                      </a:r>
                      <a:endParaRPr lang="en-US" sz="800" dirty="0">
                        <a:latin typeface="Carlito" charset="0"/>
                        <a:ea typeface="Carlito" charset="0"/>
                        <a:cs typeface="Carlito" charset="0"/>
                      </a:endParaRPr>
                    </a:p>
                  </a:txBody>
                  <a:tcPr marL="50006" marR="42863" marT="42863"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Carlito" pitchFamily="34" charset="0"/>
                          <a:ea typeface="Carlito" pitchFamily="34" charset="-122"/>
                          <a:cs typeface="Carlito" pitchFamily="34" charset="-120"/>
                        </a:rPr>
                        <a:t>OURS</a:t>
                      </a:r>
                      <a:endParaRPr lang="en-US" sz="800" dirty="0">
                        <a:latin typeface="Carlito" charset="0"/>
                        <a:ea typeface="Carlito" charset="0"/>
                        <a:cs typeface="Carlito" charset="0"/>
                      </a:endParaRPr>
                    </a:p>
                  </a:txBody>
                  <a:tcPr marL="50006" marR="42863" marT="42863"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0">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Multi-language discovery</a:t>
                      </a:r>
                      <a:endParaRPr lang="en-US" sz="800" dirty="0">
                        <a:latin typeface="Carlito" charset="0"/>
                        <a:ea typeface="Carlito" charset="0"/>
                        <a:cs typeface="Carlito"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b="1" dirty="0">
                          <a:solidFill>
                            <a:srgbClr val="FFFFFF"/>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extLst>
                  <a:ext uri="{0D108BD9-81ED-4DB2-BD59-A6C34878D82A}">
                    <a16:rowId xmlns:a16="http://schemas.microsoft.com/office/drawing/2014/main" val="10001"/>
                  </a:ext>
                </a:extLst>
              </a:tr>
              <a:tr h="0">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Standard CBOM output</a:t>
                      </a:r>
                      <a:endParaRPr lang="en-US" sz="800" dirty="0">
                        <a:latin typeface="Carlito" charset="0"/>
                        <a:ea typeface="Carlito" charset="0"/>
                        <a:cs typeface="Carlito"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b="1" dirty="0">
                          <a:solidFill>
                            <a:srgbClr val="FFFFFF"/>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extLst>
                  <a:ext uri="{0D108BD9-81ED-4DB2-BD59-A6C34878D82A}">
                    <a16:rowId xmlns:a16="http://schemas.microsoft.com/office/drawing/2014/main" val="10002"/>
                  </a:ext>
                </a:extLst>
              </a:tr>
              <a:tr h="0">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Dataflow to protected data</a:t>
                      </a:r>
                      <a:endParaRPr lang="en-US" sz="800" dirty="0">
                        <a:latin typeface="Carlito" charset="0"/>
                        <a:ea typeface="Carlito" charset="0"/>
                        <a:cs typeface="Carlito"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b="1" dirty="0">
                          <a:solidFill>
                            <a:srgbClr val="FFFFFF"/>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extLst>
                  <a:ext uri="{0D108BD9-81ED-4DB2-BD59-A6C34878D82A}">
                    <a16:rowId xmlns:a16="http://schemas.microsoft.com/office/drawing/2014/main" val="10003"/>
                  </a:ext>
                </a:extLst>
              </a:tr>
              <a:tr h="0">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Retention lifetime inference</a:t>
                      </a:r>
                      <a:endParaRPr lang="en-US" sz="800" dirty="0">
                        <a:latin typeface="Carlito" charset="0"/>
                        <a:ea typeface="Carlito" charset="0"/>
                        <a:cs typeface="Carlito"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manual</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b="1" dirty="0">
                          <a:solidFill>
                            <a:srgbClr val="FFFFFF"/>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extLst>
                  <a:ext uri="{0D108BD9-81ED-4DB2-BD59-A6C34878D82A}">
                    <a16:rowId xmlns:a16="http://schemas.microsoft.com/office/drawing/2014/main" val="10004"/>
                  </a:ext>
                </a:extLst>
              </a:tr>
              <a:tr h="0">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Call-site-varying risk score</a:t>
                      </a:r>
                      <a:endParaRPr lang="en-US" sz="800" dirty="0">
                        <a:latin typeface="Carlito" charset="0"/>
                        <a:ea typeface="Carlito" charset="0"/>
                        <a:cs typeface="Carlito"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b="1" dirty="0">
                          <a:solidFill>
                            <a:srgbClr val="FFFFFF"/>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extLst>
                  <a:ext uri="{0D108BD9-81ED-4DB2-BD59-A6C34878D82A}">
                    <a16:rowId xmlns:a16="http://schemas.microsoft.com/office/drawing/2014/main" val="10005"/>
                  </a:ext>
                </a:extLst>
              </a:tr>
              <a:tr h="0">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Ranking evaluated as a metric</a:t>
                      </a:r>
                      <a:endParaRPr lang="en-US" sz="800" dirty="0">
                        <a:latin typeface="Carlito" charset="0"/>
                        <a:ea typeface="Carlito" charset="0"/>
                        <a:cs typeface="Carlito"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b="1" dirty="0">
                          <a:solidFill>
                            <a:srgbClr val="FFFFFF"/>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extLst>
                  <a:ext uri="{0D108BD9-81ED-4DB2-BD59-A6C34878D82A}">
                    <a16:rowId xmlns:a16="http://schemas.microsoft.com/office/drawing/2014/main" val="10006"/>
                  </a:ext>
                </a:extLst>
              </a:tr>
              <a:tr h="0">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Context-based FP suppression</a:t>
                      </a:r>
                      <a:endParaRPr lang="en-US" sz="800" dirty="0">
                        <a:latin typeface="Carlito" charset="0"/>
                        <a:ea typeface="Carlito" charset="0"/>
                        <a:cs typeface="Carlito"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800" b="1" dirty="0">
                          <a:solidFill>
                            <a:srgbClr val="FFFFFF"/>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extLst>
                  <a:ext uri="{0D108BD9-81ED-4DB2-BD59-A6C34878D82A}">
                    <a16:rowId xmlns:a16="http://schemas.microsoft.com/office/drawing/2014/main" val="10007"/>
                  </a:ext>
                </a:extLst>
              </a:tr>
              <a:tr h="0">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Verified migration patches</a:t>
                      </a:r>
                      <a:endParaRPr lang="en-US" sz="800" dirty="0">
                        <a:latin typeface="Carlito" charset="0"/>
                        <a:ea typeface="Carlito" charset="0"/>
                        <a:cs typeface="Carlito"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dirty="0">
                          <a:solidFill>
                            <a:srgbClr val="0A0A0A"/>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ctr">
                        <a:buNone/>
                      </a:pPr>
                      <a:r>
                        <a:rPr lang="en-US" sz="800" b="1" dirty="0">
                          <a:solidFill>
                            <a:srgbClr val="FFFFFF"/>
                          </a:solidFill>
                          <a:latin typeface="Courier New" pitchFamily="34" charset="0"/>
                          <a:ea typeface="Courier New" pitchFamily="34" charset="-122"/>
                          <a:cs typeface="Courier New" pitchFamily="34" charset="-120"/>
                        </a:rPr>
                        <a:t>✔</a:t>
                      </a:r>
                      <a:endParaRPr lang="en-US" sz="800" dirty="0">
                        <a:latin typeface="Courier New" charset="0"/>
                        <a:ea typeface="Courier New" charset="0"/>
                        <a:cs typeface="Courier New" charset="0"/>
                      </a:endParaRPr>
                    </a:p>
                  </a:txBody>
                  <a:tcPr marL="42863" marR="57150" marT="57150" marB="42863"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extLst>
                  <a:ext uri="{0D108BD9-81ED-4DB2-BD59-A6C34878D82A}">
                    <a16:rowId xmlns:a16="http://schemas.microsoft.com/office/drawing/2014/main" val="10008"/>
                  </a:ext>
                </a:extLst>
              </a:tr>
            </a:tbl>
          </a:graphicData>
        </a:graphic>
      </p:graphicFrame>
      <p:sp>
        <p:nvSpPr>
          <p:cNvPr id="9" name="Text 6"/>
          <p:cNvSpPr/>
          <p:nvPr/>
        </p:nvSpPr>
        <p:spPr>
          <a:xfrm>
            <a:off x="514350" y="4561284"/>
            <a:ext cx="8115300" cy="7144"/>
          </a:xfrm>
          <a:prstGeom prst="rect">
            <a:avLst/>
          </a:prstGeom>
          <a:solidFill>
            <a:srgbClr val="D9D9D9"/>
          </a:solidFill>
          <a:ln/>
        </p:spPr>
        <p:txBody>
          <a:bodyPr wrap="square" rtlCol="0" anchor="ctr"/>
          <a:lstStyle/>
          <a:p>
            <a:pPr marL="0" indent="0">
              <a:buNone/>
            </a:pPr>
            <a:endParaRPr lang="en-US" dirty="0"/>
          </a:p>
        </p:txBody>
      </p:sp>
      <p:sp>
        <p:nvSpPr>
          <p:cNvPr id="10" name="Text 7"/>
          <p:cNvSpPr/>
          <p:nvPr/>
        </p:nvSpPr>
        <p:spPr>
          <a:xfrm>
            <a:off x="514350" y="4625578"/>
            <a:ext cx="8629650" cy="91440"/>
          </a:xfrm>
          <a:prstGeom prst="rect">
            <a:avLst/>
          </a:prstGeom>
          <a:noFill/>
          <a:ln/>
        </p:spPr>
        <p:txBody>
          <a:bodyPr wrap="square" lIns="0" tIns="0" rIns="0" bIns="0" rtlCol="0" anchor="t">
            <a:normAutofit fontScale="25000" lnSpcReduction="20000"/>
          </a:bodyPr>
          <a:lstStyle/>
          <a:p>
            <a:pPr marL="0" indent="0" algn="l">
              <a:lnSpc>
                <a:spcPts val="928"/>
              </a:lnSpc>
              <a:buNone/>
            </a:pPr>
            <a:r>
              <a:rPr lang="en-US" sz="800" kern="0" spc="50" dirty="0">
                <a:solidFill>
                  <a:srgbClr val="4A4A4A"/>
                </a:solidFill>
                <a:latin typeface="Courier New" pitchFamily="34" charset="0"/>
                <a:ea typeface="Courier New" pitchFamily="34" charset="-122"/>
                <a:cs typeface="Courier New" pitchFamily="34" charset="-120"/>
              </a:rPr>
              <a:t>✔ present · ◐ partial · ✘ absent</a:t>
            </a:r>
            <a:endParaRPr lang="en-US" sz="800" dirty="0"/>
          </a:p>
        </p:txBody>
      </p:sp>
      <p:sp>
        <p:nvSpPr>
          <p:cNvPr id="11" name="Shape 8"/>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12" name="Text 9"/>
          <p:cNvSpPr/>
          <p:nvPr/>
        </p:nvSpPr>
        <p:spPr>
          <a:xfrm>
            <a:off x="1463040" y="4846320"/>
            <a:ext cx="7132320" cy="137160"/>
          </a:xfrm>
          <a:prstGeom prst="rect">
            <a:avLst/>
          </a:prstGeom>
          <a:noFill/>
          <a:ln/>
        </p:spPr>
        <p:txBody>
          <a:bodyPr wrap="squar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05 — LITERATURE SURVEY</a:t>
            </a:r>
            <a:endParaRPr lang="en-US" sz="800" dirty="0"/>
          </a:p>
        </p:txBody>
      </p:sp>
      <p:sp>
        <p:nvSpPr>
          <p:cNvPr id="13" name="Text 10"/>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28 / 39</a:t>
            </a:r>
            <a:endParaRPr lang="en-US" sz="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750174"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7278812" y="400050"/>
            <a:ext cx="1350838" cy="117872"/>
          </a:xfrm>
          <a:prstGeom prst="rect">
            <a:avLst/>
          </a:prstGeom>
          <a:noFill/>
          <a:ln/>
        </p:spPr>
        <p:txBody>
          <a:bodyPr wrap="non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REVIEW REPORT I — PAGE 29</a:t>
            </a:r>
            <a:endParaRPr lang="en-US" sz="619" dirty="0"/>
          </a:p>
        </p:txBody>
      </p:sp>
      <p:sp>
        <p:nvSpPr>
          <p:cNvPr id="5" name="Text 3"/>
          <p:cNvSpPr/>
          <p:nvPr/>
        </p:nvSpPr>
        <p:spPr>
          <a:xfrm>
            <a:off x="514350" y="796528"/>
            <a:ext cx="8629650" cy="164592"/>
          </a:xfrm>
          <a:prstGeom prst="rect">
            <a:avLst/>
          </a:prstGeom>
          <a:noFill/>
          <a:ln/>
        </p:spPr>
        <p:txBody>
          <a:bodyPr wrap="none" lIns="0" tIns="0" rIns="0" bIns="0" rtlCol="0" anchor="t"/>
          <a:lstStyle/>
          <a:p>
            <a:pPr marL="0" indent="0" algn="l">
              <a:lnSpc>
                <a:spcPts val="928"/>
              </a:lnSpc>
              <a:buNone/>
            </a:pPr>
            <a:r>
              <a:rPr lang="en-US" sz="800" kern="0" spc="136" dirty="0">
                <a:solidFill>
                  <a:srgbClr val="4A4A4A"/>
                </a:solidFill>
                <a:latin typeface="Liberation Sans Narrow" pitchFamily="34" charset="0"/>
                <a:ea typeface="Liberation Sans Narrow" pitchFamily="34" charset="-122"/>
                <a:cs typeface="Liberation Sans Narrow" pitchFamily="34" charset="-120"/>
              </a:rPr>
              <a:t>6 NOVELTY — N1</a:t>
            </a:r>
            <a:endParaRPr lang="en-US" sz="800" dirty="0"/>
          </a:p>
        </p:txBody>
      </p:sp>
      <p:sp>
        <p:nvSpPr>
          <p:cNvPr id="6" name="Text 4"/>
          <p:cNvSpPr/>
          <p:nvPr/>
        </p:nvSpPr>
        <p:spPr>
          <a:xfrm>
            <a:off x="514350" y="1000125"/>
            <a:ext cx="8486775" cy="345619"/>
          </a:xfrm>
          <a:prstGeom prst="rect">
            <a:avLst/>
          </a:prstGeom>
          <a:noFill/>
          <a:ln/>
        </p:spPr>
        <p:txBody>
          <a:bodyPr wrap="squar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Binding each crypto call to a triple.</a:t>
            </a:r>
            <a:endParaRPr lang="en-US" sz="2250" dirty="0"/>
          </a:p>
        </p:txBody>
      </p:sp>
      <p:sp>
        <p:nvSpPr>
          <p:cNvPr id="7" name="Text 5"/>
          <p:cNvSpPr/>
          <p:nvPr/>
        </p:nvSpPr>
        <p:spPr>
          <a:xfrm>
            <a:off x="514350" y="1434443"/>
            <a:ext cx="8115300" cy="7144"/>
          </a:xfrm>
          <a:prstGeom prst="rect">
            <a:avLst/>
          </a:prstGeom>
          <a:solidFill>
            <a:srgbClr val="D9D9D9"/>
          </a:solidFill>
          <a:ln/>
        </p:spPr>
        <p:txBody>
          <a:bodyPr wrap="square" rtlCol="0" anchor="ctr"/>
          <a:lstStyle/>
          <a:p>
            <a:pPr marL="0" indent="0">
              <a:buNone/>
            </a:pPr>
            <a:endParaRPr lang="en-US" dirty="0"/>
          </a:p>
        </p:txBody>
      </p:sp>
      <p:sp>
        <p:nvSpPr>
          <p:cNvPr id="8" name="Text 6"/>
          <p:cNvSpPr/>
          <p:nvPr/>
        </p:nvSpPr>
        <p:spPr>
          <a:xfrm>
            <a:off x="517922" y="1645183"/>
            <a:ext cx="8108156" cy="1005483"/>
          </a:xfrm>
          <a:prstGeom prst="rect">
            <a:avLst/>
          </a:prstGeom>
          <a:solidFill>
            <a:srgbClr val="F4F4F4"/>
          </a:solidFill>
          <a:ln w="7144">
            <a:solidFill>
              <a:srgbClr val="D9D9D9"/>
            </a:solidFill>
            <a:prstDash val="solid"/>
          </a:ln>
        </p:spPr>
        <p:txBody>
          <a:bodyPr wrap="square" rtlCol="0" anchor="ctr"/>
          <a:lstStyle/>
          <a:p>
            <a:pPr marL="0" indent="0">
              <a:buNone/>
            </a:pPr>
            <a:endParaRPr lang="en-US" dirty="0"/>
          </a:p>
        </p:txBody>
      </p:sp>
      <p:sp>
        <p:nvSpPr>
          <p:cNvPr id="9" name="Text 7"/>
          <p:cNvSpPr/>
          <p:nvPr/>
        </p:nvSpPr>
        <p:spPr>
          <a:xfrm>
            <a:off x="692944" y="1805918"/>
            <a:ext cx="3188060" cy="142232"/>
          </a:xfrm>
          <a:prstGeom prst="rect">
            <a:avLst/>
          </a:prstGeom>
          <a:noFill/>
          <a:ln/>
        </p:spPr>
        <p:txBody>
          <a:bodyPr wrap="none" lIns="0" tIns="0" rIns="0" bIns="0" rtlCol="0" anchor="t">
            <a:normAutofit/>
          </a:bodyPr>
          <a:lstStyle/>
          <a:p>
            <a:pPr marL="0" indent="0" algn="l">
              <a:lnSpc>
                <a:spcPts val="886"/>
              </a:lnSpc>
              <a:buNone/>
            </a:pPr>
            <a:r>
              <a:rPr lang="en-US" sz="800" kern="0" spc="106" dirty="0">
                <a:solidFill>
                  <a:srgbClr val="0A0A0A"/>
                </a:solidFill>
                <a:latin typeface="Liberation Sans Narrow" pitchFamily="34" charset="0"/>
                <a:ea typeface="Liberation Sans Narrow" pitchFamily="34" charset="-122"/>
                <a:cs typeface="Liberation Sans Narrow" pitchFamily="34" charset="-120"/>
              </a:rPr>
              <a:t>01 · DATA PROTECTED</a:t>
            </a:r>
            <a:endParaRPr lang="en-US" sz="800" dirty="0"/>
          </a:p>
        </p:txBody>
      </p:sp>
      <p:sp>
        <p:nvSpPr>
          <p:cNvPr id="10" name="Text 8"/>
          <p:cNvSpPr/>
          <p:nvPr/>
        </p:nvSpPr>
        <p:spPr>
          <a:xfrm>
            <a:off x="692944" y="1975582"/>
            <a:ext cx="2443163" cy="329184"/>
          </a:xfrm>
          <a:prstGeom prst="rect">
            <a:avLst/>
          </a:prstGeom>
          <a:noFill/>
          <a:ln/>
        </p:spPr>
        <p:txBody>
          <a:bodyPr wrap="square" lIns="0" tIns="0" rIns="0" bIns="0" rtlCol="0" anchor="t"/>
          <a:lstStyle/>
          <a:p>
            <a:pPr marL="0" indent="0" algn="l">
              <a:lnSpc>
                <a:spcPts val="1013"/>
              </a:lnSpc>
              <a:buNone/>
            </a:pPr>
            <a:r>
              <a:rPr lang="en-US" sz="800" dirty="0">
                <a:solidFill>
                  <a:srgbClr val="1F1F1F"/>
                </a:solidFill>
                <a:latin typeface="Carlito" pitchFamily="34" charset="0"/>
                <a:ea typeface="Carlito" pitchFamily="34" charset="-122"/>
                <a:cs typeface="Carlito" pitchFamily="34" charset="-120"/>
              </a:rPr>
              <a:t>Recovered by backward taint analysis from the primitive's plaintext argument to its sources.</a:t>
            </a:r>
            <a:endParaRPr lang="en-US" sz="800" dirty="0"/>
          </a:p>
        </p:txBody>
      </p:sp>
      <p:sp>
        <p:nvSpPr>
          <p:cNvPr id="11" name="Text 9"/>
          <p:cNvSpPr/>
          <p:nvPr/>
        </p:nvSpPr>
        <p:spPr>
          <a:xfrm>
            <a:off x="3598664" y="1933612"/>
            <a:ext cx="7144" cy="428625"/>
          </a:xfrm>
          <a:prstGeom prst="rect">
            <a:avLst/>
          </a:prstGeom>
          <a:solidFill>
            <a:srgbClr val="0A0A0A"/>
          </a:solidFill>
          <a:ln/>
        </p:spPr>
        <p:txBody>
          <a:bodyPr wrap="square" rtlCol="0" anchor="ctr"/>
          <a:lstStyle/>
          <a:p>
            <a:pPr marL="0" indent="0">
              <a:buNone/>
            </a:pPr>
            <a:endParaRPr lang="en-US" dirty="0"/>
          </a:p>
        </p:txBody>
      </p:sp>
      <p:sp>
        <p:nvSpPr>
          <p:cNvPr id="12" name="Text 10"/>
          <p:cNvSpPr/>
          <p:nvPr/>
        </p:nvSpPr>
        <p:spPr>
          <a:xfrm>
            <a:off x="3954066" y="1805918"/>
            <a:ext cx="2032409" cy="142232"/>
          </a:xfrm>
          <a:prstGeom prst="rect">
            <a:avLst/>
          </a:prstGeom>
          <a:noFill/>
          <a:ln/>
        </p:spPr>
        <p:txBody>
          <a:bodyPr wrap="square" lIns="0" tIns="0" rIns="0" bIns="0" rtlCol="0" anchor="t">
            <a:normAutofit/>
          </a:bodyPr>
          <a:lstStyle/>
          <a:p>
            <a:pPr marL="0" indent="0" algn="l">
              <a:lnSpc>
                <a:spcPts val="886"/>
              </a:lnSpc>
              <a:buNone/>
            </a:pPr>
            <a:r>
              <a:rPr lang="en-US" sz="800" kern="0" spc="106" dirty="0">
                <a:solidFill>
                  <a:srgbClr val="0A0A0A"/>
                </a:solidFill>
                <a:latin typeface="Liberation Sans Narrow" pitchFamily="34" charset="0"/>
                <a:ea typeface="Liberation Sans Narrow" pitchFamily="34" charset="-122"/>
                <a:cs typeface="Liberation Sans Narrow" pitchFamily="34" charset="-120"/>
              </a:rPr>
              <a:t>02 · CONFIDENTIALITY LIFETIME</a:t>
            </a:r>
            <a:endParaRPr lang="en-US" sz="800" dirty="0"/>
          </a:p>
        </p:txBody>
      </p:sp>
      <p:sp>
        <p:nvSpPr>
          <p:cNvPr id="13" name="Text 11"/>
          <p:cNvSpPr/>
          <p:nvPr/>
        </p:nvSpPr>
        <p:spPr>
          <a:xfrm>
            <a:off x="3954066" y="1975582"/>
            <a:ext cx="1768078" cy="514350"/>
          </a:xfrm>
          <a:prstGeom prst="rect">
            <a:avLst/>
          </a:prstGeom>
          <a:noFill/>
          <a:ln/>
        </p:spPr>
        <p:txBody>
          <a:bodyPr wrap="square" lIns="0" tIns="0" rIns="0" bIns="0" rtlCol="0" anchor="t"/>
          <a:lstStyle/>
          <a:p>
            <a:pPr marL="0" indent="0" algn="l">
              <a:lnSpc>
                <a:spcPts val="1013"/>
              </a:lnSpc>
              <a:buNone/>
            </a:pPr>
            <a:r>
              <a:rPr lang="en-US" sz="800" dirty="0">
                <a:solidFill>
                  <a:srgbClr val="1F1F1F"/>
                </a:solidFill>
                <a:latin typeface="Carlito" pitchFamily="34" charset="0"/>
                <a:ea typeface="Carlito" pitchFamily="34" charset="-122"/>
                <a:cs typeface="Carlito" pitchFamily="34" charset="-120"/>
              </a:rPr>
              <a:t>Recovered by forward analysis to persistence sinks, then from declarative retention evidence (ORM/DDL, TTL constants, object-store lifecycle rules, log-rotation policy, IaC).</a:t>
            </a:r>
            <a:endParaRPr lang="en-US" sz="800" dirty="0"/>
          </a:p>
        </p:txBody>
      </p:sp>
      <p:sp>
        <p:nvSpPr>
          <p:cNvPr id="14" name="Text 12"/>
          <p:cNvSpPr/>
          <p:nvPr/>
        </p:nvSpPr>
        <p:spPr>
          <a:xfrm>
            <a:off x="6184702" y="1933612"/>
            <a:ext cx="7144" cy="428625"/>
          </a:xfrm>
          <a:prstGeom prst="rect">
            <a:avLst/>
          </a:prstGeom>
          <a:solidFill>
            <a:srgbClr val="0A0A0A"/>
          </a:solidFill>
          <a:ln/>
        </p:spPr>
        <p:txBody>
          <a:bodyPr wrap="square" rtlCol="0" anchor="ctr"/>
          <a:lstStyle/>
          <a:p>
            <a:pPr marL="0" indent="0">
              <a:buNone/>
            </a:pPr>
            <a:endParaRPr lang="en-US" dirty="0"/>
          </a:p>
        </p:txBody>
      </p:sp>
      <p:sp>
        <p:nvSpPr>
          <p:cNvPr id="15" name="Text 13"/>
          <p:cNvSpPr/>
          <p:nvPr/>
        </p:nvSpPr>
        <p:spPr>
          <a:xfrm>
            <a:off x="6540103" y="1805918"/>
            <a:ext cx="1910953" cy="142232"/>
          </a:xfrm>
          <a:prstGeom prst="rect">
            <a:avLst/>
          </a:prstGeom>
          <a:noFill/>
          <a:ln/>
        </p:spPr>
        <p:txBody>
          <a:bodyPr wrap="none" lIns="0" tIns="0" rIns="0" bIns="0" rtlCol="0" anchor="t">
            <a:normAutofit/>
          </a:bodyPr>
          <a:lstStyle/>
          <a:p>
            <a:pPr marL="0" indent="0" algn="l">
              <a:lnSpc>
                <a:spcPts val="886"/>
              </a:lnSpc>
              <a:buNone/>
            </a:pPr>
            <a:r>
              <a:rPr lang="en-US" sz="800" kern="0" spc="106" dirty="0">
                <a:solidFill>
                  <a:srgbClr val="0A0A0A"/>
                </a:solidFill>
                <a:latin typeface="Liberation Sans Narrow" pitchFamily="34" charset="0"/>
                <a:ea typeface="Liberation Sans Narrow" pitchFamily="34" charset="-122"/>
                <a:cs typeface="Liberation Sans Narrow" pitchFamily="34" charset="-120"/>
              </a:rPr>
              <a:t>03 · EXPOSURE SURFACE</a:t>
            </a:r>
            <a:endParaRPr lang="en-US" sz="800" dirty="0"/>
          </a:p>
        </p:txBody>
      </p:sp>
      <p:sp>
        <p:nvSpPr>
          <p:cNvPr id="16" name="Text 14"/>
          <p:cNvSpPr/>
          <p:nvPr/>
        </p:nvSpPr>
        <p:spPr>
          <a:xfrm>
            <a:off x="6540103" y="1975582"/>
            <a:ext cx="1910953" cy="329184"/>
          </a:xfrm>
          <a:prstGeom prst="rect">
            <a:avLst/>
          </a:prstGeom>
          <a:noFill/>
          <a:ln/>
        </p:spPr>
        <p:txBody>
          <a:bodyPr wrap="square" lIns="0" tIns="0" rIns="0" bIns="0" rtlCol="0" anchor="t"/>
          <a:lstStyle/>
          <a:p>
            <a:pPr marL="0" indent="0" algn="l">
              <a:lnSpc>
                <a:spcPts val="1013"/>
              </a:lnSpc>
              <a:buNone/>
            </a:pPr>
            <a:r>
              <a:rPr lang="en-US" sz="800" dirty="0">
                <a:solidFill>
                  <a:srgbClr val="1F1F1F"/>
                </a:solidFill>
                <a:latin typeface="Carlito" pitchFamily="34" charset="0"/>
                <a:ea typeface="Carlito" pitchFamily="34" charset="-122"/>
                <a:cs typeface="Carlito" pitchFamily="34" charset="-120"/>
              </a:rPr>
              <a:t>Whether the resulting ciphertext crosses a process, host, or network boundary.</a:t>
            </a:r>
            <a:endParaRPr lang="en-US" sz="800" dirty="0"/>
          </a:p>
        </p:txBody>
      </p:sp>
      <p:sp>
        <p:nvSpPr>
          <p:cNvPr id="17" name="Text 15"/>
          <p:cNvSpPr/>
          <p:nvPr/>
        </p:nvSpPr>
        <p:spPr>
          <a:xfrm>
            <a:off x="514350" y="2854263"/>
            <a:ext cx="8115300" cy="7144"/>
          </a:xfrm>
          <a:prstGeom prst="rect">
            <a:avLst/>
          </a:prstGeom>
          <a:solidFill>
            <a:srgbClr val="D9D9D9"/>
          </a:solidFill>
          <a:ln/>
        </p:spPr>
        <p:txBody>
          <a:bodyPr wrap="square" rtlCol="0" anchor="ctr"/>
          <a:lstStyle/>
          <a:p>
            <a:pPr marL="0" indent="0">
              <a:buNone/>
            </a:pPr>
            <a:endParaRPr lang="en-US" dirty="0"/>
          </a:p>
        </p:txBody>
      </p:sp>
      <p:sp>
        <p:nvSpPr>
          <p:cNvPr id="18" name="Text 16"/>
          <p:cNvSpPr/>
          <p:nvPr/>
        </p:nvSpPr>
        <p:spPr>
          <a:xfrm>
            <a:off x="514350" y="3004282"/>
            <a:ext cx="7858125" cy="361950"/>
          </a:xfrm>
          <a:prstGeom prst="rect">
            <a:avLst/>
          </a:prstGeom>
          <a:noFill/>
          <a:ln/>
        </p:spPr>
        <p:txBody>
          <a:bodyPr wrap="square" lIns="0" tIns="0" rIns="0" bIns="0" rtlCol="0" anchor="t"/>
          <a:lstStyle/>
          <a:p>
            <a:pPr marL="0" indent="0" algn="l">
              <a:lnSpc>
                <a:spcPts val="1253"/>
              </a:lnSpc>
              <a:buNone/>
            </a:pPr>
            <a:r>
              <a:rPr lang="en-US" sz="800" dirty="0">
                <a:solidFill>
                  <a:srgbClr val="1F1F1F"/>
                </a:solidFill>
                <a:latin typeface="Carlito" pitchFamily="34" charset="0"/>
                <a:ea typeface="Carlito" pitchFamily="34" charset="-122"/>
                <a:cs typeface="Carlito" pitchFamily="34" charset="-120"/>
              </a:rPr>
              <a:t>No surveyed work performs this binding. P1 and P2 confirm dataflow is absent from the current generation of tools, and P8's prioritisation argument assumes a human supplies exactly this information. </a:t>
            </a:r>
            <a:r>
              <a:rPr lang="en-US" sz="800" dirty="0">
                <a:solidFill>
                  <a:srgbClr val="0A0A0A"/>
                </a:solidFill>
                <a:latin typeface="Carlito" pitchFamily="34" charset="0"/>
                <a:ea typeface="Carlito" pitchFamily="34" charset="-122"/>
                <a:cs typeface="Carlito" pitchFamily="34" charset="-120"/>
              </a:rPr>
              <a:t>The mechanism is the contribution.</a:t>
            </a:r>
            <a:endParaRPr lang="en-US" sz="800" dirty="0"/>
          </a:p>
        </p:txBody>
      </p:sp>
      <p:sp>
        <p:nvSpPr>
          <p:cNvPr id="19" name="Shape 17"/>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20" name="Text 18"/>
          <p:cNvSpPr/>
          <p:nvPr/>
        </p:nvSpPr>
        <p:spPr>
          <a:xfrm>
            <a:off x="1463040" y="4846320"/>
            <a:ext cx="7132320" cy="137160"/>
          </a:xfrm>
          <a:prstGeom prst="rect">
            <a:avLst/>
          </a:prstGeom>
          <a:noFill/>
          <a:ln/>
        </p:spPr>
        <p:txBody>
          <a:bodyPr wrap="non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06 — NOVELTY</a:t>
            </a:r>
            <a:endParaRPr lang="en-US" sz="800" dirty="0"/>
          </a:p>
        </p:txBody>
      </p:sp>
      <p:sp>
        <p:nvSpPr>
          <p:cNvPr id="21" name="Text 19"/>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29 / 39</a:t>
            </a:r>
            <a:endParaRPr lang="en-US" sz="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750174"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7278812" y="400050"/>
            <a:ext cx="1350838" cy="117872"/>
          </a:xfrm>
          <a:prstGeom prst="rect">
            <a:avLst/>
          </a:prstGeom>
          <a:noFill/>
          <a:ln/>
        </p:spPr>
        <p:txBody>
          <a:bodyPr wrap="non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REVIEW REPORT I — PAGE 30</a:t>
            </a:r>
            <a:endParaRPr lang="en-US" sz="619" dirty="0"/>
          </a:p>
        </p:txBody>
      </p:sp>
      <p:sp>
        <p:nvSpPr>
          <p:cNvPr id="5" name="Text 3"/>
          <p:cNvSpPr/>
          <p:nvPr/>
        </p:nvSpPr>
        <p:spPr>
          <a:xfrm>
            <a:off x="514350" y="796528"/>
            <a:ext cx="8629650" cy="164592"/>
          </a:xfrm>
          <a:prstGeom prst="rect">
            <a:avLst/>
          </a:prstGeom>
          <a:noFill/>
          <a:ln/>
        </p:spPr>
        <p:txBody>
          <a:bodyPr wrap="none" lIns="0" tIns="0" rIns="0" bIns="0" rtlCol="0" anchor="t"/>
          <a:lstStyle/>
          <a:p>
            <a:pPr marL="0" indent="0" algn="l">
              <a:lnSpc>
                <a:spcPts val="928"/>
              </a:lnSpc>
              <a:buNone/>
            </a:pPr>
            <a:r>
              <a:rPr lang="en-US" sz="800" kern="0" spc="136" dirty="0">
                <a:solidFill>
                  <a:srgbClr val="4A4A4A"/>
                </a:solidFill>
                <a:latin typeface="Liberation Sans Narrow" pitchFamily="34" charset="0"/>
                <a:ea typeface="Liberation Sans Narrow" pitchFamily="34" charset="-122"/>
                <a:cs typeface="Liberation Sans Narrow" pitchFamily="34" charset="-120"/>
              </a:rPr>
              <a:t>6 NOVELTY — N2</a:t>
            </a:r>
            <a:endParaRPr lang="en-US" sz="800" dirty="0"/>
          </a:p>
        </p:txBody>
      </p:sp>
      <p:sp>
        <p:nvSpPr>
          <p:cNvPr id="6" name="Text 4"/>
          <p:cNvSpPr/>
          <p:nvPr/>
        </p:nvSpPr>
        <p:spPr>
          <a:xfrm>
            <a:off x="514350" y="1000125"/>
            <a:ext cx="8486775" cy="345619"/>
          </a:xfrm>
          <a:prstGeom prst="rect">
            <a:avLst/>
          </a:prstGeom>
          <a:noFill/>
          <a:ln/>
        </p:spPr>
        <p:txBody>
          <a:bodyPr wrap="squar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A score that varies across identical algorithms.</a:t>
            </a:r>
            <a:endParaRPr lang="en-US" sz="2250" dirty="0"/>
          </a:p>
        </p:txBody>
      </p:sp>
      <p:sp>
        <p:nvSpPr>
          <p:cNvPr id="7" name="Text 5"/>
          <p:cNvSpPr/>
          <p:nvPr/>
        </p:nvSpPr>
        <p:spPr>
          <a:xfrm>
            <a:off x="514350" y="1434443"/>
            <a:ext cx="8115300" cy="7144"/>
          </a:xfrm>
          <a:prstGeom prst="rect">
            <a:avLst/>
          </a:prstGeom>
          <a:solidFill>
            <a:srgbClr val="D9D9D9"/>
          </a:solidFill>
          <a:ln/>
        </p:spPr>
        <p:txBody>
          <a:bodyPr wrap="square" rtlCol="0" anchor="ctr"/>
          <a:lstStyle/>
          <a:p>
            <a:pPr marL="0" indent="0">
              <a:buNone/>
            </a:pPr>
            <a:endParaRPr lang="en-US" dirty="0"/>
          </a:p>
        </p:txBody>
      </p:sp>
      <p:sp>
        <p:nvSpPr>
          <p:cNvPr id="8" name="Shape 6"/>
          <p:cNvSpPr/>
          <p:nvPr/>
        </p:nvSpPr>
        <p:spPr>
          <a:xfrm>
            <a:off x="4568428" y="1641611"/>
            <a:ext cx="0" cy="2675000"/>
          </a:xfrm>
          <a:prstGeom prst="line">
            <a:avLst/>
          </a:prstGeom>
          <a:noFill/>
          <a:ln w="7144">
            <a:solidFill>
              <a:srgbClr val="D1D5DB"/>
            </a:solidFill>
            <a:prstDash val="solid"/>
          </a:ln>
        </p:spPr>
        <p:txBody>
          <a:bodyPr/>
          <a:lstStyle/>
          <a:p>
            <a:endParaRPr lang="en-US"/>
          </a:p>
        </p:txBody>
      </p:sp>
      <p:sp>
        <p:nvSpPr>
          <p:cNvPr id="9" name="Text 7"/>
          <p:cNvSpPr/>
          <p:nvPr/>
        </p:nvSpPr>
        <p:spPr>
          <a:xfrm>
            <a:off x="514350" y="1641611"/>
            <a:ext cx="3821906"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SCORE</a:t>
            </a:r>
            <a:endParaRPr lang="en-US" sz="800" dirty="0"/>
          </a:p>
        </p:txBody>
      </p:sp>
      <p:sp>
        <p:nvSpPr>
          <p:cNvPr id="10" name="Text 8"/>
          <p:cNvSpPr/>
          <p:nvPr/>
        </p:nvSpPr>
        <p:spPr>
          <a:xfrm>
            <a:off x="514350" y="1873783"/>
            <a:ext cx="3821906" cy="710594"/>
          </a:xfrm>
          <a:prstGeom prst="rect">
            <a:avLst/>
          </a:prstGeom>
          <a:noFill/>
          <a:ln/>
        </p:spPr>
        <p:txBody>
          <a:bodyPr wrap="square" lIns="0" tIns="0" rIns="0" bIns="0" rtlCol="0" anchor="t"/>
          <a:lstStyle/>
          <a:p>
            <a:pPr marL="0" indent="0" algn="l">
              <a:lnSpc>
                <a:spcPts val="1185"/>
              </a:lnSpc>
              <a:buNone/>
            </a:pPr>
            <a:r>
              <a:rPr lang="en-US" sz="800" dirty="0">
                <a:solidFill>
                  <a:srgbClr val="1F1F1F"/>
                </a:solidFill>
                <a:latin typeface="Carlito" pitchFamily="34" charset="0"/>
                <a:ea typeface="Carlito" pitchFamily="34" charset="-122"/>
                <a:cs typeface="Carlito" pitchFamily="34" charset="-120"/>
              </a:rPr>
              <a:t>By making the score a function of the data path rather than the primitive, two identical RSA.encrypt() sites receive different ranks. The score is justified against Mosca's inequality — a path is already breached when retention + expected migration time exceeds the CRQC horizon — and the score orders paths by how far past that threshold they sit.</a:t>
            </a:r>
            <a:endParaRPr lang="en-US" sz="800" dirty="0"/>
          </a:p>
        </p:txBody>
      </p:sp>
      <p:sp>
        <p:nvSpPr>
          <p:cNvPr id="11" name="Text 9"/>
          <p:cNvSpPr/>
          <p:nvPr/>
        </p:nvSpPr>
        <p:spPr>
          <a:xfrm>
            <a:off x="4800600" y="1641611"/>
            <a:ext cx="4343400"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EVALUATION</a:t>
            </a:r>
            <a:endParaRPr lang="en-US" sz="800" dirty="0"/>
          </a:p>
        </p:txBody>
      </p:sp>
      <p:sp>
        <p:nvSpPr>
          <p:cNvPr id="12" name="Text 10"/>
          <p:cNvSpPr/>
          <p:nvPr/>
        </p:nvSpPr>
        <p:spPr>
          <a:xfrm>
            <a:off x="4800600" y="1873783"/>
            <a:ext cx="3829050" cy="532946"/>
          </a:xfrm>
          <a:prstGeom prst="rect">
            <a:avLst/>
          </a:prstGeom>
          <a:noFill/>
          <a:ln/>
        </p:spPr>
        <p:txBody>
          <a:bodyPr wrap="square" lIns="0" tIns="0" rIns="0" bIns="0" rtlCol="0" anchor="t"/>
          <a:lstStyle/>
          <a:p>
            <a:pPr marL="0" indent="0" algn="l">
              <a:lnSpc>
                <a:spcPts val="1185"/>
              </a:lnSpc>
              <a:buNone/>
            </a:pPr>
            <a:r>
              <a:rPr lang="en-US" sz="800" dirty="0">
                <a:solidFill>
                  <a:srgbClr val="1F1F1F"/>
                </a:solidFill>
                <a:latin typeface="Carlito" pitchFamily="34" charset="0"/>
                <a:ea typeface="Carlito" pitchFamily="34" charset="-122"/>
                <a:cs typeface="Carlito" pitchFamily="34" charset="-120"/>
              </a:rPr>
              <a:t>Correspondingly we introduce ranking quality against expert order (nDCG@k, Kendall-τ) as the evaluation metric. This is doubly novel: no surveyed work produces an ordering, and none evaluates one — P2 reports detection F1 for a tool whose stated purpose is prioritisation.</a:t>
            </a:r>
            <a:endParaRPr lang="en-US" sz="800" dirty="0"/>
          </a:p>
        </p:txBody>
      </p:sp>
      <p:sp>
        <p:nvSpPr>
          <p:cNvPr id="13" name="Text 11"/>
          <p:cNvSpPr/>
          <p:nvPr/>
        </p:nvSpPr>
        <p:spPr>
          <a:xfrm>
            <a:off x="514350" y="4516636"/>
            <a:ext cx="8115300" cy="7144"/>
          </a:xfrm>
          <a:prstGeom prst="rect">
            <a:avLst/>
          </a:prstGeom>
          <a:solidFill>
            <a:srgbClr val="D9D9D9"/>
          </a:solidFill>
          <a:ln/>
        </p:spPr>
        <p:txBody>
          <a:bodyPr wrap="square" rtlCol="0" anchor="ctr"/>
          <a:lstStyle/>
          <a:p>
            <a:pPr marL="0" indent="0">
              <a:buNone/>
            </a:pPr>
            <a:endParaRPr lang="en-US" dirty="0"/>
          </a:p>
        </p:txBody>
      </p:sp>
      <p:sp>
        <p:nvSpPr>
          <p:cNvPr id="14" name="Text 12"/>
          <p:cNvSpPr/>
          <p:nvPr/>
        </p:nvSpPr>
        <p:spPr>
          <a:xfrm>
            <a:off x="514350" y="4609505"/>
            <a:ext cx="7858125" cy="101156"/>
          </a:xfrm>
          <a:prstGeom prst="rect">
            <a:avLst/>
          </a:prstGeom>
          <a:noFill/>
          <a:ln/>
        </p:spPr>
        <p:txBody>
          <a:bodyPr wrap="square" lIns="0" tIns="0" rIns="0" bIns="0" rtlCol="0" anchor="t">
            <a:normAutofit fontScale="25000" lnSpcReduction="20000"/>
          </a:bodyPr>
          <a:lstStyle/>
          <a:p>
            <a:pPr marL="0" indent="0" algn="l">
              <a:lnSpc>
                <a:spcPts val="1055"/>
              </a:lnSpc>
              <a:buNone/>
            </a:pPr>
            <a:r>
              <a:rPr lang="en-US" sz="800" dirty="0">
                <a:solidFill>
                  <a:srgbClr val="0A0A0A"/>
                </a:solidFill>
                <a:latin typeface="Carlito" pitchFamily="34" charset="0"/>
                <a:ea typeface="Carlito" pitchFamily="34" charset="-122"/>
                <a:cs typeface="Carlito" pitchFamily="34" charset="-120"/>
              </a:rPr>
              <a:t>Tie-breaking:</a:t>
            </a:r>
            <a:r>
              <a:rPr lang="en-US" sz="800" dirty="0">
                <a:solidFill>
                  <a:srgbClr val="4A4A4A"/>
                </a:solidFill>
                <a:latin typeface="Carlito" pitchFamily="34" charset="0"/>
                <a:ea typeface="Carlito" pitchFamily="34" charset="-122"/>
                <a:cs typeface="Carlito" pitchFamily="34" charset="-120"/>
              </a:rPr>
              <a:t> ties broken by remediation cost estimate — plan ordered by risk reduction per unit of effort, not risk alone.</a:t>
            </a:r>
            <a:endParaRPr lang="en-US" sz="800" dirty="0"/>
          </a:p>
        </p:txBody>
      </p:sp>
      <p:sp>
        <p:nvSpPr>
          <p:cNvPr id="15" name="Shape 13"/>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16" name="Text 14"/>
          <p:cNvSpPr/>
          <p:nvPr/>
        </p:nvSpPr>
        <p:spPr>
          <a:xfrm>
            <a:off x="1463040" y="4846320"/>
            <a:ext cx="7132320" cy="137160"/>
          </a:xfrm>
          <a:prstGeom prst="rect">
            <a:avLst/>
          </a:prstGeom>
          <a:noFill/>
          <a:ln/>
        </p:spPr>
        <p:txBody>
          <a:bodyPr wrap="non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06 — NOVELTY</a:t>
            </a:r>
            <a:endParaRPr lang="en-US" sz="800" dirty="0"/>
          </a:p>
        </p:txBody>
      </p:sp>
      <p:sp>
        <p:nvSpPr>
          <p:cNvPr id="17" name="Text 15"/>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30 / 39</a:t>
            </a:r>
            <a:endParaRPr lang="en-US" sz="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750174"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7278812" y="400050"/>
            <a:ext cx="1350838" cy="117872"/>
          </a:xfrm>
          <a:prstGeom prst="rect">
            <a:avLst/>
          </a:prstGeom>
          <a:noFill/>
          <a:ln/>
        </p:spPr>
        <p:txBody>
          <a:bodyPr wrap="non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REVIEW REPORT I — PAGE 31</a:t>
            </a:r>
            <a:endParaRPr lang="en-US" sz="619" dirty="0"/>
          </a:p>
        </p:txBody>
      </p:sp>
      <p:sp>
        <p:nvSpPr>
          <p:cNvPr id="5" name="Text 3"/>
          <p:cNvSpPr/>
          <p:nvPr/>
        </p:nvSpPr>
        <p:spPr>
          <a:xfrm>
            <a:off x="514350" y="796528"/>
            <a:ext cx="8629650" cy="164592"/>
          </a:xfrm>
          <a:prstGeom prst="rect">
            <a:avLst/>
          </a:prstGeom>
          <a:noFill/>
          <a:ln/>
        </p:spPr>
        <p:txBody>
          <a:bodyPr wrap="none" lIns="0" tIns="0" rIns="0" bIns="0" rtlCol="0" anchor="t"/>
          <a:lstStyle/>
          <a:p>
            <a:pPr marL="0" indent="0" algn="l">
              <a:lnSpc>
                <a:spcPts val="928"/>
              </a:lnSpc>
              <a:buNone/>
            </a:pPr>
            <a:r>
              <a:rPr lang="en-US" sz="800" kern="0" spc="136" dirty="0">
                <a:solidFill>
                  <a:srgbClr val="4A4A4A"/>
                </a:solidFill>
                <a:latin typeface="Liberation Sans Narrow" pitchFamily="34" charset="0"/>
                <a:ea typeface="Liberation Sans Narrow" pitchFamily="34" charset="-122"/>
                <a:cs typeface="Liberation Sans Narrow" pitchFamily="34" charset="-120"/>
              </a:rPr>
              <a:t>6 NOVELTY — N3 · N4 · N5</a:t>
            </a:r>
            <a:endParaRPr lang="en-US" sz="800" dirty="0"/>
          </a:p>
        </p:txBody>
      </p:sp>
      <p:sp>
        <p:nvSpPr>
          <p:cNvPr id="6" name="Text 4"/>
          <p:cNvSpPr/>
          <p:nvPr/>
        </p:nvSpPr>
        <p:spPr>
          <a:xfrm>
            <a:off x="514350" y="1000125"/>
            <a:ext cx="8486775" cy="345619"/>
          </a:xfrm>
          <a:prstGeom prst="rect">
            <a:avLst/>
          </a:prstGeom>
          <a:noFill/>
          <a:ln/>
        </p:spPr>
        <p:txBody>
          <a:bodyPr wrap="squar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Three further contributions.</a:t>
            </a:r>
            <a:endParaRPr lang="en-US" sz="2250" dirty="0"/>
          </a:p>
        </p:txBody>
      </p:sp>
      <p:sp>
        <p:nvSpPr>
          <p:cNvPr id="7" name="Text 5"/>
          <p:cNvSpPr/>
          <p:nvPr/>
        </p:nvSpPr>
        <p:spPr>
          <a:xfrm>
            <a:off x="514350" y="1434443"/>
            <a:ext cx="8115300" cy="7144"/>
          </a:xfrm>
          <a:prstGeom prst="rect">
            <a:avLst/>
          </a:prstGeom>
          <a:solidFill>
            <a:srgbClr val="D9D9D9"/>
          </a:solidFill>
          <a:ln/>
        </p:spPr>
        <p:txBody>
          <a:bodyPr wrap="square" rtlCol="0" anchor="ctr"/>
          <a:lstStyle/>
          <a:p>
            <a:pPr marL="0" indent="0">
              <a:buNone/>
            </a:pPr>
            <a:endParaRPr lang="en-US" dirty="0"/>
          </a:p>
        </p:txBody>
      </p:sp>
      <p:sp>
        <p:nvSpPr>
          <p:cNvPr id="8" name="Text 6"/>
          <p:cNvSpPr/>
          <p:nvPr/>
        </p:nvSpPr>
        <p:spPr>
          <a:xfrm>
            <a:off x="503377" y="1643897"/>
            <a:ext cx="246639" cy="224028"/>
          </a:xfrm>
          <a:prstGeom prst="rect">
            <a:avLst/>
          </a:prstGeom>
          <a:noFill/>
          <a:ln w="7144">
            <a:solidFill>
              <a:srgbClr val="0A0A0A"/>
            </a:solidFill>
            <a:prstDash val="solid"/>
          </a:ln>
        </p:spPr>
        <p:txBody>
          <a:bodyPr wrap="square" rtlCol="0" anchor="ctr"/>
          <a:lstStyle/>
          <a:p>
            <a:pPr marL="0" indent="0">
              <a:buNone/>
            </a:pPr>
            <a:endParaRPr lang="en-US" dirty="0"/>
          </a:p>
        </p:txBody>
      </p:sp>
      <p:sp>
        <p:nvSpPr>
          <p:cNvPr id="9" name="Text 7"/>
          <p:cNvSpPr/>
          <p:nvPr/>
        </p:nvSpPr>
        <p:spPr>
          <a:xfrm>
            <a:off x="514350" y="1655899"/>
            <a:ext cx="224693" cy="256032"/>
          </a:xfrm>
          <a:prstGeom prst="rect">
            <a:avLst/>
          </a:prstGeom>
          <a:noFill/>
          <a:ln/>
        </p:spPr>
        <p:txBody>
          <a:bodyPr wrap="none" lIns="57150" tIns="28575" rIns="57150" bIns="28575" rtlCol="0" anchor="t"/>
          <a:lstStyle/>
          <a:p>
            <a:pPr marL="0" indent="0" algn="l">
              <a:lnSpc>
                <a:spcPts val="1013"/>
              </a:lnSpc>
              <a:buNone/>
            </a:pPr>
            <a:r>
              <a:rPr lang="en-US" sz="800" kern="0" spc="41" dirty="0">
                <a:solidFill>
                  <a:srgbClr val="0A0A0A"/>
                </a:solidFill>
                <a:latin typeface="Liberation Sans Narrow" pitchFamily="34" charset="0"/>
                <a:ea typeface="Liberation Sans Narrow" pitchFamily="34" charset="-122"/>
                <a:cs typeface="Liberation Sans Narrow" pitchFamily="34" charset="-120"/>
              </a:rPr>
              <a:t>N3</a:t>
            </a:r>
            <a:endParaRPr lang="en-US" sz="800" dirty="0"/>
          </a:p>
        </p:txBody>
      </p:sp>
      <p:sp>
        <p:nvSpPr>
          <p:cNvPr id="10" name="Text 8"/>
          <p:cNvSpPr/>
          <p:nvPr/>
        </p:nvSpPr>
        <p:spPr>
          <a:xfrm>
            <a:off x="1895438" y="1655899"/>
            <a:ext cx="2798104" cy="160453"/>
          </a:xfrm>
          <a:prstGeom prst="rect">
            <a:avLst/>
          </a:prstGeom>
          <a:noFill/>
          <a:ln/>
        </p:spPr>
        <p:txBody>
          <a:bodyPr wrap="square" lIns="0" tIns="0" rIns="0" bIns="0" rtlCol="0" anchor="t"/>
          <a:lstStyle/>
          <a:p>
            <a:pPr marL="0" indent="0" algn="l">
              <a:lnSpc>
                <a:spcPts val="1170"/>
              </a:lnSpc>
              <a:buNone/>
            </a:pPr>
            <a:r>
              <a:rPr lang="en-US" sz="900" kern="0" spc="-5" dirty="0">
                <a:solidFill>
                  <a:srgbClr val="0A0A0A"/>
                </a:solidFill>
                <a:latin typeface="Carlito" pitchFamily="34" charset="0"/>
                <a:ea typeface="Carlito" pitchFamily="34" charset="-122"/>
                <a:cs typeface="Carlito" pitchFamily="34" charset="-120"/>
              </a:rPr>
              <a:t>Dataflow-Conditioned Finding Suppression</a:t>
            </a:r>
            <a:endParaRPr lang="en-US" sz="900" dirty="0"/>
          </a:p>
        </p:txBody>
      </p:sp>
      <p:sp>
        <p:nvSpPr>
          <p:cNvPr id="11" name="Text 9"/>
          <p:cNvSpPr/>
          <p:nvPr/>
        </p:nvSpPr>
        <p:spPr>
          <a:xfrm>
            <a:off x="4657725" y="1655899"/>
            <a:ext cx="3971925" cy="680314"/>
          </a:xfrm>
          <a:prstGeom prst="rect">
            <a:avLst/>
          </a:prstGeom>
          <a:noFill/>
          <a:ln/>
        </p:spPr>
        <p:txBody>
          <a:bodyPr wrap="square" lIns="0" tIns="0" rIns="0" bIns="0" rtlCol="0" anchor="t"/>
          <a:lstStyle/>
          <a:p>
            <a:pPr marL="0" indent="0" algn="l">
              <a:lnSpc>
                <a:spcPts val="1090"/>
              </a:lnSpc>
              <a:buNone/>
            </a:pPr>
            <a:r>
              <a:rPr lang="en-US" sz="800" dirty="0">
                <a:solidFill>
                  <a:srgbClr val="1F1F1F"/>
                </a:solidFill>
                <a:latin typeface="Carlito" pitchFamily="34" charset="0"/>
                <a:ea typeface="Carlito" pitchFamily="34" charset="-122"/>
                <a:cs typeface="Carlito" pitchFamily="34" charset="-120"/>
              </a:rPr>
              <a:t>A hash whose input never derives from a credential source and whose output never reaches an authentication or storage sink is reclassified as non-security. Targets the specific failure P1 reports (actionable precision ≈ 0.3) with a mechanism P1 lacks — reported as a precision/recall trade-off curve, not a single number.</a:t>
            </a:r>
            <a:endParaRPr lang="en-US" sz="800" dirty="0"/>
          </a:p>
        </p:txBody>
      </p:sp>
      <p:sp>
        <p:nvSpPr>
          <p:cNvPr id="12" name="Text 10"/>
          <p:cNvSpPr/>
          <p:nvPr/>
        </p:nvSpPr>
        <p:spPr>
          <a:xfrm>
            <a:off x="514350" y="2309552"/>
            <a:ext cx="8115300" cy="7144"/>
          </a:xfrm>
          <a:prstGeom prst="rect">
            <a:avLst/>
          </a:prstGeom>
          <a:solidFill>
            <a:srgbClr val="D9D9D9"/>
          </a:solidFill>
          <a:ln/>
        </p:spPr>
        <p:txBody>
          <a:bodyPr wrap="square" rtlCol="0" anchor="ctr"/>
          <a:lstStyle/>
          <a:p>
            <a:pPr marL="0" indent="0">
              <a:buNone/>
            </a:pPr>
            <a:endParaRPr lang="en-US" dirty="0"/>
          </a:p>
        </p:txBody>
      </p:sp>
      <p:sp>
        <p:nvSpPr>
          <p:cNvPr id="13" name="Text 11"/>
          <p:cNvSpPr/>
          <p:nvPr/>
        </p:nvSpPr>
        <p:spPr>
          <a:xfrm>
            <a:off x="503377" y="2404707"/>
            <a:ext cx="246639" cy="224028"/>
          </a:xfrm>
          <a:prstGeom prst="rect">
            <a:avLst/>
          </a:prstGeom>
          <a:noFill/>
          <a:ln w="7144">
            <a:solidFill>
              <a:srgbClr val="0A0A0A"/>
            </a:solidFill>
            <a:prstDash val="solid"/>
          </a:ln>
        </p:spPr>
        <p:txBody>
          <a:bodyPr wrap="square" rtlCol="0" anchor="ctr"/>
          <a:lstStyle/>
          <a:p>
            <a:pPr marL="0" indent="0">
              <a:buNone/>
            </a:pPr>
            <a:endParaRPr lang="en-US" dirty="0"/>
          </a:p>
        </p:txBody>
      </p:sp>
      <p:sp>
        <p:nvSpPr>
          <p:cNvPr id="14" name="Text 12"/>
          <p:cNvSpPr/>
          <p:nvPr/>
        </p:nvSpPr>
        <p:spPr>
          <a:xfrm>
            <a:off x="514350" y="2416708"/>
            <a:ext cx="224693" cy="256032"/>
          </a:xfrm>
          <a:prstGeom prst="rect">
            <a:avLst/>
          </a:prstGeom>
          <a:noFill/>
          <a:ln/>
        </p:spPr>
        <p:txBody>
          <a:bodyPr wrap="none" lIns="57150" tIns="28575" rIns="57150" bIns="28575" rtlCol="0" anchor="t"/>
          <a:lstStyle/>
          <a:p>
            <a:pPr marL="0" indent="0" algn="l">
              <a:lnSpc>
                <a:spcPts val="1013"/>
              </a:lnSpc>
              <a:buNone/>
            </a:pPr>
            <a:r>
              <a:rPr lang="en-US" sz="800" kern="0" spc="41" dirty="0">
                <a:solidFill>
                  <a:srgbClr val="0A0A0A"/>
                </a:solidFill>
                <a:latin typeface="Liberation Sans Narrow" pitchFamily="34" charset="0"/>
                <a:ea typeface="Liberation Sans Narrow" pitchFamily="34" charset="-122"/>
                <a:cs typeface="Liberation Sans Narrow" pitchFamily="34" charset="-120"/>
              </a:rPr>
              <a:t>N4</a:t>
            </a:r>
            <a:endParaRPr lang="en-US" sz="800" dirty="0"/>
          </a:p>
        </p:txBody>
      </p:sp>
      <p:sp>
        <p:nvSpPr>
          <p:cNvPr id="15" name="Text 13"/>
          <p:cNvSpPr/>
          <p:nvPr/>
        </p:nvSpPr>
        <p:spPr>
          <a:xfrm>
            <a:off x="1895438" y="2416708"/>
            <a:ext cx="2798104" cy="160453"/>
          </a:xfrm>
          <a:prstGeom prst="rect">
            <a:avLst/>
          </a:prstGeom>
          <a:noFill/>
          <a:ln/>
        </p:spPr>
        <p:txBody>
          <a:bodyPr wrap="square" lIns="0" tIns="0" rIns="0" bIns="0" rtlCol="0" anchor="t"/>
          <a:lstStyle/>
          <a:p>
            <a:pPr marL="0" indent="0" algn="l">
              <a:lnSpc>
                <a:spcPts val="1170"/>
              </a:lnSpc>
              <a:buNone/>
            </a:pPr>
            <a:r>
              <a:rPr lang="en-US" sz="900" kern="0" spc="-5" dirty="0">
                <a:solidFill>
                  <a:srgbClr val="0A0A0A"/>
                </a:solidFill>
                <a:latin typeface="Carlito" pitchFamily="34" charset="0"/>
                <a:ea typeface="Carlito" pitchFamily="34" charset="-122"/>
                <a:cs typeface="Carlito" pitchFamily="34" charset="-120"/>
              </a:rPr>
              <a:t>Differentially Verified Hybrid Patch Synthesis</a:t>
            </a:r>
            <a:endParaRPr lang="en-US" sz="900" dirty="0"/>
          </a:p>
        </p:txBody>
      </p:sp>
      <p:sp>
        <p:nvSpPr>
          <p:cNvPr id="16" name="Text 14"/>
          <p:cNvSpPr/>
          <p:nvPr/>
        </p:nvSpPr>
        <p:spPr>
          <a:xfrm>
            <a:off x="4657725" y="2416708"/>
            <a:ext cx="3971925" cy="680314"/>
          </a:xfrm>
          <a:prstGeom prst="rect">
            <a:avLst/>
          </a:prstGeom>
          <a:noFill/>
          <a:ln/>
        </p:spPr>
        <p:txBody>
          <a:bodyPr wrap="square" lIns="0" tIns="0" rIns="0" bIns="0" rtlCol="0" anchor="t"/>
          <a:lstStyle/>
          <a:p>
            <a:pPr marL="0" indent="0" algn="l">
              <a:lnSpc>
                <a:spcPts val="1090"/>
              </a:lnSpc>
              <a:buNone/>
            </a:pPr>
            <a:r>
              <a:rPr lang="en-US" sz="800" dirty="0">
                <a:solidFill>
                  <a:srgbClr val="1F1F1F"/>
                </a:solidFill>
                <a:latin typeface="Carlito" pitchFamily="34" charset="0"/>
                <a:ea typeface="Carlito" pitchFamily="34" charset="-122"/>
                <a:cs typeface="Carlito" pitchFamily="34" charset="-120"/>
              </a:rPr>
              <a:t>Patches proposed only after passing differential equivalence against the original implementation, property-based tests, and a hybrid-negotiation interoperability check against an unmigrated peer. Strengthens P3's round-trip-only verification; moves the setting from synthetic fragments to real multi-file repositories.</a:t>
            </a:r>
            <a:endParaRPr lang="en-US" sz="800" dirty="0"/>
          </a:p>
        </p:txBody>
      </p:sp>
      <p:sp>
        <p:nvSpPr>
          <p:cNvPr id="17" name="Text 15"/>
          <p:cNvSpPr/>
          <p:nvPr/>
        </p:nvSpPr>
        <p:spPr>
          <a:xfrm>
            <a:off x="514350" y="3070361"/>
            <a:ext cx="8115300" cy="7144"/>
          </a:xfrm>
          <a:prstGeom prst="rect">
            <a:avLst/>
          </a:prstGeom>
          <a:solidFill>
            <a:srgbClr val="D9D9D9"/>
          </a:solidFill>
          <a:ln/>
        </p:spPr>
        <p:txBody>
          <a:bodyPr wrap="square" rtlCol="0" anchor="ctr"/>
          <a:lstStyle/>
          <a:p>
            <a:pPr marL="0" indent="0">
              <a:buNone/>
            </a:pPr>
            <a:endParaRPr lang="en-US" dirty="0"/>
          </a:p>
        </p:txBody>
      </p:sp>
      <p:sp>
        <p:nvSpPr>
          <p:cNvPr id="18" name="Text 16"/>
          <p:cNvSpPr/>
          <p:nvPr/>
        </p:nvSpPr>
        <p:spPr>
          <a:xfrm>
            <a:off x="503377" y="3165516"/>
            <a:ext cx="246639" cy="224028"/>
          </a:xfrm>
          <a:prstGeom prst="rect">
            <a:avLst/>
          </a:prstGeom>
          <a:noFill/>
          <a:ln w="7144">
            <a:solidFill>
              <a:srgbClr val="0A0A0A"/>
            </a:solidFill>
            <a:prstDash val="solid"/>
          </a:ln>
        </p:spPr>
        <p:txBody>
          <a:bodyPr wrap="square" rtlCol="0" anchor="ctr"/>
          <a:lstStyle/>
          <a:p>
            <a:pPr marL="0" indent="0">
              <a:buNone/>
            </a:pPr>
            <a:endParaRPr lang="en-US" dirty="0"/>
          </a:p>
        </p:txBody>
      </p:sp>
      <p:sp>
        <p:nvSpPr>
          <p:cNvPr id="19" name="Text 17"/>
          <p:cNvSpPr/>
          <p:nvPr/>
        </p:nvSpPr>
        <p:spPr>
          <a:xfrm>
            <a:off x="514350" y="3177518"/>
            <a:ext cx="224693" cy="256032"/>
          </a:xfrm>
          <a:prstGeom prst="rect">
            <a:avLst/>
          </a:prstGeom>
          <a:noFill/>
          <a:ln/>
        </p:spPr>
        <p:txBody>
          <a:bodyPr wrap="none" lIns="57150" tIns="28575" rIns="57150" bIns="28575" rtlCol="0" anchor="t"/>
          <a:lstStyle/>
          <a:p>
            <a:pPr marL="0" indent="0" algn="l">
              <a:lnSpc>
                <a:spcPts val="1013"/>
              </a:lnSpc>
              <a:buNone/>
            </a:pPr>
            <a:r>
              <a:rPr lang="en-US" sz="800" kern="0" spc="41" dirty="0">
                <a:solidFill>
                  <a:srgbClr val="0A0A0A"/>
                </a:solidFill>
                <a:latin typeface="Liberation Sans Narrow" pitchFamily="34" charset="0"/>
                <a:ea typeface="Liberation Sans Narrow" pitchFamily="34" charset="-122"/>
                <a:cs typeface="Liberation Sans Narrow" pitchFamily="34" charset="-120"/>
              </a:rPr>
              <a:t>N5</a:t>
            </a:r>
            <a:endParaRPr lang="en-US" sz="800" dirty="0"/>
          </a:p>
        </p:txBody>
      </p:sp>
      <p:sp>
        <p:nvSpPr>
          <p:cNvPr id="20" name="Text 18"/>
          <p:cNvSpPr/>
          <p:nvPr/>
        </p:nvSpPr>
        <p:spPr>
          <a:xfrm>
            <a:off x="1895438" y="3177518"/>
            <a:ext cx="2798104" cy="160453"/>
          </a:xfrm>
          <a:prstGeom prst="rect">
            <a:avLst/>
          </a:prstGeom>
          <a:noFill/>
          <a:ln/>
        </p:spPr>
        <p:txBody>
          <a:bodyPr wrap="square" lIns="0" tIns="0" rIns="0" bIns="0" rtlCol="0" anchor="t"/>
          <a:lstStyle/>
          <a:p>
            <a:pPr marL="0" indent="0" algn="l">
              <a:lnSpc>
                <a:spcPts val="1170"/>
              </a:lnSpc>
              <a:buNone/>
            </a:pPr>
            <a:r>
              <a:rPr lang="en-US" sz="900" kern="0" spc="-5" dirty="0">
                <a:solidFill>
                  <a:srgbClr val="0A0A0A"/>
                </a:solidFill>
                <a:latin typeface="Carlito" pitchFamily="34" charset="0"/>
                <a:ea typeface="Carlito" pitchFamily="34" charset="-122"/>
                <a:cs typeface="Carlito" pitchFamily="34" charset="-120"/>
              </a:rPr>
              <a:t>Public Retention-Annotated Benchmark</a:t>
            </a:r>
            <a:endParaRPr lang="en-US" sz="900" dirty="0"/>
          </a:p>
        </p:txBody>
      </p:sp>
      <p:sp>
        <p:nvSpPr>
          <p:cNvPr id="21" name="Text 19"/>
          <p:cNvSpPr/>
          <p:nvPr/>
        </p:nvSpPr>
        <p:spPr>
          <a:xfrm>
            <a:off x="4657725" y="3177518"/>
            <a:ext cx="3971925" cy="340157"/>
          </a:xfrm>
          <a:prstGeom prst="rect">
            <a:avLst/>
          </a:prstGeom>
          <a:noFill/>
          <a:ln/>
        </p:spPr>
        <p:txBody>
          <a:bodyPr wrap="square" lIns="0" tIns="0" rIns="0" bIns="0" rtlCol="0" anchor="t"/>
          <a:lstStyle/>
          <a:p>
            <a:pPr marL="0" indent="0" algn="l">
              <a:lnSpc>
                <a:spcPts val="1090"/>
              </a:lnSpc>
              <a:buNone/>
            </a:pPr>
            <a:r>
              <a:rPr lang="en-US" sz="800" dirty="0">
                <a:solidFill>
                  <a:srgbClr val="1F1F1F"/>
                </a:solidFill>
                <a:latin typeface="Carlito" pitchFamily="34" charset="0"/>
                <a:ea typeface="Carlito" pitchFamily="34" charset="-122"/>
                <a:cs typeface="Carlito" pitchFamily="34" charset="-120"/>
              </a:rPr>
              <a:t>The reason no prior work reports ranking quality is that no dataset supports it. Producing one is a reusable contribution independent of whether our score wins.</a:t>
            </a:r>
            <a:endParaRPr lang="en-US" sz="800" dirty="0"/>
          </a:p>
        </p:txBody>
      </p:sp>
      <p:sp>
        <p:nvSpPr>
          <p:cNvPr id="22" name="Text 20"/>
          <p:cNvSpPr/>
          <p:nvPr/>
        </p:nvSpPr>
        <p:spPr>
          <a:xfrm>
            <a:off x="514350" y="3554350"/>
            <a:ext cx="8115300" cy="7144"/>
          </a:xfrm>
          <a:prstGeom prst="rect">
            <a:avLst/>
          </a:prstGeom>
          <a:solidFill>
            <a:srgbClr val="D9D9D9"/>
          </a:solidFill>
          <a:ln/>
        </p:spPr>
        <p:txBody>
          <a:bodyPr wrap="square" rtlCol="0" anchor="ctr"/>
          <a:lstStyle/>
          <a:p>
            <a:pPr marL="0" indent="0">
              <a:buNone/>
            </a:pPr>
            <a:endParaRPr lang="en-US" dirty="0"/>
          </a:p>
        </p:txBody>
      </p:sp>
      <p:sp>
        <p:nvSpPr>
          <p:cNvPr id="23" name="Shape 21"/>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24" name="Text 22"/>
          <p:cNvSpPr/>
          <p:nvPr/>
        </p:nvSpPr>
        <p:spPr>
          <a:xfrm>
            <a:off x="1463040" y="4846320"/>
            <a:ext cx="7132320" cy="137160"/>
          </a:xfrm>
          <a:prstGeom prst="rect">
            <a:avLst/>
          </a:prstGeom>
          <a:noFill/>
          <a:ln/>
        </p:spPr>
        <p:txBody>
          <a:bodyPr wrap="non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06 — NOVELTY</a:t>
            </a:r>
            <a:endParaRPr lang="en-US" sz="800" dirty="0"/>
          </a:p>
        </p:txBody>
      </p:sp>
      <p:sp>
        <p:nvSpPr>
          <p:cNvPr id="25" name="Text 23"/>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31 / 39</a:t>
            </a:r>
            <a:endParaRPr lang="en-US" sz="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750174"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7278812" y="400050"/>
            <a:ext cx="1350838" cy="117872"/>
          </a:xfrm>
          <a:prstGeom prst="rect">
            <a:avLst/>
          </a:prstGeom>
          <a:noFill/>
          <a:ln/>
        </p:spPr>
        <p:txBody>
          <a:bodyPr wrap="non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REVIEW REPORT I — PAGE 32</a:t>
            </a:r>
            <a:endParaRPr lang="en-US" sz="619" dirty="0"/>
          </a:p>
        </p:txBody>
      </p:sp>
      <p:sp>
        <p:nvSpPr>
          <p:cNvPr id="5" name="Text 3"/>
          <p:cNvSpPr/>
          <p:nvPr/>
        </p:nvSpPr>
        <p:spPr>
          <a:xfrm>
            <a:off x="514350" y="767953"/>
            <a:ext cx="8629650" cy="164592"/>
          </a:xfrm>
          <a:prstGeom prst="rect">
            <a:avLst/>
          </a:prstGeom>
          <a:noFill/>
          <a:ln/>
        </p:spPr>
        <p:txBody>
          <a:bodyPr wrap="none" lIns="0" tIns="0" rIns="0" bIns="0" rtlCol="0" anchor="t"/>
          <a:lstStyle/>
          <a:p>
            <a:pPr marL="0" indent="0" algn="l">
              <a:lnSpc>
                <a:spcPts val="928"/>
              </a:lnSpc>
              <a:buNone/>
            </a:pPr>
            <a:r>
              <a:rPr lang="en-US" sz="800" kern="0" spc="136" dirty="0">
                <a:solidFill>
                  <a:srgbClr val="4A4A4A"/>
                </a:solidFill>
                <a:latin typeface="Liberation Sans Narrow" pitchFamily="34" charset="0"/>
                <a:ea typeface="Liberation Sans Narrow" pitchFamily="34" charset="-122"/>
                <a:cs typeface="Liberation Sans Narrow" pitchFamily="34" charset="-120"/>
              </a:rPr>
              <a:t>7.1 ARCHITECTURE</a:t>
            </a:r>
            <a:endParaRPr lang="en-US" sz="800" dirty="0"/>
          </a:p>
        </p:txBody>
      </p:sp>
      <p:sp>
        <p:nvSpPr>
          <p:cNvPr id="6" name="Text 4"/>
          <p:cNvSpPr/>
          <p:nvPr/>
        </p:nvSpPr>
        <p:spPr>
          <a:xfrm>
            <a:off x="514350" y="971550"/>
            <a:ext cx="8251031" cy="345619"/>
          </a:xfrm>
          <a:prstGeom prst="rect">
            <a:avLst/>
          </a:prstGeom>
          <a:noFill/>
          <a:ln/>
        </p:spPr>
        <p:txBody>
          <a:bodyPr wrap="non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A four-stage pipeline.</a:t>
            </a:r>
            <a:endParaRPr lang="en-US" sz="2250" dirty="0"/>
          </a:p>
        </p:txBody>
      </p:sp>
      <p:sp>
        <p:nvSpPr>
          <p:cNvPr id="7" name="Text 5"/>
          <p:cNvSpPr/>
          <p:nvPr/>
        </p:nvSpPr>
        <p:spPr>
          <a:xfrm>
            <a:off x="514350" y="1377293"/>
            <a:ext cx="8115300" cy="7144"/>
          </a:xfrm>
          <a:prstGeom prst="rect">
            <a:avLst/>
          </a:prstGeom>
          <a:solidFill>
            <a:srgbClr val="D9D9D9"/>
          </a:solidFill>
          <a:ln/>
        </p:spPr>
        <p:txBody>
          <a:bodyPr wrap="square" rtlCol="0" anchor="ctr"/>
          <a:lstStyle/>
          <a:p>
            <a:pPr marL="0" indent="0">
              <a:buNone/>
            </a:pPr>
            <a:endParaRPr lang="en-US" dirty="0"/>
          </a:p>
        </p:txBody>
      </p:sp>
      <p:sp>
        <p:nvSpPr>
          <p:cNvPr id="9" name="Text 7"/>
          <p:cNvSpPr/>
          <p:nvPr/>
        </p:nvSpPr>
        <p:spPr>
          <a:xfrm>
            <a:off x="600075" y="1613036"/>
            <a:ext cx="1836301" cy="277749"/>
          </a:xfrm>
          <a:prstGeom prst="rect">
            <a:avLst/>
          </a:prstGeom>
          <a:noFill/>
          <a:ln/>
        </p:spPr>
        <p:txBody>
          <a:bodyPr wrap="none" lIns="0" tIns="0" rIns="0" bIns="0" rtlCol="0" anchor="t"/>
          <a:lstStyle/>
          <a:p>
            <a:pPr marL="0" indent="0" algn="l">
              <a:lnSpc>
                <a:spcPts val="2025"/>
              </a:lnSpc>
              <a:buNone/>
            </a:pPr>
            <a:r>
              <a:rPr lang="en-US" sz="2025" kern="0" spc="-40" dirty="0">
                <a:solidFill>
                  <a:srgbClr val="0A0A0A"/>
                </a:solidFill>
                <a:latin typeface="Liberation Sans Narrow" pitchFamily="34" charset="0"/>
                <a:ea typeface="Liberation Sans Narrow" pitchFamily="34" charset="-122"/>
                <a:cs typeface="Liberation Sans Narrow" pitchFamily="34" charset="-120"/>
              </a:rPr>
              <a:t>01</a:t>
            </a:r>
            <a:endParaRPr lang="en-US" sz="2025" dirty="0"/>
          </a:p>
        </p:txBody>
      </p:sp>
      <p:sp>
        <p:nvSpPr>
          <p:cNvPr id="10" name="Text 8"/>
          <p:cNvSpPr/>
          <p:nvPr/>
        </p:nvSpPr>
        <p:spPr>
          <a:xfrm>
            <a:off x="1890638" y="1613036"/>
            <a:ext cx="6634093" cy="119015"/>
          </a:xfrm>
          <a:prstGeom prst="rect">
            <a:avLst/>
          </a:prstGeom>
          <a:noFill/>
          <a:ln/>
        </p:spPr>
        <p:txBody>
          <a:bodyPr wrap="none" lIns="0" tIns="0" rIns="0" bIns="0" rtlCol="0" anchor="t">
            <a:normAutofit/>
          </a:bodyPr>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DISCOVERY</a:t>
            </a:r>
            <a:endParaRPr lang="en-US" sz="800" dirty="0"/>
          </a:p>
        </p:txBody>
      </p:sp>
      <p:sp>
        <p:nvSpPr>
          <p:cNvPr id="11" name="Text 9"/>
          <p:cNvSpPr/>
          <p:nvPr/>
        </p:nvSpPr>
        <p:spPr>
          <a:xfrm>
            <a:off x="1890638" y="1759483"/>
            <a:ext cx="4674468" cy="164592"/>
          </a:xfrm>
          <a:prstGeom prst="rect">
            <a:avLst/>
          </a:prstGeom>
          <a:noFill/>
          <a:ln/>
        </p:spPr>
        <p:txBody>
          <a:bodyPr wrap="square" lIns="0" tIns="0" rIns="0" bIns="0" rtlCol="0" anchor="t"/>
          <a:lstStyle/>
          <a:p>
            <a:pPr marL="0" indent="0" algn="l">
              <a:lnSpc>
                <a:spcPts val="1055"/>
              </a:lnSpc>
              <a:buNone/>
            </a:pPr>
            <a:r>
              <a:rPr lang="en-US" sz="703" dirty="0">
                <a:solidFill>
                  <a:srgbClr val="1F1F1F"/>
                </a:solidFill>
                <a:latin typeface="Carlito" pitchFamily="34" charset="0"/>
                <a:ea typeface="Carlito" pitchFamily="34" charset="-122"/>
                <a:cs typeface="Carlito" pitchFamily="34" charset="-120"/>
              </a:rPr>
              <a:t>tree-sitter parse · Semgrep/Crypistry-style rules → crypto asset candidates (CycloneDX 1.6)</a:t>
            </a:r>
            <a:endParaRPr lang="en-US" sz="703" dirty="0"/>
          </a:p>
        </p:txBody>
      </p:sp>
      <p:sp>
        <p:nvSpPr>
          <p:cNvPr id="12" name="Text 10"/>
          <p:cNvSpPr/>
          <p:nvPr/>
        </p:nvSpPr>
        <p:spPr>
          <a:xfrm>
            <a:off x="5872656" y="1613036"/>
            <a:ext cx="2756994" cy="108299"/>
          </a:xfrm>
          <a:prstGeom prst="rect">
            <a:avLst/>
          </a:prstGeom>
          <a:noFill/>
          <a:ln/>
        </p:spPr>
        <p:txBody>
          <a:bodyPr wrap="none" lIns="0" tIns="0" rIns="0" bIns="0" rtlCol="0" anchor="t">
            <a:normAutofit/>
          </a:bodyPr>
          <a:lstStyle/>
          <a:p>
            <a:pPr marL="0" indent="0" algn="r">
              <a:lnSpc>
                <a:spcPts val="844"/>
              </a:lnSpc>
              <a:buNone/>
            </a:pPr>
            <a:r>
              <a:rPr lang="en-US" sz="800" kern="0" spc="124" dirty="0">
                <a:solidFill>
                  <a:srgbClr val="4A4A4A"/>
                </a:solidFill>
                <a:latin typeface="Carlito" pitchFamily="34" charset="0"/>
                <a:ea typeface="Carlito" pitchFamily="34" charset="-122"/>
                <a:cs typeface="Carlito" pitchFamily="34" charset="-120"/>
              </a:rPr>
              <a:t>OUTPUT</a:t>
            </a:r>
            <a:endParaRPr lang="en-US" sz="800" dirty="0"/>
          </a:p>
        </p:txBody>
      </p:sp>
      <p:sp>
        <p:nvSpPr>
          <p:cNvPr id="13" name="Text 11"/>
          <p:cNvSpPr/>
          <p:nvPr/>
        </p:nvSpPr>
        <p:spPr>
          <a:xfrm>
            <a:off x="6611898" y="1748768"/>
            <a:ext cx="2017752" cy="164592"/>
          </a:xfrm>
          <a:prstGeom prst="rect">
            <a:avLst/>
          </a:prstGeom>
          <a:noFill/>
          <a:ln/>
        </p:spPr>
        <p:txBody>
          <a:bodyPr wrap="none" lIns="0" tIns="0" rIns="0" bIns="0" rtlCol="0" anchor="t"/>
          <a:lstStyle/>
          <a:p>
            <a:pPr marL="0" indent="0" algn="r">
              <a:lnSpc>
                <a:spcPts val="970"/>
              </a:lnSpc>
              <a:buNone/>
            </a:pPr>
            <a:r>
              <a:rPr lang="en-US" sz="800" dirty="0">
                <a:solidFill>
                  <a:srgbClr val="0A0A0A"/>
                </a:solidFill>
                <a:latin typeface="Courier New" pitchFamily="34" charset="0"/>
                <a:ea typeface="Courier New" pitchFamily="34" charset="-122"/>
                <a:cs typeface="Courier New" pitchFamily="34" charset="-120"/>
              </a:rPr>
              <a:t>CBOM candidates</a:t>
            </a:r>
            <a:endParaRPr lang="en-US" sz="800" dirty="0"/>
          </a:p>
        </p:txBody>
      </p:sp>
      <p:sp>
        <p:nvSpPr>
          <p:cNvPr id="14" name="Text 12"/>
          <p:cNvSpPr/>
          <p:nvPr/>
        </p:nvSpPr>
        <p:spPr>
          <a:xfrm>
            <a:off x="514350" y="1979154"/>
            <a:ext cx="8115300" cy="7144"/>
          </a:xfrm>
          <a:prstGeom prst="rect">
            <a:avLst/>
          </a:prstGeom>
          <a:solidFill>
            <a:srgbClr val="D9D9D9"/>
          </a:solidFill>
          <a:ln/>
        </p:spPr>
        <p:txBody>
          <a:bodyPr wrap="square" rtlCol="0" anchor="ctr"/>
          <a:lstStyle/>
          <a:p>
            <a:pPr marL="0" indent="0">
              <a:buNone/>
            </a:pPr>
            <a:endParaRPr lang="en-US" dirty="0"/>
          </a:p>
        </p:txBody>
      </p:sp>
      <p:sp>
        <p:nvSpPr>
          <p:cNvPr id="15" name="Text 13"/>
          <p:cNvSpPr/>
          <p:nvPr/>
        </p:nvSpPr>
        <p:spPr>
          <a:xfrm>
            <a:off x="600075" y="2072022"/>
            <a:ext cx="1836301" cy="277749"/>
          </a:xfrm>
          <a:prstGeom prst="rect">
            <a:avLst/>
          </a:prstGeom>
          <a:noFill/>
          <a:ln/>
        </p:spPr>
        <p:txBody>
          <a:bodyPr wrap="none" lIns="0" tIns="0" rIns="0" bIns="0" rtlCol="0" anchor="t"/>
          <a:lstStyle/>
          <a:p>
            <a:pPr marL="0" indent="0" algn="l">
              <a:lnSpc>
                <a:spcPts val="2025"/>
              </a:lnSpc>
              <a:buNone/>
            </a:pPr>
            <a:r>
              <a:rPr lang="en-US" sz="2025" kern="0" spc="-40" dirty="0">
                <a:solidFill>
                  <a:srgbClr val="0A0A0A"/>
                </a:solidFill>
                <a:latin typeface="Liberation Sans Narrow" pitchFamily="34" charset="0"/>
                <a:ea typeface="Liberation Sans Narrow" pitchFamily="34" charset="-122"/>
                <a:cs typeface="Liberation Sans Narrow" pitchFamily="34" charset="-120"/>
              </a:rPr>
              <a:t>02</a:t>
            </a:r>
            <a:endParaRPr lang="en-US" sz="2025" dirty="0"/>
          </a:p>
        </p:txBody>
      </p:sp>
      <p:sp>
        <p:nvSpPr>
          <p:cNvPr id="16" name="Text 14"/>
          <p:cNvSpPr/>
          <p:nvPr/>
        </p:nvSpPr>
        <p:spPr>
          <a:xfrm>
            <a:off x="1890638" y="2072022"/>
            <a:ext cx="5362661" cy="119015"/>
          </a:xfrm>
          <a:prstGeom prst="rect">
            <a:avLst/>
          </a:prstGeom>
          <a:noFill/>
          <a:ln/>
        </p:spPr>
        <p:txBody>
          <a:bodyPr wrap="square" lIns="0" tIns="0" rIns="0" bIns="0" rtlCol="0" anchor="t">
            <a:normAutofit/>
          </a:bodyPr>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SEMANTIC BINDING </a:t>
            </a:r>
            <a:r>
              <a:rPr lang="en-US" sz="800" b="1" kern="0" spc="111" dirty="0">
                <a:solidFill>
                  <a:srgbClr val="0A0A0A"/>
                </a:solidFill>
                <a:latin typeface="Liberation Sans Narrow" pitchFamily="34" charset="0"/>
                <a:ea typeface="Liberation Sans Narrow" pitchFamily="34" charset="-122"/>
                <a:cs typeface="Liberation Sans Narrow" pitchFamily="34" charset="-120"/>
              </a:rPr>
              <a:t>· CORE, N1</a:t>
            </a:r>
            <a:endParaRPr lang="en-US" sz="800" dirty="0"/>
          </a:p>
        </p:txBody>
      </p:sp>
      <p:sp>
        <p:nvSpPr>
          <p:cNvPr id="17" name="Text 15"/>
          <p:cNvSpPr/>
          <p:nvPr/>
        </p:nvSpPr>
        <p:spPr>
          <a:xfrm>
            <a:off x="1890638" y="2218469"/>
            <a:ext cx="4674468" cy="329184"/>
          </a:xfrm>
          <a:prstGeom prst="rect">
            <a:avLst/>
          </a:prstGeom>
          <a:noFill/>
          <a:ln/>
        </p:spPr>
        <p:txBody>
          <a:bodyPr wrap="square" lIns="0" tIns="0" rIns="0" bIns="0" rtlCol="0" anchor="t"/>
          <a:lstStyle/>
          <a:p>
            <a:pPr marL="0" indent="0" algn="l">
              <a:lnSpc>
                <a:spcPts val="1055"/>
              </a:lnSpc>
              <a:buNone/>
            </a:pPr>
            <a:r>
              <a:rPr lang="en-US" sz="800" dirty="0">
                <a:solidFill>
                  <a:srgbClr val="1F1F1F"/>
                </a:solidFill>
                <a:latin typeface="Carlito" pitchFamily="34" charset="0"/>
                <a:ea typeface="Carlito" pitchFamily="34" charset="-122"/>
                <a:cs typeface="Carlito" pitchFamily="34" charset="-120"/>
              </a:rPr>
              <a:t>backward taint: primitive ← plaintext ← source. forward taint: ciphertext → persistence / network sink. retention evidence extraction from DDL/ORM/IaC/TTL.</a:t>
            </a:r>
            <a:endParaRPr lang="en-US" sz="800" dirty="0"/>
          </a:p>
        </p:txBody>
      </p:sp>
      <p:sp>
        <p:nvSpPr>
          <p:cNvPr id="18" name="Text 16"/>
          <p:cNvSpPr/>
          <p:nvPr/>
        </p:nvSpPr>
        <p:spPr>
          <a:xfrm>
            <a:off x="5872656" y="2072022"/>
            <a:ext cx="2756994" cy="108299"/>
          </a:xfrm>
          <a:prstGeom prst="rect">
            <a:avLst/>
          </a:prstGeom>
          <a:noFill/>
          <a:ln/>
        </p:spPr>
        <p:txBody>
          <a:bodyPr wrap="none" lIns="0" tIns="0" rIns="0" bIns="0" rtlCol="0" anchor="t">
            <a:normAutofit/>
          </a:bodyPr>
          <a:lstStyle/>
          <a:p>
            <a:pPr marL="0" indent="0" algn="r">
              <a:lnSpc>
                <a:spcPts val="844"/>
              </a:lnSpc>
              <a:buNone/>
            </a:pPr>
            <a:r>
              <a:rPr lang="en-US" sz="800" kern="0" spc="124" dirty="0">
                <a:solidFill>
                  <a:srgbClr val="4A4A4A"/>
                </a:solidFill>
                <a:latin typeface="Carlito" pitchFamily="34" charset="0"/>
                <a:ea typeface="Carlito" pitchFamily="34" charset="-122"/>
                <a:cs typeface="Carlito" pitchFamily="34" charset="-120"/>
              </a:rPr>
              <a:t>OUTPUT</a:t>
            </a:r>
            <a:endParaRPr lang="en-US" sz="800" dirty="0"/>
          </a:p>
        </p:txBody>
      </p:sp>
      <p:sp>
        <p:nvSpPr>
          <p:cNvPr id="19" name="Text 17"/>
          <p:cNvSpPr/>
          <p:nvPr/>
        </p:nvSpPr>
        <p:spPr>
          <a:xfrm>
            <a:off x="6611898" y="2207754"/>
            <a:ext cx="2017752" cy="164592"/>
          </a:xfrm>
          <a:prstGeom prst="rect">
            <a:avLst/>
          </a:prstGeom>
          <a:noFill/>
          <a:ln/>
        </p:spPr>
        <p:txBody>
          <a:bodyPr wrap="none" lIns="0" tIns="0" rIns="0" bIns="0" rtlCol="0" anchor="t"/>
          <a:lstStyle/>
          <a:p>
            <a:pPr marL="0" indent="0" algn="r">
              <a:lnSpc>
                <a:spcPts val="970"/>
              </a:lnSpc>
              <a:buNone/>
            </a:pPr>
            <a:r>
              <a:rPr lang="en-US" sz="800" dirty="0">
                <a:solidFill>
                  <a:srgbClr val="0A0A0A"/>
                </a:solidFill>
                <a:latin typeface="Courier New" pitchFamily="34" charset="0"/>
                <a:ea typeface="Courier New" pitchFamily="34" charset="-122"/>
                <a:cs typeface="Courier New" pitchFamily="34" charset="-120"/>
              </a:rPr>
              <a:t>Annotated paths</a:t>
            </a:r>
            <a:endParaRPr lang="en-US" sz="800" dirty="0"/>
          </a:p>
        </p:txBody>
      </p:sp>
      <p:sp>
        <p:nvSpPr>
          <p:cNvPr id="20" name="Text 18"/>
          <p:cNvSpPr/>
          <p:nvPr/>
        </p:nvSpPr>
        <p:spPr>
          <a:xfrm>
            <a:off x="514350" y="2572085"/>
            <a:ext cx="8115300" cy="7144"/>
          </a:xfrm>
          <a:prstGeom prst="rect">
            <a:avLst/>
          </a:prstGeom>
          <a:solidFill>
            <a:srgbClr val="D9D9D9"/>
          </a:solidFill>
          <a:ln/>
        </p:spPr>
        <p:txBody>
          <a:bodyPr wrap="square" rtlCol="0" anchor="ctr"/>
          <a:lstStyle/>
          <a:p>
            <a:pPr marL="0" indent="0">
              <a:buNone/>
            </a:pPr>
            <a:endParaRPr lang="en-US" dirty="0"/>
          </a:p>
        </p:txBody>
      </p:sp>
      <p:sp>
        <p:nvSpPr>
          <p:cNvPr id="21" name="Text 19"/>
          <p:cNvSpPr/>
          <p:nvPr/>
        </p:nvSpPr>
        <p:spPr>
          <a:xfrm>
            <a:off x="600075" y="2664954"/>
            <a:ext cx="1836301" cy="277749"/>
          </a:xfrm>
          <a:prstGeom prst="rect">
            <a:avLst/>
          </a:prstGeom>
          <a:noFill/>
          <a:ln/>
        </p:spPr>
        <p:txBody>
          <a:bodyPr wrap="none" lIns="0" tIns="0" rIns="0" bIns="0" rtlCol="0" anchor="t"/>
          <a:lstStyle/>
          <a:p>
            <a:pPr marL="0" indent="0" algn="l">
              <a:lnSpc>
                <a:spcPts val="2025"/>
              </a:lnSpc>
              <a:buNone/>
            </a:pPr>
            <a:r>
              <a:rPr lang="en-US" sz="2025" kern="0" spc="-40" dirty="0">
                <a:solidFill>
                  <a:srgbClr val="0A0A0A"/>
                </a:solidFill>
                <a:latin typeface="Liberation Sans Narrow" pitchFamily="34" charset="0"/>
                <a:ea typeface="Liberation Sans Narrow" pitchFamily="34" charset="-122"/>
                <a:cs typeface="Liberation Sans Narrow" pitchFamily="34" charset="-120"/>
              </a:rPr>
              <a:t>03</a:t>
            </a:r>
            <a:endParaRPr lang="en-US" sz="2025" dirty="0"/>
          </a:p>
        </p:txBody>
      </p:sp>
      <p:sp>
        <p:nvSpPr>
          <p:cNvPr id="22" name="Text 20"/>
          <p:cNvSpPr/>
          <p:nvPr/>
        </p:nvSpPr>
        <p:spPr>
          <a:xfrm>
            <a:off x="1890638" y="2664954"/>
            <a:ext cx="6129250" cy="119015"/>
          </a:xfrm>
          <a:prstGeom prst="rect">
            <a:avLst/>
          </a:prstGeom>
          <a:noFill/>
          <a:ln/>
        </p:spPr>
        <p:txBody>
          <a:bodyPr wrap="none" lIns="0" tIns="0" rIns="0" bIns="0" rtlCol="0" anchor="t">
            <a:normAutofit/>
          </a:bodyPr>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SCORE &amp; RANK</a:t>
            </a:r>
            <a:endParaRPr lang="en-US" sz="800" dirty="0"/>
          </a:p>
        </p:txBody>
      </p:sp>
      <p:sp>
        <p:nvSpPr>
          <p:cNvPr id="23" name="Text 21"/>
          <p:cNvSpPr/>
          <p:nvPr/>
        </p:nvSpPr>
        <p:spPr>
          <a:xfrm>
            <a:off x="1890638" y="2811400"/>
            <a:ext cx="4674468" cy="164592"/>
          </a:xfrm>
          <a:prstGeom prst="rect">
            <a:avLst/>
          </a:prstGeom>
          <a:noFill/>
          <a:ln/>
        </p:spPr>
        <p:txBody>
          <a:bodyPr wrap="square" lIns="0" tIns="0" rIns="0" bIns="0" rtlCol="0" anchor="t"/>
          <a:lstStyle/>
          <a:p>
            <a:pPr marL="0" indent="0" algn="l">
              <a:lnSpc>
                <a:spcPts val="1055"/>
              </a:lnSpc>
              <a:buNone/>
            </a:pPr>
            <a:r>
              <a:rPr lang="en-US" sz="800" dirty="0">
                <a:solidFill>
                  <a:srgbClr val="1F1F1F"/>
                </a:solidFill>
                <a:latin typeface="Carlito" pitchFamily="34" charset="0"/>
                <a:ea typeface="Carlito" pitchFamily="34" charset="-122"/>
                <a:cs typeface="Carlito" pitchFamily="34" charset="-120"/>
              </a:rPr>
              <a:t>HNDL Exposure Score per data path (N2). Context-based reclassification (N3).</a:t>
            </a:r>
            <a:endParaRPr lang="en-US" sz="800" dirty="0"/>
          </a:p>
        </p:txBody>
      </p:sp>
      <p:sp>
        <p:nvSpPr>
          <p:cNvPr id="24" name="Text 22"/>
          <p:cNvSpPr/>
          <p:nvPr/>
        </p:nvSpPr>
        <p:spPr>
          <a:xfrm>
            <a:off x="5872656" y="2664954"/>
            <a:ext cx="2756994" cy="108299"/>
          </a:xfrm>
          <a:prstGeom prst="rect">
            <a:avLst/>
          </a:prstGeom>
          <a:noFill/>
          <a:ln/>
        </p:spPr>
        <p:txBody>
          <a:bodyPr wrap="none" lIns="0" tIns="0" rIns="0" bIns="0" rtlCol="0" anchor="t">
            <a:normAutofit/>
          </a:bodyPr>
          <a:lstStyle/>
          <a:p>
            <a:pPr marL="0" indent="0" algn="r">
              <a:lnSpc>
                <a:spcPts val="844"/>
              </a:lnSpc>
              <a:buNone/>
            </a:pPr>
            <a:r>
              <a:rPr lang="en-US" sz="800" kern="0" spc="124" dirty="0">
                <a:solidFill>
                  <a:srgbClr val="4A4A4A"/>
                </a:solidFill>
                <a:latin typeface="Carlito" pitchFamily="34" charset="0"/>
                <a:ea typeface="Carlito" pitchFamily="34" charset="-122"/>
                <a:cs typeface="Carlito" pitchFamily="34" charset="-120"/>
              </a:rPr>
              <a:t>OUTPUT</a:t>
            </a:r>
            <a:endParaRPr lang="en-US" sz="800" dirty="0"/>
          </a:p>
        </p:txBody>
      </p:sp>
      <p:sp>
        <p:nvSpPr>
          <p:cNvPr id="25" name="Text 23"/>
          <p:cNvSpPr/>
          <p:nvPr/>
        </p:nvSpPr>
        <p:spPr>
          <a:xfrm>
            <a:off x="6377454" y="2800685"/>
            <a:ext cx="2252196" cy="164592"/>
          </a:xfrm>
          <a:prstGeom prst="rect">
            <a:avLst/>
          </a:prstGeom>
          <a:noFill/>
          <a:ln/>
        </p:spPr>
        <p:txBody>
          <a:bodyPr wrap="none" lIns="0" tIns="0" rIns="0" bIns="0" rtlCol="0" anchor="t"/>
          <a:lstStyle/>
          <a:p>
            <a:pPr marL="0" indent="0" algn="r">
              <a:lnSpc>
                <a:spcPts val="970"/>
              </a:lnSpc>
              <a:buNone/>
            </a:pPr>
            <a:r>
              <a:rPr lang="en-US" sz="800" dirty="0">
                <a:solidFill>
                  <a:srgbClr val="0A0A0A"/>
                </a:solidFill>
                <a:latin typeface="Courier New" pitchFamily="34" charset="0"/>
                <a:ea typeface="Courier New" pitchFamily="34" charset="-122"/>
                <a:cs typeface="Courier New" pitchFamily="34" charset="-120"/>
              </a:rPr>
              <a:t>Ranked plan</a:t>
            </a:r>
            <a:endParaRPr lang="en-US" sz="800" dirty="0"/>
          </a:p>
        </p:txBody>
      </p:sp>
      <p:sp>
        <p:nvSpPr>
          <p:cNvPr id="26" name="Text 24"/>
          <p:cNvSpPr/>
          <p:nvPr/>
        </p:nvSpPr>
        <p:spPr>
          <a:xfrm>
            <a:off x="514350" y="3031071"/>
            <a:ext cx="8115300" cy="7144"/>
          </a:xfrm>
          <a:prstGeom prst="rect">
            <a:avLst/>
          </a:prstGeom>
          <a:solidFill>
            <a:srgbClr val="D9D9D9"/>
          </a:solidFill>
          <a:ln/>
        </p:spPr>
        <p:txBody>
          <a:bodyPr wrap="square" rtlCol="0" anchor="ctr"/>
          <a:lstStyle/>
          <a:p>
            <a:pPr marL="0" indent="0">
              <a:buNone/>
            </a:pPr>
            <a:endParaRPr lang="en-US" dirty="0"/>
          </a:p>
        </p:txBody>
      </p:sp>
      <p:sp>
        <p:nvSpPr>
          <p:cNvPr id="27" name="Text 25"/>
          <p:cNvSpPr/>
          <p:nvPr/>
        </p:nvSpPr>
        <p:spPr>
          <a:xfrm>
            <a:off x="600075" y="3123940"/>
            <a:ext cx="1836301" cy="277749"/>
          </a:xfrm>
          <a:prstGeom prst="rect">
            <a:avLst/>
          </a:prstGeom>
          <a:noFill/>
          <a:ln/>
        </p:spPr>
        <p:txBody>
          <a:bodyPr wrap="none" lIns="0" tIns="0" rIns="0" bIns="0" rtlCol="0" anchor="t"/>
          <a:lstStyle/>
          <a:p>
            <a:pPr marL="0" indent="0" algn="l">
              <a:lnSpc>
                <a:spcPts val="2025"/>
              </a:lnSpc>
              <a:buNone/>
            </a:pPr>
            <a:r>
              <a:rPr lang="en-US" sz="2025" kern="0" spc="-40" dirty="0">
                <a:solidFill>
                  <a:srgbClr val="0A0A0A"/>
                </a:solidFill>
                <a:latin typeface="Liberation Sans Narrow" pitchFamily="34" charset="0"/>
                <a:ea typeface="Liberation Sans Narrow" pitchFamily="34" charset="-122"/>
                <a:cs typeface="Liberation Sans Narrow" pitchFamily="34" charset="-120"/>
              </a:rPr>
              <a:t>04</a:t>
            </a:r>
            <a:endParaRPr lang="en-US" sz="2025" dirty="0"/>
          </a:p>
        </p:txBody>
      </p:sp>
      <p:sp>
        <p:nvSpPr>
          <p:cNvPr id="28" name="Text 26"/>
          <p:cNvSpPr/>
          <p:nvPr/>
        </p:nvSpPr>
        <p:spPr>
          <a:xfrm>
            <a:off x="1890638" y="3123940"/>
            <a:ext cx="6129250" cy="119015"/>
          </a:xfrm>
          <a:prstGeom prst="rect">
            <a:avLst/>
          </a:prstGeom>
          <a:noFill/>
          <a:ln/>
        </p:spPr>
        <p:txBody>
          <a:bodyPr wrap="none" lIns="0" tIns="0" rIns="0" bIns="0" rtlCol="0" anchor="t">
            <a:normAutofit/>
          </a:bodyPr>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PATCH &amp; VERIFY</a:t>
            </a:r>
            <a:endParaRPr lang="en-US" sz="800" dirty="0"/>
          </a:p>
        </p:txBody>
      </p:sp>
      <p:sp>
        <p:nvSpPr>
          <p:cNvPr id="29" name="Text 27"/>
          <p:cNvSpPr/>
          <p:nvPr/>
        </p:nvSpPr>
        <p:spPr>
          <a:xfrm>
            <a:off x="1890638" y="3270386"/>
            <a:ext cx="4674468" cy="164592"/>
          </a:xfrm>
          <a:prstGeom prst="rect">
            <a:avLst/>
          </a:prstGeom>
          <a:noFill/>
          <a:ln/>
        </p:spPr>
        <p:txBody>
          <a:bodyPr wrap="square" lIns="0" tIns="0" rIns="0" bIns="0" rtlCol="0" anchor="t"/>
          <a:lstStyle/>
          <a:p>
            <a:pPr marL="0" indent="0" algn="l">
              <a:lnSpc>
                <a:spcPts val="1055"/>
              </a:lnSpc>
              <a:buNone/>
            </a:pPr>
            <a:r>
              <a:rPr lang="en-US" sz="800" dirty="0">
                <a:solidFill>
                  <a:srgbClr val="1F1F1F"/>
                </a:solidFill>
                <a:latin typeface="Carlito" pitchFamily="34" charset="0"/>
                <a:ea typeface="Carlito" pitchFamily="34" charset="-122"/>
                <a:cs typeface="Carlito" pitchFamily="34" charset="-120"/>
              </a:rPr>
              <a:t>liboqs hybrid X25519+ML-KEM · differential testing (N4).</a:t>
            </a:r>
            <a:endParaRPr lang="en-US" sz="800" dirty="0"/>
          </a:p>
        </p:txBody>
      </p:sp>
      <p:sp>
        <p:nvSpPr>
          <p:cNvPr id="30" name="Text 28"/>
          <p:cNvSpPr/>
          <p:nvPr/>
        </p:nvSpPr>
        <p:spPr>
          <a:xfrm>
            <a:off x="5872656" y="3123940"/>
            <a:ext cx="2756994" cy="108299"/>
          </a:xfrm>
          <a:prstGeom prst="rect">
            <a:avLst/>
          </a:prstGeom>
          <a:noFill/>
          <a:ln/>
        </p:spPr>
        <p:txBody>
          <a:bodyPr wrap="none" lIns="0" tIns="0" rIns="0" bIns="0" rtlCol="0" anchor="t">
            <a:normAutofit/>
          </a:bodyPr>
          <a:lstStyle/>
          <a:p>
            <a:pPr marL="0" indent="0" algn="r">
              <a:lnSpc>
                <a:spcPts val="844"/>
              </a:lnSpc>
              <a:buNone/>
            </a:pPr>
            <a:r>
              <a:rPr lang="en-US" sz="800" kern="0" spc="124" dirty="0">
                <a:solidFill>
                  <a:srgbClr val="4A4A4A"/>
                </a:solidFill>
                <a:latin typeface="Carlito" pitchFamily="34" charset="0"/>
                <a:ea typeface="Carlito" pitchFamily="34" charset="-122"/>
                <a:cs typeface="Carlito" pitchFamily="34" charset="-120"/>
              </a:rPr>
              <a:t>OUTPUT</a:t>
            </a:r>
            <a:endParaRPr lang="en-US" sz="800" dirty="0"/>
          </a:p>
        </p:txBody>
      </p:sp>
      <p:sp>
        <p:nvSpPr>
          <p:cNvPr id="31" name="Text 29"/>
          <p:cNvSpPr/>
          <p:nvPr/>
        </p:nvSpPr>
        <p:spPr>
          <a:xfrm>
            <a:off x="6377454" y="3259671"/>
            <a:ext cx="2252196" cy="164592"/>
          </a:xfrm>
          <a:prstGeom prst="rect">
            <a:avLst/>
          </a:prstGeom>
          <a:noFill/>
          <a:ln/>
        </p:spPr>
        <p:txBody>
          <a:bodyPr wrap="none" lIns="0" tIns="0" rIns="0" bIns="0" rtlCol="0" anchor="t"/>
          <a:lstStyle/>
          <a:p>
            <a:pPr marL="0" indent="0" algn="r">
              <a:lnSpc>
                <a:spcPts val="970"/>
              </a:lnSpc>
              <a:buNone/>
            </a:pPr>
            <a:r>
              <a:rPr lang="en-US" sz="800" dirty="0">
                <a:solidFill>
                  <a:srgbClr val="0A0A0A"/>
                </a:solidFill>
                <a:latin typeface="Courier New" pitchFamily="34" charset="0"/>
                <a:ea typeface="Courier New" pitchFamily="34" charset="-122"/>
                <a:cs typeface="Courier New" pitchFamily="34" charset="-120"/>
              </a:rPr>
              <a:t>Verified PRs</a:t>
            </a:r>
            <a:endParaRPr lang="en-US" sz="800" dirty="0"/>
          </a:p>
        </p:txBody>
      </p:sp>
      <p:sp>
        <p:nvSpPr>
          <p:cNvPr id="32" name="Text 30"/>
          <p:cNvSpPr/>
          <p:nvPr/>
        </p:nvSpPr>
        <p:spPr>
          <a:xfrm>
            <a:off x="514350" y="3490057"/>
            <a:ext cx="8115300" cy="7144"/>
          </a:xfrm>
          <a:prstGeom prst="rect">
            <a:avLst/>
          </a:prstGeom>
          <a:solidFill>
            <a:srgbClr val="D9D9D9"/>
          </a:solidFill>
          <a:ln/>
        </p:spPr>
        <p:txBody>
          <a:bodyPr wrap="square" rtlCol="0" anchor="ctr"/>
          <a:lstStyle/>
          <a:p>
            <a:pPr marL="0" indent="0">
              <a:buNone/>
            </a:pPr>
            <a:endParaRPr lang="en-US" dirty="0"/>
          </a:p>
        </p:txBody>
      </p:sp>
      <p:sp>
        <p:nvSpPr>
          <p:cNvPr id="33" name="Text 31"/>
          <p:cNvSpPr/>
          <p:nvPr/>
        </p:nvSpPr>
        <p:spPr>
          <a:xfrm>
            <a:off x="800100" y="3595874"/>
            <a:ext cx="575548" cy="164592"/>
          </a:xfrm>
          <a:prstGeom prst="rect">
            <a:avLst/>
          </a:prstGeom>
          <a:noFill/>
          <a:ln/>
        </p:spPr>
        <p:txBody>
          <a:bodyPr wrap="none" lIns="0" tIns="0" rIns="0" bIns="0" rtlCol="0" anchor="t"/>
          <a:lstStyle/>
          <a:p>
            <a:pPr marL="0" indent="0" algn="l">
              <a:lnSpc>
                <a:spcPts val="886"/>
              </a:lnSpc>
              <a:buNone/>
            </a:pPr>
            <a:r>
              <a:rPr lang="en-US" sz="800" kern="0" spc="130" dirty="0">
                <a:solidFill>
                  <a:srgbClr val="4A4A4A"/>
                </a:solidFill>
                <a:latin typeface="Carlito" pitchFamily="34" charset="0"/>
                <a:ea typeface="Carlito" pitchFamily="34" charset="-122"/>
                <a:cs typeface="Carlito" pitchFamily="34" charset="-120"/>
              </a:rPr>
              <a:t>OUTPUT</a:t>
            </a:r>
            <a:endParaRPr lang="en-US" sz="800" dirty="0"/>
          </a:p>
        </p:txBody>
      </p:sp>
      <p:sp>
        <p:nvSpPr>
          <p:cNvPr id="34" name="Text 32"/>
          <p:cNvSpPr/>
          <p:nvPr/>
        </p:nvSpPr>
        <p:spPr>
          <a:xfrm>
            <a:off x="1247254" y="3582925"/>
            <a:ext cx="7382396" cy="170078"/>
          </a:xfrm>
          <a:prstGeom prst="rect">
            <a:avLst/>
          </a:prstGeom>
          <a:noFill/>
          <a:ln/>
        </p:spPr>
        <p:txBody>
          <a:bodyPr wrap="none" lIns="0" tIns="0" rIns="0" bIns="0" rtlCol="0" anchor="t"/>
          <a:lstStyle/>
          <a:p>
            <a:pPr marL="0" indent="0" algn="l">
              <a:lnSpc>
                <a:spcPts val="1090"/>
              </a:lnSpc>
              <a:buNone/>
            </a:pPr>
            <a:r>
              <a:rPr lang="en-US" sz="800" dirty="0">
                <a:solidFill>
                  <a:srgbClr val="1F1F1F"/>
                </a:solidFill>
                <a:latin typeface="Carlito" pitchFamily="34" charset="0"/>
                <a:ea typeface="Carlito" pitchFamily="34" charset="-122"/>
                <a:cs typeface="Carlito" pitchFamily="34" charset="-120"/>
              </a:rPr>
              <a:t>enriched CBOM · ranked migration plan · verified pull requests</a:t>
            </a:r>
            <a:endParaRPr lang="en-US" sz="800" dirty="0"/>
          </a:p>
        </p:txBody>
      </p:sp>
      <p:sp>
        <p:nvSpPr>
          <p:cNvPr id="35" name="Shape 33"/>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36" name="Text 34"/>
          <p:cNvSpPr/>
          <p:nvPr/>
        </p:nvSpPr>
        <p:spPr>
          <a:xfrm>
            <a:off x="1463040" y="4846320"/>
            <a:ext cx="7132320" cy="137160"/>
          </a:xfrm>
          <a:prstGeom prst="rect">
            <a:avLst/>
          </a:prstGeom>
          <a:noFill/>
          <a:ln/>
        </p:spPr>
        <p:txBody>
          <a:bodyPr wrap="non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07 — METHODOLOGY</a:t>
            </a:r>
            <a:endParaRPr lang="en-US" sz="800" dirty="0"/>
          </a:p>
        </p:txBody>
      </p:sp>
      <p:sp>
        <p:nvSpPr>
          <p:cNvPr id="37" name="Text 35"/>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32 / 39</a:t>
            </a:r>
            <a:endParaRPr lang="en-US" sz="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6750174"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7278812" y="400050"/>
            <a:ext cx="1350838" cy="117872"/>
          </a:xfrm>
          <a:prstGeom prst="rect">
            <a:avLst/>
          </a:prstGeom>
          <a:noFill/>
          <a:ln/>
        </p:spPr>
        <p:txBody>
          <a:bodyPr wrap="none" lIns="0" tIns="0" rIns="0" bIns="0" rtlCol="0" anchor="t"/>
          <a:lstStyle/>
          <a:p>
            <a:pPr marL="0" indent="0" algn="l">
              <a:lnSpc>
                <a:spcPts val="928"/>
              </a:lnSpc>
              <a:buNone/>
            </a:pPr>
            <a:r>
              <a:rPr lang="en-US" sz="619" kern="0" spc="99" dirty="0">
                <a:solidFill>
                  <a:srgbClr val="4A4A4A"/>
                </a:solidFill>
                <a:latin typeface="Liberation Sans Narrow" pitchFamily="34" charset="0"/>
                <a:ea typeface="Liberation Sans Narrow" pitchFamily="34" charset="-122"/>
                <a:cs typeface="Liberation Sans Narrow" pitchFamily="34" charset="-120"/>
              </a:rPr>
              <a:t>REVIEW REPORT I — PAGE 33</a:t>
            </a:r>
            <a:endParaRPr lang="en-US" sz="619" dirty="0"/>
          </a:p>
        </p:txBody>
      </p:sp>
      <p:sp>
        <p:nvSpPr>
          <p:cNvPr id="5" name="Text 3"/>
          <p:cNvSpPr/>
          <p:nvPr/>
        </p:nvSpPr>
        <p:spPr>
          <a:xfrm>
            <a:off x="514350" y="796528"/>
            <a:ext cx="8629650" cy="164592"/>
          </a:xfrm>
          <a:prstGeom prst="rect">
            <a:avLst/>
          </a:prstGeom>
          <a:noFill/>
          <a:ln/>
        </p:spPr>
        <p:txBody>
          <a:bodyPr wrap="none" lIns="0" tIns="0" rIns="0" bIns="0" rtlCol="0" anchor="t"/>
          <a:lstStyle/>
          <a:p>
            <a:pPr marL="0" indent="0" algn="l">
              <a:lnSpc>
                <a:spcPts val="928"/>
              </a:lnSpc>
              <a:buNone/>
            </a:pPr>
            <a:r>
              <a:rPr lang="en-US" sz="800" kern="0" spc="136" dirty="0">
                <a:solidFill>
                  <a:srgbClr val="4A4A4A"/>
                </a:solidFill>
                <a:latin typeface="Liberation Sans Narrow" pitchFamily="34" charset="0"/>
                <a:ea typeface="Liberation Sans Narrow" pitchFamily="34" charset="-122"/>
                <a:cs typeface="Liberation Sans Narrow" pitchFamily="34" charset="-120"/>
              </a:rPr>
              <a:t>7.2 STAGE 1 — DISCOVERY</a:t>
            </a:r>
            <a:endParaRPr lang="en-US" sz="800" dirty="0"/>
          </a:p>
        </p:txBody>
      </p:sp>
      <p:sp>
        <p:nvSpPr>
          <p:cNvPr id="6" name="Text 4"/>
          <p:cNvSpPr/>
          <p:nvPr/>
        </p:nvSpPr>
        <p:spPr>
          <a:xfrm>
            <a:off x="514350" y="1000125"/>
            <a:ext cx="8251031" cy="345619"/>
          </a:xfrm>
          <a:prstGeom prst="rect">
            <a:avLst/>
          </a:prstGeom>
          <a:noFill/>
          <a:ln/>
        </p:spPr>
        <p:txBody>
          <a:bodyPr wrap="non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Parse. Match. Export.</a:t>
            </a:r>
            <a:endParaRPr lang="en-US" sz="2250" dirty="0"/>
          </a:p>
        </p:txBody>
      </p:sp>
      <p:sp>
        <p:nvSpPr>
          <p:cNvPr id="7" name="Text 5"/>
          <p:cNvSpPr/>
          <p:nvPr/>
        </p:nvSpPr>
        <p:spPr>
          <a:xfrm>
            <a:off x="514350" y="1434443"/>
            <a:ext cx="8115300" cy="7144"/>
          </a:xfrm>
          <a:prstGeom prst="rect">
            <a:avLst/>
          </a:prstGeom>
          <a:solidFill>
            <a:srgbClr val="D9D9D9"/>
          </a:solidFill>
          <a:ln/>
        </p:spPr>
        <p:txBody>
          <a:bodyPr wrap="square" rtlCol="0" anchor="ctr"/>
          <a:lstStyle/>
          <a:p>
            <a:pPr marL="0" indent="0">
              <a:buNone/>
            </a:pPr>
            <a:endParaRPr lang="en-US" dirty="0"/>
          </a:p>
        </p:txBody>
      </p:sp>
      <p:sp>
        <p:nvSpPr>
          <p:cNvPr id="8" name="Shape 6"/>
          <p:cNvSpPr/>
          <p:nvPr/>
        </p:nvSpPr>
        <p:spPr>
          <a:xfrm>
            <a:off x="4568428" y="1641611"/>
            <a:ext cx="0" cy="2703575"/>
          </a:xfrm>
          <a:prstGeom prst="line">
            <a:avLst/>
          </a:prstGeom>
          <a:noFill/>
          <a:ln w="7144">
            <a:solidFill>
              <a:srgbClr val="D1D5DB"/>
            </a:solidFill>
            <a:prstDash val="solid"/>
          </a:ln>
        </p:spPr>
        <p:txBody>
          <a:bodyPr/>
          <a:lstStyle/>
          <a:p>
            <a:endParaRPr lang="en-US"/>
          </a:p>
        </p:txBody>
      </p:sp>
      <p:sp>
        <p:nvSpPr>
          <p:cNvPr id="9" name="Text 7"/>
          <p:cNvSpPr/>
          <p:nvPr/>
        </p:nvSpPr>
        <p:spPr>
          <a:xfrm>
            <a:off x="514350" y="1641611"/>
            <a:ext cx="3821906"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WHAT IT DOES</a:t>
            </a:r>
            <a:endParaRPr lang="en-US" sz="800" dirty="0"/>
          </a:p>
        </p:txBody>
      </p:sp>
      <p:sp>
        <p:nvSpPr>
          <p:cNvPr id="10" name="Text 8"/>
          <p:cNvSpPr/>
          <p:nvPr/>
        </p:nvSpPr>
        <p:spPr>
          <a:xfrm>
            <a:off x="514350" y="1873783"/>
            <a:ext cx="3821906" cy="261890"/>
          </a:xfrm>
          <a:prstGeom prst="rect">
            <a:avLst/>
          </a:prstGeom>
          <a:noFill/>
          <a:ln/>
        </p:spPr>
        <p:txBody>
          <a:bodyPr wrap="square" lIns="0" tIns="71438" rIns="0" bIns="71438" rtlCol="0" anchor="t">
            <a:noAutofit/>
          </a:bodyPr>
          <a:lstStyle/>
          <a:p>
            <a:pPr marL="0" indent="0" algn="l">
              <a:lnSpc>
                <a:spcPts val="1097"/>
              </a:lnSpc>
              <a:buNone/>
            </a:pPr>
            <a:r>
              <a:rPr lang="en-US" sz="1000" dirty="0">
                <a:solidFill>
                  <a:srgbClr val="1F1F1F"/>
                </a:solidFill>
                <a:latin typeface="Carlito" pitchFamily="34" charset="0"/>
                <a:ea typeface="Carlito" pitchFamily="34" charset="-122"/>
                <a:cs typeface="Carlito" pitchFamily="34" charset="-120"/>
              </a:rPr>
              <a:t>Per-language tree-sitter grammars produce ASTs.</a:t>
            </a:r>
            <a:endParaRPr lang="en-US" sz="1000" dirty="0"/>
          </a:p>
        </p:txBody>
      </p:sp>
      <p:sp>
        <p:nvSpPr>
          <p:cNvPr id="11" name="Text 9"/>
          <p:cNvSpPr/>
          <p:nvPr/>
        </p:nvSpPr>
        <p:spPr>
          <a:xfrm>
            <a:off x="514350" y="2155961"/>
            <a:ext cx="3821906" cy="7144"/>
          </a:xfrm>
          <a:prstGeom prst="rect">
            <a:avLst/>
          </a:prstGeom>
          <a:solidFill>
            <a:srgbClr val="D9D9D9"/>
          </a:solidFill>
          <a:ln/>
        </p:spPr>
        <p:txBody>
          <a:bodyPr wrap="square" rtlCol="0" anchor="ctr"/>
          <a:lstStyle/>
          <a:p>
            <a:pPr marL="0" indent="0">
              <a:buNone/>
            </a:pPr>
            <a:endParaRPr lang="en-US" dirty="0"/>
          </a:p>
        </p:txBody>
      </p:sp>
      <p:sp>
        <p:nvSpPr>
          <p:cNvPr id="12" name="Text 10"/>
          <p:cNvSpPr/>
          <p:nvPr/>
        </p:nvSpPr>
        <p:spPr>
          <a:xfrm>
            <a:off x="514350" y="2163105"/>
            <a:ext cx="3821906" cy="261890"/>
          </a:xfrm>
          <a:prstGeom prst="rect">
            <a:avLst/>
          </a:prstGeom>
          <a:noFill/>
          <a:ln/>
        </p:spPr>
        <p:txBody>
          <a:bodyPr wrap="square" lIns="0" tIns="71438" rIns="0" bIns="71438" rtlCol="0" anchor="t">
            <a:noAutofit/>
          </a:bodyPr>
          <a:lstStyle/>
          <a:p>
            <a:pPr marL="0" indent="0" algn="l">
              <a:lnSpc>
                <a:spcPts val="1097"/>
              </a:lnSpc>
              <a:buNone/>
            </a:pPr>
            <a:r>
              <a:rPr lang="en-US" sz="1000" dirty="0">
                <a:solidFill>
                  <a:srgbClr val="1F1F1F"/>
                </a:solidFill>
                <a:latin typeface="Carlito" pitchFamily="34" charset="0"/>
                <a:ea typeface="Carlito" pitchFamily="34" charset="-122"/>
                <a:cs typeface="Carlito" pitchFamily="34" charset="-120"/>
              </a:rPr>
              <a:t>Rule corpus extends open Semgrep and Crypistry-style rules, with attribution.</a:t>
            </a:r>
            <a:endParaRPr lang="en-US" sz="1000" dirty="0"/>
          </a:p>
        </p:txBody>
      </p:sp>
      <p:sp>
        <p:nvSpPr>
          <p:cNvPr id="13" name="Text 11"/>
          <p:cNvSpPr/>
          <p:nvPr/>
        </p:nvSpPr>
        <p:spPr>
          <a:xfrm>
            <a:off x="514350" y="2578929"/>
            <a:ext cx="3821906" cy="7144"/>
          </a:xfrm>
          <a:prstGeom prst="rect">
            <a:avLst/>
          </a:prstGeom>
          <a:solidFill>
            <a:srgbClr val="D9D9D9"/>
          </a:solidFill>
          <a:ln/>
        </p:spPr>
        <p:txBody>
          <a:bodyPr wrap="square" rtlCol="0" anchor="ctr"/>
          <a:lstStyle/>
          <a:p>
            <a:pPr marL="0" indent="0">
              <a:buNone/>
            </a:pPr>
            <a:endParaRPr lang="en-US" dirty="0"/>
          </a:p>
        </p:txBody>
      </p:sp>
      <p:sp>
        <p:nvSpPr>
          <p:cNvPr id="14" name="Text 12"/>
          <p:cNvSpPr/>
          <p:nvPr/>
        </p:nvSpPr>
        <p:spPr>
          <a:xfrm>
            <a:off x="514350" y="2586073"/>
            <a:ext cx="3821906" cy="261890"/>
          </a:xfrm>
          <a:prstGeom prst="rect">
            <a:avLst/>
          </a:prstGeom>
          <a:noFill/>
          <a:ln/>
        </p:spPr>
        <p:txBody>
          <a:bodyPr wrap="square" lIns="0" tIns="71438" rIns="0" bIns="71438" rtlCol="0" anchor="t">
            <a:noAutofit/>
          </a:bodyPr>
          <a:lstStyle/>
          <a:p>
            <a:pPr marL="0" indent="0" algn="l">
              <a:lnSpc>
                <a:spcPts val="1097"/>
              </a:lnSpc>
              <a:buNone/>
            </a:pPr>
            <a:r>
              <a:rPr lang="en-US" sz="1000" dirty="0">
                <a:solidFill>
                  <a:srgbClr val="1F1F1F"/>
                </a:solidFill>
                <a:latin typeface="Carlito" pitchFamily="34" charset="0"/>
                <a:ea typeface="Carlito" pitchFamily="34" charset="-122"/>
                <a:cs typeface="Carlito" pitchFamily="34" charset="-120"/>
              </a:rPr>
              <a:t>Identifies cryptographic material, artefacts, and invocations.</a:t>
            </a:r>
            <a:endParaRPr lang="en-US" sz="1000" dirty="0"/>
          </a:p>
        </p:txBody>
      </p:sp>
      <p:sp>
        <p:nvSpPr>
          <p:cNvPr id="15" name="Text 13"/>
          <p:cNvSpPr/>
          <p:nvPr/>
        </p:nvSpPr>
        <p:spPr>
          <a:xfrm>
            <a:off x="514350" y="2917488"/>
            <a:ext cx="3821906" cy="7144"/>
          </a:xfrm>
          <a:prstGeom prst="rect">
            <a:avLst/>
          </a:prstGeom>
          <a:solidFill>
            <a:srgbClr val="D9D9D9"/>
          </a:solidFill>
          <a:ln/>
        </p:spPr>
        <p:txBody>
          <a:bodyPr wrap="square" rtlCol="0" anchor="ctr"/>
          <a:lstStyle/>
          <a:p>
            <a:pPr marL="0" indent="0">
              <a:buNone/>
            </a:pPr>
            <a:endParaRPr lang="en-US" dirty="0"/>
          </a:p>
        </p:txBody>
      </p:sp>
      <p:sp>
        <p:nvSpPr>
          <p:cNvPr id="16" name="Text 14"/>
          <p:cNvSpPr/>
          <p:nvPr/>
        </p:nvSpPr>
        <p:spPr>
          <a:xfrm>
            <a:off x="514350" y="2923629"/>
            <a:ext cx="3821906" cy="333404"/>
          </a:xfrm>
          <a:prstGeom prst="rect">
            <a:avLst/>
          </a:prstGeom>
          <a:noFill/>
          <a:ln/>
        </p:spPr>
        <p:txBody>
          <a:bodyPr wrap="square" lIns="0" tIns="71438" rIns="0" bIns="71438" rtlCol="0" anchor="t"/>
          <a:lstStyle/>
          <a:p>
            <a:pPr marL="0" indent="0" algn="l">
              <a:lnSpc>
                <a:spcPts val="1097"/>
              </a:lnSpc>
              <a:buNone/>
            </a:pPr>
            <a:r>
              <a:rPr lang="en-US" sz="800" dirty="0">
                <a:solidFill>
                  <a:srgbClr val="1F1F1F"/>
                </a:solidFill>
                <a:latin typeface="Carlito" pitchFamily="34" charset="0"/>
                <a:ea typeface="Carlito" pitchFamily="34" charset="-122"/>
                <a:cs typeface="Carlito" pitchFamily="34" charset="-120"/>
              </a:rPr>
              <a:t>Output conforms to the CycloneDX 1.6 CBOM object model [P6].</a:t>
            </a:r>
            <a:endParaRPr lang="en-US" sz="800" dirty="0"/>
          </a:p>
        </p:txBody>
      </p:sp>
      <p:sp>
        <p:nvSpPr>
          <p:cNvPr id="17" name="Text 15"/>
          <p:cNvSpPr/>
          <p:nvPr/>
        </p:nvSpPr>
        <p:spPr>
          <a:xfrm>
            <a:off x="514350" y="3277147"/>
            <a:ext cx="3821906" cy="7144"/>
          </a:xfrm>
          <a:prstGeom prst="rect">
            <a:avLst/>
          </a:prstGeom>
          <a:solidFill>
            <a:srgbClr val="D9D9D9"/>
          </a:solidFill>
          <a:ln/>
        </p:spPr>
        <p:txBody>
          <a:bodyPr wrap="square" rtlCol="0" anchor="ctr"/>
          <a:lstStyle/>
          <a:p>
            <a:pPr marL="0" indent="0">
              <a:buNone/>
            </a:pPr>
            <a:endParaRPr lang="en-US" dirty="0"/>
          </a:p>
        </p:txBody>
      </p:sp>
      <p:sp>
        <p:nvSpPr>
          <p:cNvPr id="18" name="Text 16"/>
          <p:cNvSpPr/>
          <p:nvPr/>
        </p:nvSpPr>
        <p:spPr>
          <a:xfrm>
            <a:off x="4800600" y="1641611"/>
            <a:ext cx="4343400"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TECHNICAL ADDRESSES</a:t>
            </a:r>
            <a:endParaRPr lang="en-US" sz="800" dirty="0"/>
          </a:p>
        </p:txBody>
      </p:sp>
      <p:sp>
        <p:nvSpPr>
          <p:cNvPr id="19" name="Text 17"/>
          <p:cNvSpPr/>
          <p:nvPr/>
        </p:nvSpPr>
        <p:spPr>
          <a:xfrm>
            <a:off x="4800600" y="1873783"/>
            <a:ext cx="3829050" cy="710594"/>
          </a:xfrm>
          <a:prstGeom prst="rect">
            <a:avLst/>
          </a:prstGeom>
          <a:noFill/>
          <a:ln/>
        </p:spPr>
        <p:txBody>
          <a:bodyPr wrap="square" lIns="0" tIns="0" rIns="0" bIns="0" rtlCol="0" anchor="t"/>
          <a:lstStyle/>
          <a:p>
            <a:pPr marL="0" indent="0" algn="l">
              <a:lnSpc>
                <a:spcPts val="1185"/>
              </a:lnSpc>
              <a:buNone/>
            </a:pPr>
            <a:r>
              <a:rPr lang="en-US" sz="800" dirty="0">
                <a:solidFill>
                  <a:srgbClr val="1F1F1F"/>
                </a:solidFill>
                <a:latin typeface="Carlito" pitchFamily="34" charset="0"/>
                <a:ea typeface="Carlito" pitchFamily="34" charset="-122"/>
                <a:cs typeface="Carlito" pitchFamily="34" charset="-120"/>
              </a:rPr>
              <a:t>Constant propagation and local type inference resolve algorithm identifiers passed as variables — directly targeting P1's stated inability to “resolve arguments computed at runtime.” This is the layer that consumes the prior art (Crysy's rules) and emits the artefact that downstream stages enrich.</a:t>
            </a:r>
            <a:endParaRPr lang="en-US" sz="800" dirty="0"/>
          </a:p>
        </p:txBody>
      </p:sp>
      <p:sp>
        <p:nvSpPr>
          <p:cNvPr id="20" name="Text 18"/>
          <p:cNvSpPr/>
          <p:nvPr/>
        </p:nvSpPr>
        <p:spPr>
          <a:xfrm>
            <a:off x="514350" y="4516636"/>
            <a:ext cx="8115300" cy="7144"/>
          </a:xfrm>
          <a:prstGeom prst="rect">
            <a:avLst/>
          </a:prstGeom>
          <a:solidFill>
            <a:srgbClr val="D9D9D9"/>
          </a:solidFill>
          <a:ln/>
        </p:spPr>
        <p:txBody>
          <a:bodyPr wrap="square" rtlCol="0" anchor="ctr"/>
          <a:lstStyle/>
          <a:p>
            <a:pPr marL="0" indent="0">
              <a:buNone/>
            </a:pPr>
            <a:endParaRPr lang="en-US" dirty="0"/>
          </a:p>
        </p:txBody>
      </p:sp>
      <p:sp>
        <p:nvSpPr>
          <p:cNvPr id="21" name="Text 19"/>
          <p:cNvSpPr/>
          <p:nvPr/>
        </p:nvSpPr>
        <p:spPr>
          <a:xfrm>
            <a:off x="514350" y="4609505"/>
            <a:ext cx="8115300" cy="101156"/>
          </a:xfrm>
          <a:prstGeom prst="rect">
            <a:avLst/>
          </a:prstGeom>
          <a:noFill/>
          <a:ln/>
        </p:spPr>
        <p:txBody>
          <a:bodyPr wrap="square" lIns="0" tIns="0" rIns="0" bIns="0" rtlCol="0" anchor="t">
            <a:normAutofit fontScale="25000" lnSpcReduction="20000"/>
          </a:bodyPr>
          <a:lstStyle/>
          <a:p>
            <a:pPr marL="0" indent="0" algn="l">
              <a:lnSpc>
                <a:spcPts val="1055"/>
              </a:lnSpc>
              <a:buNone/>
            </a:pPr>
            <a:r>
              <a:rPr lang="en-US" sz="800" dirty="0">
                <a:solidFill>
                  <a:srgbClr val="0A0A0A"/>
                </a:solidFill>
                <a:latin typeface="Carlito" pitchFamily="34" charset="0"/>
                <a:ea typeface="Carlito" pitchFamily="34" charset="-122"/>
                <a:cs typeface="Carlito" pitchFamily="34" charset="-120"/>
              </a:rPr>
              <a:t>Languages:</a:t>
            </a:r>
            <a:r>
              <a:rPr lang="en-US" sz="800" dirty="0">
                <a:solidFill>
                  <a:srgbClr val="4A4A4A"/>
                </a:solidFill>
                <a:latin typeface="Carlito" pitchFamily="34" charset="0"/>
                <a:ea typeface="Carlito" pitchFamily="34" charset="-122"/>
                <a:cs typeface="Carlito" pitchFamily="34" charset="-120"/>
              </a:rPr>
              <a:t> Python and Java primary; Go stretch target.</a:t>
            </a:r>
            <a:endParaRPr lang="en-US" sz="800" dirty="0"/>
          </a:p>
        </p:txBody>
      </p:sp>
      <p:sp>
        <p:nvSpPr>
          <p:cNvPr id="22" name="Shape 20"/>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23" name="Text 21"/>
          <p:cNvSpPr/>
          <p:nvPr/>
        </p:nvSpPr>
        <p:spPr>
          <a:xfrm>
            <a:off x="1463040" y="4846320"/>
            <a:ext cx="7132320" cy="137160"/>
          </a:xfrm>
          <a:prstGeom prst="rect">
            <a:avLst/>
          </a:prstGeom>
          <a:noFill/>
          <a:ln/>
        </p:spPr>
        <p:txBody>
          <a:bodyPr wrap="non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07 — METHODOLOGY</a:t>
            </a:r>
            <a:endParaRPr lang="en-US" sz="800" dirty="0"/>
          </a:p>
        </p:txBody>
      </p:sp>
      <p:sp>
        <p:nvSpPr>
          <p:cNvPr id="24" name="Text 22"/>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33 / 39</a:t>
            </a:r>
            <a:endParaRPr lang="en-US" sz="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7303145"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7831782" y="400050"/>
            <a:ext cx="797868" cy="117872"/>
          </a:xfrm>
          <a:prstGeom prst="rect">
            <a:avLst/>
          </a:prstGeom>
          <a:noFill/>
          <a:ln/>
        </p:spPr>
        <p:txBody>
          <a:bodyPr wrap="none" lIns="0" tIns="0" rIns="0" bIns="0" rtlCol="0" anchor="t"/>
          <a:lstStyle/>
          <a:p>
            <a:pPr marL="0" indent="0" algn="l">
              <a:lnSpc>
                <a:spcPts val="928"/>
              </a:lnSpc>
              <a:buNone/>
            </a:pPr>
            <a:r>
              <a:rPr lang="en-US" sz="619" kern="0" spc="99" dirty="0">
                <a:solidFill>
                  <a:srgbClr val="4A4A4A"/>
                </a:solidFill>
                <a:latin typeface="Carlito" pitchFamily="34" charset="0"/>
                <a:ea typeface="Carlito" pitchFamily="34" charset="-122"/>
                <a:cs typeface="Carlito" pitchFamily="34" charset="-120"/>
              </a:rPr>
              <a:t>REVIEW REPORT I</a:t>
            </a:r>
            <a:endParaRPr lang="en-US" sz="619" dirty="0"/>
          </a:p>
        </p:txBody>
      </p:sp>
      <p:sp>
        <p:nvSpPr>
          <p:cNvPr id="5" name="Text 3"/>
          <p:cNvSpPr/>
          <p:nvPr/>
        </p:nvSpPr>
        <p:spPr>
          <a:xfrm>
            <a:off x="514350" y="796528"/>
            <a:ext cx="8629650" cy="147590"/>
          </a:xfrm>
          <a:prstGeom prst="rect">
            <a:avLst/>
          </a:prstGeom>
          <a:noFill/>
          <a:ln/>
        </p:spPr>
        <p:txBody>
          <a:bodyPr wrap="square" lIns="0" tIns="0" rIns="0" bIns="0" rtlCol="0" anchor="t">
            <a:normAutofit/>
          </a:bodyPr>
          <a:lstStyle/>
          <a:p>
            <a:pPr marL="0" indent="0" algn="l">
              <a:lnSpc>
                <a:spcPts val="928"/>
              </a:lnSpc>
              <a:buNone/>
            </a:pPr>
            <a:r>
              <a:rPr lang="en-US" sz="800" kern="0" spc="136" dirty="0">
                <a:solidFill>
                  <a:srgbClr val="4A4A4A"/>
                </a:solidFill>
                <a:latin typeface="Carlito" pitchFamily="34" charset="0"/>
                <a:ea typeface="Carlito" pitchFamily="34" charset="-122"/>
                <a:cs typeface="Carlito" pitchFamily="34" charset="-120"/>
              </a:rPr>
              <a:t>7.3 STAGE 2 — SEMANTIC BINDING (THE CONTRIBUTION)</a:t>
            </a:r>
            <a:endParaRPr lang="en-US" sz="800" dirty="0"/>
          </a:p>
        </p:txBody>
      </p:sp>
      <p:sp>
        <p:nvSpPr>
          <p:cNvPr id="6" name="Text 4"/>
          <p:cNvSpPr/>
          <p:nvPr/>
        </p:nvSpPr>
        <p:spPr>
          <a:xfrm>
            <a:off x="514350" y="971550"/>
            <a:ext cx="8629650" cy="345619"/>
          </a:xfrm>
          <a:prstGeom prst="rect">
            <a:avLst/>
          </a:prstGeom>
          <a:noFill/>
          <a:ln/>
        </p:spPr>
        <p:txBody>
          <a:bodyPr wrap="squar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Backward. Forward. Retention. Exposure.</a:t>
            </a:r>
            <a:endParaRPr lang="en-US" sz="2250" dirty="0"/>
          </a:p>
        </p:txBody>
      </p:sp>
      <p:sp>
        <p:nvSpPr>
          <p:cNvPr id="7" name="Text 5"/>
          <p:cNvSpPr/>
          <p:nvPr/>
        </p:nvSpPr>
        <p:spPr>
          <a:xfrm>
            <a:off x="514350" y="1405868"/>
            <a:ext cx="400050" cy="28575"/>
          </a:xfrm>
          <a:prstGeom prst="rect">
            <a:avLst/>
          </a:prstGeom>
          <a:solidFill>
            <a:srgbClr val="0A0A0A"/>
          </a:solidFill>
          <a:ln/>
        </p:spPr>
        <p:txBody>
          <a:bodyPr wrap="square" rtlCol="0" anchor="ctr"/>
          <a:lstStyle/>
          <a:p>
            <a:pPr marL="0" indent="0">
              <a:buNone/>
            </a:pPr>
            <a:endParaRPr lang="en-US" dirty="0"/>
          </a:p>
        </p:txBody>
      </p:sp>
      <p:sp>
        <p:nvSpPr>
          <p:cNvPr id="8" name="Text 6"/>
          <p:cNvSpPr/>
          <p:nvPr/>
        </p:nvSpPr>
        <p:spPr>
          <a:xfrm>
            <a:off x="517922" y="1580890"/>
            <a:ext cx="3993356" cy="930473"/>
          </a:xfrm>
          <a:prstGeom prst="rect">
            <a:avLst/>
          </a:prstGeom>
          <a:solidFill>
            <a:srgbClr val="FFFFFF"/>
          </a:solidFill>
          <a:ln w="7144">
            <a:solidFill>
              <a:srgbClr val="0A0A0A"/>
            </a:solidFill>
            <a:prstDash val="solid"/>
          </a:ln>
        </p:spPr>
        <p:txBody>
          <a:bodyPr wrap="square" rtlCol="0" anchor="ctr"/>
          <a:lstStyle/>
          <a:p>
            <a:pPr marL="0" indent="0">
              <a:buNone/>
            </a:pPr>
            <a:endParaRPr lang="en-US" dirty="0"/>
          </a:p>
        </p:txBody>
      </p:sp>
      <p:sp>
        <p:nvSpPr>
          <p:cNvPr id="9" name="Text 7"/>
          <p:cNvSpPr/>
          <p:nvPr/>
        </p:nvSpPr>
        <p:spPr>
          <a:xfrm>
            <a:off x="692944" y="1741624"/>
            <a:ext cx="3643313" cy="147590"/>
          </a:xfrm>
          <a:prstGeom prst="rect">
            <a:avLst/>
          </a:prstGeom>
          <a:noFill/>
          <a:ln/>
        </p:spPr>
        <p:txBody>
          <a:bodyPr wrap="none" lIns="0" tIns="0" rIns="0" bIns="0" rtlCol="0" anchor="t">
            <a:normAutofit/>
          </a:bodyPr>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BACKWARD PASS</a:t>
            </a:r>
            <a:endParaRPr lang="en-US" sz="800" dirty="0"/>
          </a:p>
        </p:txBody>
      </p:sp>
      <p:sp>
        <p:nvSpPr>
          <p:cNvPr id="10" name="Text 8"/>
          <p:cNvSpPr/>
          <p:nvPr/>
        </p:nvSpPr>
        <p:spPr>
          <a:xfrm>
            <a:off x="692944" y="1916646"/>
            <a:ext cx="3643313" cy="433983"/>
          </a:xfrm>
          <a:prstGeom prst="rect">
            <a:avLst/>
          </a:prstGeom>
          <a:noFill/>
          <a:ln/>
        </p:spPr>
        <p:txBody>
          <a:bodyPr wrap="square" lIns="0" tIns="0" rIns="0" bIns="0" rtlCol="0" anchor="t"/>
          <a:lstStyle/>
          <a:p>
            <a:pPr marL="0" indent="0" algn="l">
              <a:lnSpc>
                <a:spcPts val="1139"/>
              </a:lnSpc>
              <a:buNone/>
            </a:pPr>
            <a:r>
              <a:rPr lang="en-US" sz="800" dirty="0">
                <a:solidFill>
                  <a:srgbClr val="1F1F1F"/>
                </a:solidFill>
                <a:latin typeface="Carlito" pitchFamily="34" charset="0"/>
                <a:ea typeface="Carlito" pitchFamily="34" charset="-122"/>
                <a:cs typeface="Carlito" pitchFamily="34" charset="-120"/>
              </a:rPr>
              <a:t>From each primitive's plaintext/key parameter, trace to sources. Sources classified: request parameter, form field, file read, database read, environment/secret store, computed digest, constant.</a:t>
            </a:r>
            <a:endParaRPr lang="en-US" sz="800" dirty="0"/>
          </a:p>
        </p:txBody>
      </p:sp>
      <p:sp>
        <p:nvSpPr>
          <p:cNvPr id="11" name="Text 9"/>
          <p:cNvSpPr/>
          <p:nvPr/>
        </p:nvSpPr>
        <p:spPr>
          <a:xfrm>
            <a:off x="4632722" y="1580890"/>
            <a:ext cx="3993356" cy="930473"/>
          </a:xfrm>
          <a:prstGeom prst="rect">
            <a:avLst/>
          </a:prstGeom>
          <a:solidFill>
            <a:srgbClr val="FFFFFF"/>
          </a:solidFill>
          <a:ln w="7144">
            <a:solidFill>
              <a:srgbClr val="0A0A0A"/>
            </a:solidFill>
            <a:prstDash val="solid"/>
          </a:ln>
        </p:spPr>
        <p:txBody>
          <a:bodyPr wrap="square" rtlCol="0" anchor="ctr"/>
          <a:lstStyle/>
          <a:p>
            <a:pPr marL="0" indent="0">
              <a:buNone/>
            </a:pPr>
            <a:endParaRPr lang="en-US" dirty="0"/>
          </a:p>
        </p:txBody>
      </p:sp>
      <p:sp>
        <p:nvSpPr>
          <p:cNvPr id="12" name="Text 10"/>
          <p:cNvSpPr/>
          <p:nvPr/>
        </p:nvSpPr>
        <p:spPr>
          <a:xfrm>
            <a:off x="4807744" y="1741624"/>
            <a:ext cx="3643313" cy="147590"/>
          </a:xfrm>
          <a:prstGeom prst="rect">
            <a:avLst/>
          </a:prstGeom>
          <a:noFill/>
          <a:ln/>
        </p:spPr>
        <p:txBody>
          <a:bodyPr wrap="none" lIns="0" tIns="0" rIns="0" bIns="0" rtlCol="0" anchor="t">
            <a:normAutofit/>
          </a:bodyPr>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FORWARD PASS</a:t>
            </a:r>
            <a:endParaRPr lang="en-US" sz="800" dirty="0"/>
          </a:p>
        </p:txBody>
      </p:sp>
      <p:sp>
        <p:nvSpPr>
          <p:cNvPr id="13" name="Text 11"/>
          <p:cNvSpPr/>
          <p:nvPr/>
        </p:nvSpPr>
        <p:spPr>
          <a:xfrm>
            <a:off x="4807744" y="1916646"/>
            <a:ext cx="3643313" cy="329184"/>
          </a:xfrm>
          <a:prstGeom prst="rect">
            <a:avLst/>
          </a:prstGeom>
          <a:noFill/>
          <a:ln/>
        </p:spPr>
        <p:txBody>
          <a:bodyPr wrap="square" lIns="0" tIns="0" rIns="0" bIns="0" rtlCol="0" anchor="t"/>
          <a:lstStyle/>
          <a:p>
            <a:pPr marL="0" indent="0" algn="l">
              <a:lnSpc>
                <a:spcPts val="1139"/>
              </a:lnSpc>
              <a:buNone/>
            </a:pPr>
            <a:r>
              <a:rPr lang="en-US" sz="800" dirty="0">
                <a:solidFill>
                  <a:srgbClr val="1F1F1F"/>
                </a:solidFill>
                <a:latin typeface="Carlito" pitchFamily="34" charset="0"/>
                <a:ea typeface="Carlito" pitchFamily="34" charset="-122"/>
                <a:cs typeface="Carlito" pitchFamily="34" charset="-120"/>
              </a:rPr>
              <a:t>From the primitive's output, trace to sinks: network write, filesystem write, database column, object store, log, in-memory cache, response body.</a:t>
            </a:r>
            <a:endParaRPr lang="en-US" sz="800" dirty="0"/>
          </a:p>
        </p:txBody>
      </p:sp>
      <p:sp>
        <p:nvSpPr>
          <p:cNvPr id="14" name="Text 12"/>
          <p:cNvSpPr/>
          <p:nvPr/>
        </p:nvSpPr>
        <p:spPr>
          <a:xfrm>
            <a:off x="517922" y="2632807"/>
            <a:ext cx="3993356" cy="1075134"/>
          </a:xfrm>
          <a:prstGeom prst="rect">
            <a:avLst/>
          </a:prstGeom>
          <a:solidFill>
            <a:srgbClr val="FFFFFF"/>
          </a:solidFill>
          <a:ln w="7144">
            <a:solidFill>
              <a:srgbClr val="0A0A0A"/>
            </a:solidFill>
            <a:prstDash val="solid"/>
          </a:ln>
        </p:spPr>
        <p:txBody>
          <a:bodyPr wrap="square" rtlCol="0" anchor="ctr"/>
          <a:lstStyle/>
          <a:p>
            <a:pPr marL="0" indent="0">
              <a:buNone/>
            </a:pPr>
            <a:endParaRPr lang="en-US" dirty="0"/>
          </a:p>
        </p:txBody>
      </p:sp>
      <p:sp>
        <p:nvSpPr>
          <p:cNvPr id="15" name="Text 13"/>
          <p:cNvSpPr/>
          <p:nvPr/>
        </p:nvSpPr>
        <p:spPr>
          <a:xfrm>
            <a:off x="692944" y="2793541"/>
            <a:ext cx="3753041" cy="147590"/>
          </a:xfrm>
          <a:prstGeom prst="rect">
            <a:avLst/>
          </a:prstGeom>
          <a:noFill/>
          <a:ln/>
        </p:spPr>
        <p:txBody>
          <a:bodyPr wrap="square" lIns="0" tIns="0" rIns="0" bIns="0" rtlCol="0" anchor="t">
            <a:normAutofit/>
          </a:bodyPr>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RETENTION EVIDENCE EXTRACTION</a:t>
            </a:r>
            <a:endParaRPr lang="en-US" sz="800" dirty="0"/>
          </a:p>
        </p:txBody>
      </p:sp>
      <p:sp>
        <p:nvSpPr>
          <p:cNvPr id="16" name="Text 14"/>
          <p:cNvSpPr/>
          <p:nvPr/>
        </p:nvSpPr>
        <p:spPr>
          <a:xfrm>
            <a:off x="692944" y="2968563"/>
            <a:ext cx="3643313" cy="578644"/>
          </a:xfrm>
          <a:prstGeom prst="rect">
            <a:avLst/>
          </a:prstGeom>
          <a:noFill/>
          <a:ln/>
        </p:spPr>
        <p:txBody>
          <a:bodyPr wrap="square" lIns="0" tIns="0" rIns="0" bIns="0" rtlCol="0" anchor="t"/>
          <a:lstStyle/>
          <a:p>
            <a:pPr marL="0" indent="0" algn="l">
              <a:lnSpc>
                <a:spcPts val="1139"/>
              </a:lnSpc>
              <a:buNone/>
            </a:pPr>
            <a:r>
              <a:rPr lang="en-US" sz="800" dirty="0">
                <a:solidFill>
                  <a:srgbClr val="1F1F1F"/>
                </a:solidFill>
                <a:latin typeface="Carlito" pitchFamily="34" charset="0"/>
                <a:ea typeface="Carlito" pitchFamily="34" charset="-122"/>
                <a:cs typeface="Carlito" pitchFamily="34" charset="-120"/>
              </a:rPr>
              <a:t>For each persistence sink, resolve retention from the nearest machine-readable declaration: column type, migration files, Redis/Memcached TTLs, S3/GCS lifecycle rules, K8s/Terraform settings, log-rotation config, named constants matching retention idioms.</a:t>
            </a:r>
            <a:endParaRPr lang="en-US" sz="800" dirty="0"/>
          </a:p>
        </p:txBody>
      </p:sp>
      <p:sp>
        <p:nvSpPr>
          <p:cNvPr id="17" name="Text 15"/>
          <p:cNvSpPr/>
          <p:nvPr/>
        </p:nvSpPr>
        <p:spPr>
          <a:xfrm>
            <a:off x="4632722" y="2632807"/>
            <a:ext cx="3993356" cy="1075134"/>
          </a:xfrm>
          <a:prstGeom prst="rect">
            <a:avLst/>
          </a:prstGeom>
          <a:solidFill>
            <a:srgbClr val="FFFFFF"/>
          </a:solidFill>
          <a:ln w="7144">
            <a:solidFill>
              <a:srgbClr val="0A0A0A"/>
            </a:solidFill>
            <a:prstDash val="solid"/>
          </a:ln>
        </p:spPr>
        <p:txBody>
          <a:bodyPr wrap="square" rtlCol="0" anchor="ctr"/>
          <a:lstStyle/>
          <a:p>
            <a:pPr marL="0" indent="0">
              <a:buNone/>
            </a:pPr>
            <a:endParaRPr lang="en-US" dirty="0"/>
          </a:p>
        </p:txBody>
      </p:sp>
      <p:sp>
        <p:nvSpPr>
          <p:cNvPr id="18" name="Text 16"/>
          <p:cNvSpPr/>
          <p:nvPr/>
        </p:nvSpPr>
        <p:spPr>
          <a:xfrm>
            <a:off x="4807744" y="2793541"/>
            <a:ext cx="3643312" cy="147590"/>
          </a:xfrm>
          <a:prstGeom prst="rect">
            <a:avLst/>
          </a:prstGeom>
          <a:noFill/>
          <a:ln/>
        </p:spPr>
        <p:txBody>
          <a:bodyPr wrap="none" lIns="0" tIns="0" rIns="0" bIns="0" rtlCol="0" anchor="t">
            <a:normAutofit/>
          </a:bodyPr>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EXPOSURE CLASSIFICATION</a:t>
            </a:r>
            <a:endParaRPr lang="en-US" sz="800" dirty="0"/>
          </a:p>
        </p:txBody>
      </p:sp>
      <p:sp>
        <p:nvSpPr>
          <p:cNvPr id="19" name="Text 17"/>
          <p:cNvSpPr/>
          <p:nvPr/>
        </p:nvSpPr>
        <p:spPr>
          <a:xfrm>
            <a:off x="4807744" y="2968563"/>
            <a:ext cx="3643313" cy="329184"/>
          </a:xfrm>
          <a:prstGeom prst="rect">
            <a:avLst/>
          </a:prstGeom>
          <a:noFill/>
          <a:ln/>
        </p:spPr>
        <p:txBody>
          <a:bodyPr wrap="square" lIns="0" tIns="0" rIns="0" bIns="0" rtlCol="0" anchor="t"/>
          <a:lstStyle/>
          <a:p>
            <a:pPr marL="0" indent="0" algn="l">
              <a:lnSpc>
                <a:spcPts val="1139"/>
              </a:lnSpc>
              <a:buNone/>
            </a:pPr>
            <a:r>
              <a:rPr lang="en-US" sz="800" dirty="0">
                <a:solidFill>
                  <a:srgbClr val="1F1F1F"/>
                </a:solidFill>
                <a:latin typeface="Carlito" pitchFamily="34" charset="0"/>
                <a:ea typeface="Carlito" pitchFamily="34" charset="-122"/>
                <a:cs typeface="Carlito" pitchFamily="34" charset="-120"/>
              </a:rPr>
              <a:t>Ciphertext crossing a network boundary &gt; crossing a host boundary &gt; crossing a process boundary &gt; remaining in-process.</a:t>
            </a:r>
            <a:endParaRPr lang="en-US" sz="800" dirty="0"/>
          </a:p>
        </p:txBody>
      </p:sp>
      <p:sp>
        <p:nvSpPr>
          <p:cNvPr id="20" name="Text 18"/>
          <p:cNvSpPr/>
          <p:nvPr/>
        </p:nvSpPr>
        <p:spPr>
          <a:xfrm>
            <a:off x="514350" y="3825813"/>
            <a:ext cx="8115300" cy="7144"/>
          </a:xfrm>
          <a:prstGeom prst="rect">
            <a:avLst/>
          </a:prstGeom>
          <a:solidFill>
            <a:srgbClr val="D9D9D9"/>
          </a:solidFill>
          <a:ln/>
        </p:spPr>
        <p:txBody>
          <a:bodyPr wrap="square" rtlCol="0" anchor="ctr"/>
          <a:lstStyle/>
          <a:p>
            <a:pPr marL="0" indent="0">
              <a:buNone/>
            </a:pPr>
            <a:endParaRPr lang="en-US" dirty="0"/>
          </a:p>
        </p:txBody>
      </p:sp>
      <p:sp>
        <p:nvSpPr>
          <p:cNvPr id="21" name="Text 19"/>
          <p:cNvSpPr/>
          <p:nvPr/>
        </p:nvSpPr>
        <p:spPr>
          <a:xfrm>
            <a:off x="514350" y="3918682"/>
            <a:ext cx="1311589" cy="204493"/>
          </a:xfrm>
          <a:prstGeom prst="rect">
            <a:avLst/>
          </a:prstGeom>
          <a:noFill/>
          <a:ln/>
        </p:spPr>
        <p:txBody>
          <a:bodyPr wrap="none" lIns="0" tIns="28575" rIns="0" bIns="0" rtlCol="0" anchor="t"/>
          <a:lstStyle/>
          <a:p>
            <a:pPr marL="0" indent="0" algn="l">
              <a:lnSpc>
                <a:spcPts val="928"/>
              </a:lnSpc>
              <a:buNone/>
            </a:pPr>
            <a:r>
              <a:rPr lang="en-US" sz="800" kern="0" spc="136" dirty="0">
                <a:solidFill>
                  <a:srgbClr val="4A4A4A"/>
                </a:solidFill>
                <a:latin typeface="Carlito" pitchFamily="34" charset="0"/>
                <a:ea typeface="Carlito" pitchFamily="34" charset="-122"/>
                <a:cs typeface="Carlito" pitchFamily="34" charset="-120"/>
              </a:rPr>
              <a:t>REALISM CONTROL</a:t>
            </a:r>
            <a:endParaRPr lang="en-US" sz="800" dirty="0"/>
          </a:p>
        </p:txBody>
      </p:sp>
      <p:sp>
        <p:nvSpPr>
          <p:cNvPr id="22" name="Text 20"/>
          <p:cNvSpPr/>
          <p:nvPr/>
        </p:nvSpPr>
        <p:spPr>
          <a:xfrm>
            <a:off x="1523628" y="3918682"/>
            <a:ext cx="7106022" cy="329184"/>
          </a:xfrm>
          <a:prstGeom prst="rect">
            <a:avLst/>
          </a:prstGeom>
          <a:noFill/>
          <a:ln/>
        </p:spPr>
        <p:txBody>
          <a:bodyPr wrap="square" lIns="0" tIns="0" rIns="0" bIns="0" rtlCol="0" anchor="t"/>
          <a:lstStyle/>
          <a:p>
            <a:pPr marL="0" indent="0" algn="l">
              <a:lnSpc>
                <a:spcPts val="1097"/>
              </a:lnSpc>
              <a:buNone/>
            </a:pPr>
            <a:r>
              <a:rPr lang="en-US" sz="800" dirty="0">
                <a:solidFill>
                  <a:srgbClr val="1F1F1F"/>
                </a:solidFill>
                <a:latin typeface="Carlito" pitchFamily="34" charset="0"/>
                <a:ea typeface="Carlito" pitchFamily="34" charset="-122"/>
                <a:cs typeface="Carlito" pitchFamily="34" charset="-120"/>
              </a:rPr>
              <a:t>Target coverage 70%, not 100%. Unresolved sites reported in an explicit “insufficient context” bucket. A tool that admits what it cannot see is usable; one that guesses silently is not.</a:t>
            </a:r>
            <a:endParaRPr lang="en-US" sz="800" dirty="0"/>
          </a:p>
        </p:txBody>
      </p:sp>
      <p:sp>
        <p:nvSpPr>
          <p:cNvPr id="23" name="Shape 21"/>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24" name="Text 22"/>
          <p:cNvSpPr/>
          <p:nvPr/>
        </p:nvSpPr>
        <p:spPr>
          <a:xfrm>
            <a:off x="1463040" y="4846320"/>
            <a:ext cx="7132320" cy="137160"/>
          </a:xfrm>
          <a:prstGeom prst="rect">
            <a:avLst/>
          </a:prstGeom>
          <a:noFill/>
          <a:ln/>
        </p:spPr>
        <p:txBody>
          <a:bodyPr wrap="non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07 · METHODOLOGY</a:t>
            </a:r>
            <a:endParaRPr lang="en-US" sz="800" dirty="0"/>
          </a:p>
        </p:txBody>
      </p:sp>
      <p:sp>
        <p:nvSpPr>
          <p:cNvPr id="25" name="Text 23"/>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34 / 39</a:t>
            </a:r>
            <a:endParaRPr lang="en-US" sz="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7303145"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7831782" y="400050"/>
            <a:ext cx="797868" cy="117872"/>
          </a:xfrm>
          <a:prstGeom prst="rect">
            <a:avLst/>
          </a:prstGeom>
          <a:noFill/>
          <a:ln/>
        </p:spPr>
        <p:txBody>
          <a:bodyPr wrap="none" lIns="0" tIns="0" rIns="0" bIns="0" rtlCol="0" anchor="t"/>
          <a:lstStyle/>
          <a:p>
            <a:pPr marL="0" indent="0" algn="l">
              <a:lnSpc>
                <a:spcPts val="928"/>
              </a:lnSpc>
              <a:buNone/>
            </a:pPr>
            <a:r>
              <a:rPr lang="en-US" sz="619" kern="0" spc="99" dirty="0">
                <a:solidFill>
                  <a:srgbClr val="4A4A4A"/>
                </a:solidFill>
                <a:latin typeface="Carlito" pitchFamily="34" charset="0"/>
                <a:ea typeface="Carlito" pitchFamily="34" charset="-122"/>
                <a:cs typeface="Carlito" pitchFamily="34" charset="-120"/>
              </a:rPr>
              <a:t>REVIEW REPORT I</a:t>
            </a:r>
            <a:endParaRPr lang="en-US" sz="619" dirty="0"/>
          </a:p>
        </p:txBody>
      </p:sp>
      <p:sp>
        <p:nvSpPr>
          <p:cNvPr id="5" name="Text 3"/>
          <p:cNvSpPr/>
          <p:nvPr/>
        </p:nvSpPr>
        <p:spPr>
          <a:xfrm>
            <a:off x="514350" y="796528"/>
            <a:ext cx="8629650" cy="147590"/>
          </a:xfrm>
          <a:prstGeom prst="rect">
            <a:avLst/>
          </a:prstGeom>
          <a:noFill/>
          <a:ln/>
        </p:spPr>
        <p:txBody>
          <a:bodyPr wrap="square" lIns="0" tIns="0" rIns="0" bIns="0" rtlCol="0" anchor="t">
            <a:normAutofit/>
          </a:bodyPr>
          <a:lstStyle/>
          <a:p>
            <a:pPr marL="0" indent="0" algn="l">
              <a:lnSpc>
                <a:spcPts val="928"/>
              </a:lnSpc>
              <a:buNone/>
            </a:pPr>
            <a:r>
              <a:rPr lang="en-US" sz="800" kern="0" spc="136" dirty="0">
                <a:solidFill>
                  <a:srgbClr val="4A4A4A"/>
                </a:solidFill>
                <a:latin typeface="Carlito" pitchFamily="34" charset="0"/>
                <a:ea typeface="Carlito" pitchFamily="34" charset="-122"/>
                <a:cs typeface="Carlito" pitchFamily="34" charset="-120"/>
              </a:rPr>
              <a:t>7.4 STAGE 3 — HNDL EXPOSURE SCORE &amp; RANKING</a:t>
            </a:r>
            <a:endParaRPr lang="en-US" sz="800" dirty="0"/>
          </a:p>
        </p:txBody>
      </p:sp>
      <p:sp>
        <p:nvSpPr>
          <p:cNvPr id="6" name="Text 4"/>
          <p:cNvSpPr/>
          <p:nvPr/>
        </p:nvSpPr>
        <p:spPr>
          <a:xfrm>
            <a:off x="514350" y="971550"/>
            <a:ext cx="8521065" cy="345619"/>
          </a:xfrm>
          <a:prstGeom prst="rect">
            <a:avLst/>
          </a:prstGeom>
          <a:noFill/>
          <a:ln/>
        </p:spPr>
        <p:txBody>
          <a:bodyPr wrap="non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A score for each data path.</a:t>
            </a:r>
            <a:endParaRPr lang="en-US" sz="2250" dirty="0"/>
          </a:p>
        </p:txBody>
      </p:sp>
      <p:sp>
        <p:nvSpPr>
          <p:cNvPr id="7" name="Text 5"/>
          <p:cNvSpPr/>
          <p:nvPr/>
        </p:nvSpPr>
        <p:spPr>
          <a:xfrm>
            <a:off x="514350" y="1405868"/>
            <a:ext cx="400050" cy="28575"/>
          </a:xfrm>
          <a:prstGeom prst="rect">
            <a:avLst/>
          </a:prstGeom>
          <a:solidFill>
            <a:srgbClr val="0A0A0A"/>
          </a:solidFill>
          <a:ln/>
        </p:spPr>
        <p:txBody>
          <a:bodyPr wrap="square" rtlCol="0" anchor="ctr"/>
          <a:lstStyle/>
          <a:p>
            <a:pPr marL="0" indent="0">
              <a:buNone/>
            </a:pPr>
            <a:endParaRPr lang="en-US" dirty="0"/>
          </a:p>
        </p:txBody>
      </p:sp>
      <p:sp>
        <p:nvSpPr>
          <p:cNvPr id="8" name="Text 6"/>
          <p:cNvSpPr/>
          <p:nvPr/>
        </p:nvSpPr>
        <p:spPr>
          <a:xfrm>
            <a:off x="517922" y="1580890"/>
            <a:ext cx="8108156" cy="528638"/>
          </a:xfrm>
          <a:prstGeom prst="rect">
            <a:avLst/>
          </a:prstGeom>
          <a:solidFill>
            <a:srgbClr val="F4F4F4"/>
          </a:solidFill>
          <a:ln w="7144">
            <a:solidFill>
              <a:srgbClr val="D9D9D9"/>
            </a:solidFill>
            <a:prstDash val="solid"/>
          </a:ln>
        </p:spPr>
        <p:txBody>
          <a:bodyPr wrap="square" rtlCol="0" anchor="ctr"/>
          <a:lstStyle/>
          <a:p>
            <a:pPr marL="0" indent="0">
              <a:buNone/>
            </a:pPr>
            <a:endParaRPr lang="en-US" dirty="0"/>
          </a:p>
        </p:txBody>
      </p:sp>
      <p:sp>
        <p:nvSpPr>
          <p:cNvPr id="9" name="Text 7"/>
          <p:cNvSpPr/>
          <p:nvPr/>
        </p:nvSpPr>
        <p:spPr>
          <a:xfrm>
            <a:off x="678656" y="1727336"/>
            <a:ext cx="7786688" cy="235744"/>
          </a:xfrm>
          <a:prstGeom prst="rect">
            <a:avLst/>
          </a:prstGeom>
          <a:noFill/>
          <a:ln/>
        </p:spPr>
        <p:txBody>
          <a:bodyPr wrap="square" lIns="0" tIns="0" rIns="0" bIns="0" rtlCol="0" anchor="t"/>
          <a:lstStyle/>
          <a:p>
            <a:pPr marL="0" indent="0" algn="ctr">
              <a:lnSpc>
                <a:spcPts val="1856"/>
              </a:lnSpc>
              <a:buNone/>
            </a:pPr>
            <a:r>
              <a:rPr lang="en-US" sz="1238" kern="0" spc="25" dirty="0">
                <a:solidFill>
                  <a:srgbClr val="0A0A0A"/>
                </a:solidFill>
                <a:latin typeface="Courier New" pitchFamily="34" charset="0"/>
                <a:ea typeface="Courier New" pitchFamily="34" charset="-122"/>
                <a:cs typeface="Courier New" pitchFamily="34" charset="-120"/>
              </a:rPr>
              <a:t>Exposure(p) = w</a:t>
            </a:r>
            <a:r>
              <a:rPr lang="en-US" sz="928" kern="0" spc="25" baseline="-40000" dirty="0">
                <a:solidFill>
                  <a:srgbClr val="0A0A0A"/>
                </a:solidFill>
                <a:latin typeface="Courier New" pitchFamily="34" charset="0"/>
                <a:ea typeface="Courier New" pitchFamily="34" charset="-122"/>
                <a:cs typeface="Courier New" pitchFamily="34" charset="-120"/>
              </a:rPr>
              <a:t>r</a:t>
            </a:r>
            <a:r>
              <a:rPr lang="en-US" sz="1238" kern="0" spc="25" dirty="0">
                <a:solidFill>
                  <a:srgbClr val="0A0A0A"/>
                </a:solidFill>
                <a:latin typeface="Courier New" pitchFamily="34" charset="0"/>
                <a:ea typeface="Courier New" pitchFamily="34" charset="-122"/>
                <a:cs typeface="Courier New" pitchFamily="34" charset="-120"/>
              </a:rPr>
              <a:t> · R(p) × w</a:t>
            </a:r>
            <a:r>
              <a:rPr lang="en-US" sz="928" kern="0" spc="25" baseline="-40000" dirty="0">
                <a:solidFill>
                  <a:srgbClr val="0A0A0A"/>
                </a:solidFill>
                <a:latin typeface="Courier New" pitchFamily="34" charset="0"/>
                <a:ea typeface="Courier New" pitchFamily="34" charset="-122"/>
                <a:cs typeface="Courier New" pitchFamily="34" charset="-120"/>
              </a:rPr>
              <a:t>e</a:t>
            </a:r>
            <a:r>
              <a:rPr lang="en-US" sz="1238" kern="0" spc="25" dirty="0">
                <a:solidFill>
                  <a:srgbClr val="0A0A0A"/>
                </a:solidFill>
                <a:latin typeface="Courier New" pitchFamily="34" charset="0"/>
                <a:ea typeface="Courier New" pitchFamily="34" charset="-122"/>
                <a:cs typeface="Courier New" pitchFamily="34" charset="-120"/>
              </a:rPr>
              <a:t> · E(p) × w</a:t>
            </a:r>
            <a:r>
              <a:rPr lang="en-US" sz="928" kern="0" spc="25" baseline="-40000" dirty="0">
                <a:solidFill>
                  <a:srgbClr val="0A0A0A"/>
                </a:solidFill>
                <a:latin typeface="Courier New" pitchFamily="34" charset="0"/>
                <a:ea typeface="Courier New" pitchFamily="34" charset="-122"/>
                <a:cs typeface="Courier New" pitchFamily="34" charset="-120"/>
              </a:rPr>
              <a:t>a</a:t>
            </a:r>
            <a:r>
              <a:rPr lang="en-US" sz="1238" kern="0" spc="25" dirty="0">
                <a:solidFill>
                  <a:srgbClr val="0A0A0A"/>
                </a:solidFill>
                <a:latin typeface="Courier New" pitchFamily="34" charset="0"/>
                <a:ea typeface="Courier New" pitchFamily="34" charset="-122"/>
                <a:cs typeface="Courier New" pitchFamily="34" charset="-120"/>
              </a:rPr>
              <a:t> · A(p) × w</a:t>
            </a:r>
            <a:r>
              <a:rPr lang="en-US" sz="928" kern="0" spc="25" baseline="-40000" dirty="0">
                <a:solidFill>
                  <a:srgbClr val="0A0A0A"/>
                </a:solidFill>
                <a:latin typeface="Courier New" pitchFamily="34" charset="0"/>
                <a:ea typeface="Courier New" pitchFamily="34" charset="-122"/>
                <a:cs typeface="Courier New" pitchFamily="34" charset="-120"/>
              </a:rPr>
              <a:t>k</a:t>
            </a:r>
            <a:r>
              <a:rPr lang="en-US" sz="1238" kern="0" spc="25" dirty="0">
                <a:solidFill>
                  <a:srgbClr val="0A0A0A"/>
                </a:solidFill>
                <a:latin typeface="Courier New" pitchFamily="34" charset="0"/>
                <a:ea typeface="Courier New" pitchFamily="34" charset="-122"/>
                <a:cs typeface="Courier New" pitchFamily="34" charset="-120"/>
              </a:rPr>
              <a:t> · K(p)</a:t>
            </a:r>
            <a:endParaRPr lang="en-US" sz="1238" dirty="0"/>
          </a:p>
        </p:txBody>
      </p:sp>
      <p:sp>
        <p:nvSpPr>
          <p:cNvPr id="10" name="Shape 8"/>
          <p:cNvSpPr/>
          <p:nvPr/>
        </p:nvSpPr>
        <p:spPr>
          <a:xfrm>
            <a:off x="514350" y="2230971"/>
            <a:ext cx="8115300" cy="0"/>
          </a:xfrm>
          <a:prstGeom prst="line">
            <a:avLst/>
          </a:prstGeom>
          <a:noFill/>
          <a:ln w="7144">
            <a:solidFill>
              <a:srgbClr val="D9D9D9"/>
            </a:solidFill>
            <a:prstDash val="solid"/>
          </a:ln>
        </p:spPr>
        <p:txBody>
          <a:bodyPr/>
          <a:lstStyle/>
          <a:p>
            <a:endParaRPr lang="en-US"/>
          </a:p>
        </p:txBody>
      </p:sp>
      <p:sp>
        <p:nvSpPr>
          <p:cNvPr id="11" name="Shape 9"/>
          <p:cNvSpPr/>
          <p:nvPr/>
        </p:nvSpPr>
        <p:spPr>
          <a:xfrm>
            <a:off x="514350" y="2804480"/>
            <a:ext cx="8115300" cy="0"/>
          </a:xfrm>
          <a:prstGeom prst="line">
            <a:avLst/>
          </a:prstGeom>
          <a:noFill/>
          <a:ln w="7144">
            <a:solidFill>
              <a:srgbClr val="D9D9D9"/>
            </a:solidFill>
            <a:prstDash val="solid"/>
          </a:ln>
        </p:spPr>
        <p:txBody>
          <a:bodyPr/>
          <a:lstStyle/>
          <a:p>
            <a:endParaRPr lang="en-US"/>
          </a:p>
        </p:txBody>
      </p:sp>
      <p:sp>
        <p:nvSpPr>
          <p:cNvPr id="12" name="Shape 10"/>
          <p:cNvSpPr/>
          <p:nvPr/>
        </p:nvSpPr>
        <p:spPr>
          <a:xfrm>
            <a:off x="2539603" y="2234543"/>
            <a:ext cx="0" cy="566365"/>
          </a:xfrm>
          <a:prstGeom prst="line">
            <a:avLst/>
          </a:prstGeom>
          <a:noFill/>
          <a:ln w="7144">
            <a:solidFill>
              <a:srgbClr val="D9D9D9"/>
            </a:solidFill>
            <a:prstDash val="solid"/>
          </a:ln>
        </p:spPr>
        <p:txBody>
          <a:bodyPr/>
          <a:lstStyle/>
          <a:p>
            <a:endParaRPr lang="en-US"/>
          </a:p>
        </p:txBody>
      </p:sp>
      <p:sp>
        <p:nvSpPr>
          <p:cNvPr id="13" name="Text 11"/>
          <p:cNvSpPr/>
          <p:nvPr/>
        </p:nvSpPr>
        <p:spPr>
          <a:xfrm>
            <a:off x="600075" y="2320268"/>
            <a:ext cx="1850231" cy="119015"/>
          </a:xfrm>
          <a:prstGeom prst="rect">
            <a:avLst/>
          </a:prstGeom>
          <a:noFill/>
          <a:ln/>
        </p:spPr>
        <p:txBody>
          <a:bodyPr wrap="none" lIns="0" tIns="0" rIns="0" bIns="0" rtlCol="0" anchor="t">
            <a:normAutofit/>
          </a:bodyPr>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R</a:t>
            </a:r>
            <a:endParaRPr lang="en-US" sz="800" dirty="0"/>
          </a:p>
        </p:txBody>
      </p:sp>
      <p:sp>
        <p:nvSpPr>
          <p:cNvPr id="14" name="Text 12"/>
          <p:cNvSpPr/>
          <p:nvPr/>
        </p:nvSpPr>
        <p:spPr>
          <a:xfrm>
            <a:off x="600075" y="2466715"/>
            <a:ext cx="1959959" cy="159020"/>
          </a:xfrm>
          <a:prstGeom prst="rect">
            <a:avLst/>
          </a:prstGeom>
          <a:noFill/>
          <a:ln/>
        </p:spPr>
        <p:txBody>
          <a:bodyPr wrap="square" lIns="0" tIns="0" rIns="0" bIns="0" rtlCol="0" anchor="t"/>
          <a:lstStyle/>
          <a:p>
            <a:pPr marL="0" indent="0" algn="l">
              <a:lnSpc>
                <a:spcPts val="979"/>
              </a:lnSpc>
              <a:buNone/>
            </a:pPr>
            <a:r>
              <a:rPr lang="en-US" sz="675" dirty="0">
                <a:solidFill>
                  <a:srgbClr val="1F1F1F"/>
                </a:solidFill>
                <a:latin typeface="Carlito" pitchFamily="34" charset="0"/>
                <a:ea typeface="Carlito" pitchFamily="34" charset="-122"/>
                <a:cs typeface="Carlito" pitchFamily="34" charset="-120"/>
              </a:rPr>
              <a:t>retention lifetime (observed &gt; inferred)</a:t>
            </a:r>
            <a:endParaRPr lang="en-US" sz="675" dirty="0"/>
          </a:p>
        </p:txBody>
      </p:sp>
      <p:sp>
        <p:nvSpPr>
          <p:cNvPr id="15" name="Shape 13"/>
          <p:cNvSpPr/>
          <p:nvPr/>
        </p:nvSpPr>
        <p:spPr>
          <a:xfrm>
            <a:off x="4568428" y="2234543"/>
            <a:ext cx="0" cy="566365"/>
          </a:xfrm>
          <a:prstGeom prst="line">
            <a:avLst/>
          </a:prstGeom>
          <a:noFill/>
          <a:ln w="7144">
            <a:solidFill>
              <a:srgbClr val="D9D9D9"/>
            </a:solidFill>
            <a:prstDash val="solid"/>
          </a:ln>
        </p:spPr>
        <p:txBody>
          <a:bodyPr/>
          <a:lstStyle/>
          <a:p>
            <a:endParaRPr lang="en-US"/>
          </a:p>
        </p:txBody>
      </p:sp>
      <p:sp>
        <p:nvSpPr>
          <p:cNvPr id="16" name="Text 14"/>
          <p:cNvSpPr/>
          <p:nvPr/>
        </p:nvSpPr>
        <p:spPr>
          <a:xfrm>
            <a:off x="2628900" y="2320268"/>
            <a:ext cx="1850231" cy="119015"/>
          </a:xfrm>
          <a:prstGeom prst="rect">
            <a:avLst/>
          </a:prstGeom>
          <a:noFill/>
          <a:ln/>
        </p:spPr>
        <p:txBody>
          <a:bodyPr wrap="none" lIns="0" tIns="0" rIns="0" bIns="0" rtlCol="0" anchor="t">
            <a:normAutofit/>
          </a:bodyPr>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E</a:t>
            </a:r>
            <a:endParaRPr lang="en-US" sz="800" dirty="0"/>
          </a:p>
        </p:txBody>
      </p:sp>
      <p:sp>
        <p:nvSpPr>
          <p:cNvPr id="17" name="Text 15"/>
          <p:cNvSpPr/>
          <p:nvPr/>
        </p:nvSpPr>
        <p:spPr>
          <a:xfrm>
            <a:off x="2628900" y="2466715"/>
            <a:ext cx="1850231" cy="159020"/>
          </a:xfrm>
          <a:prstGeom prst="rect">
            <a:avLst/>
          </a:prstGeom>
          <a:noFill/>
          <a:ln/>
        </p:spPr>
        <p:txBody>
          <a:bodyPr wrap="none" lIns="0" tIns="0" rIns="0" bIns="0" rtlCol="0" anchor="t"/>
          <a:lstStyle/>
          <a:p>
            <a:pPr marL="0" indent="0" algn="l">
              <a:lnSpc>
                <a:spcPts val="979"/>
              </a:lnSpc>
              <a:buNone/>
            </a:pPr>
            <a:r>
              <a:rPr lang="en-US" sz="800" dirty="0">
                <a:solidFill>
                  <a:srgbClr val="1F1F1F"/>
                </a:solidFill>
                <a:latin typeface="Carlito" pitchFamily="34" charset="0"/>
                <a:ea typeface="Carlito" pitchFamily="34" charset="-122"/>
                <a:cs typeface="Carlito" pitchFamily="34" charset="-120"/>
              </a:rPr>
              <a:t>exposure surface</a:t>
            </a:r>
            <a:endParaRPr lang="en-US" sz="800" dirty="0"/>
          </a:p>
        </p:txBody>
      </p:sp>
      <p:sp>
        <p:nvSpPr>
          <p:cNvPr id="18" name="Shape 16"/>
          <p:cNvSpPr/>
          <p:nvPr/>
        </p:nvSpPr>
        <p:spPr>
          <a:xfrm>
            <a:off x="6597253" y="2234543"/>
            <a:ext cx="0" cy="566365"/>
          </a:xfrm>
          <a:prstGeom prst="line">
            <a:avLst/>
          </a:prstGeom>
          <a:noFill/>
          <a:ln w="7144">
            <a:solidFill>
              <a:srgbClr val="D9D9D9"/>
            </a:solidFill>
            <a:prstDash val="solid"/>
          </a:ln>
        </p:spPr>
        <p:txBody>
          <a:bodyPr/>
          <a:lstStyle/>
          <a:p>
            <a:endParaRPr lang="en-US"/>
          </a:p>
        </p:txBody>
      </p:sp>
      <p:sp>
        <p:nvSpPr>
          <p:cNvPr id="19" name="Text 17"/>
          <p:cNvSpPr/>
          <p:nvPr/>
        </p:nvSpPr>
        <p:spPr>
          <a:xfrm>
            <a:off x="4657725" y="2320268"/>
            <a:ext cx="1850231" cy="119015"/>
          </a:xfrm>
          <a:prstGeom prst="rect">
            <a:avLst/>
          </a:prstGeom>
          <a:noFill/>
          <a:ln/>
        </p:spPr>
        <p:txBody>
          <a:bodyPr wrap="none" lIns="0" tIns="0" rIns="0" bIns="0" rtlCol="0" anchor="t">
            <a:normAutofit/>
          </a:bodyPr>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A</a:t>
            </a:r>
            <a:endParaRPr lang="en-US" sz="800" dirty="0"/>
          </a:p>
        </p:txBody>
      </p:sp>
      <p:sp>
        <p:nvSpPr>
          <p:cNvPr id="20" name="Text 18"/>
          <p:cNvSpPr/>
          <p:nvPr/>
        </p:nvSpPr>
        <p:spPr>
          <a:xfrm>
            <a:off x="4657725" y="2466715"/>
            <a:ext cx="1850231" cy="248469"/>
          </a:xfrm>
          <a:prstGeom prst="rect">
            <a:avLst/>
          </a:prstGeom>
          <a:noFill/>
          <a:ln/>
        </p:spPr>
        <p:txBody>
          <a:bodyPr wrap="square" lIns="0" tIns="0" rIns="0" bIns="0" rtlCol="0" anchor="t"/>
          <a:lstStyle/>
          <a:p>
            <a:pPr marL="0" indent="0" algn="l">
              <a:lnSpc>
                <a:spcPts val="979"/>
              </a:lnSpc>
              <a:buNone/>
            </a:pPr>
            <a:r>
              <a:rPr lang="en-US" sz="800" dirty="0">
                <a:solidFill>
                  <a:srgbClr val="1F1F1F"/>
                </a:solidFill>
                <a:latin typeface="Carlito" pitchFamily="34" charset="0"/>
                <a:ea typeface="Carlito" pitchFamily="34" charset="-122"/>
                <a:cs typeface="Carlito" pitchFamily="34" charset="-120"/>
              </a:rPr>
              <a:t>algorithm quantum-vulnerability class (Shor ≈&gt; Grover)</a:t>
            </a:r>
            <a:endParaRPr lang="en-US" sz="800" dirty="0"/>
          </a:p>
        </p:txBody>
      </p:sp>
      <p:sp>
        <p:nvSpPr>
          <p:cNvPr id="21" name="Text 19"/>
          <p:cNvSpPr/>
          <p:nvPr/>
        </p:nvSpPr>
        <p:spPr>
          <a:xfrm>
            <a:off x="6686550" y="2320268"/>
            <a:ext cx="1943100" cy="119015"/>
          </a:xfrm>
          <a:prstGeom prst="rect">
            <a:avLst/>
          </a:prstGeom>
          <a:noFill/>
          <a:ln/>
        </p:spPr>
        <p:txBody>
          <a:bodyPr wrap="none" lIns="0" tIns="0" rIns="0" bIns="0" rtlCol="0" anchor="t">
            <a:normAutofit/>
          </a:bodyPr>
          <a:lstStyle/>
          <a:p>
            <a:pPr marL="0" indent="0" algn="l">
              <a:lnSpc>
                <a:spcPts val="928"/>
              </a:lnSpc>
              <a:buNone/>
            </a:pPr>
            <a:r>
              <a:rPr lang="en-US" sz="800" kern="0" spc="111" dirty="0">
                <a:solidFill>
                  <a:srgbClr val="0A0A0A"/>
                </a:solidFill>
                <a:latin typeface="Courier New" pitchFamily="34" charset="0"/>
                <a:ea typeface="Courier New" pitchFamily="34" charset="-122"/>
                <a:cs typeface="Courier New" pitchFamily="34" charset="-120"/>
              </a:rPr>
              <a:t>K</a:t>
            </a:r>
            <a:endParaRPr lang="en-US" sz="800" dirty="0"/>
          </a:p>
        </p:txBody>
      </p:sp>
      <p:sp>
        <p:nvSpPr>
          <p:cNvPr id="22" name="Text 20"/>
          <p:cNvSpPr/>
          <p:nvPr/>
        </p:nvSpPr>
        <p:spPr>
          <a:xfrm>
            <a:off x="6686550" y="2466715"/>
            <a:ext cx="2005965" cy="159020"/>
          </a:xfrm>
          <a:prstGeom prst="rect">
            <a:avLst/>
          </a:prstGeom>
          <a:noFill/>
          <a:ln/>
        </p:spPr>
        <p:txBody>
          <a:bodyPr wrap="square" lIns="0" tIns="0" rIns="0" bIns="0" rtlCol="0" anchor="t"/>
          <a:lstStyle/>
          <a:p>
            <a:pPr marL="0" indent="0" algn="l">
              <a:lnSpc>
                <a:spcPts val="979"/>
              </a:lnSpc>
              <a:buNone/>
            </a:pPr>
            <a:r>
              <a:rPr lang="en-US" sz="800" dirty="0">
                <a:solidFill>
                  <a:srgbClr val="1F1F1F"/>
                </a:solidFill>
                <a:latin typeface="Carlito" pitchFamily="34" charset="0"/>
                <a:ea typeface="Carlito" pitchFamily="34" charset="-122"/>
                <a:cs typeface="Carlito" pitchFamily="34" charset="-120"/>
              </a:rPr>
              <a:t>key-reuse / blast-radius factor</a:t>
            </a:r>
            <a:endParaRPr lang="en-US" sz="800" dirty="0"/>
          </a:p>
        </p:txBody>
      </p:sp>
      <p:sp>
        <p:nvSpPr>
          <p:cNvPr id="23" name="Text 21"/>
          <p:cNvSpPr/>
          <p:nvPr/>
        </p:nvSpPr>
        <p:spPr>
          <a:xfrm>
            <a:off x="514350" y="2922352"/>
            <a:ext cx="8115300" cy="340106"/>
          </a:xfrm>
          <a:prstGeom prst="rect">
            <a:avLst/>
          </a:prstGeom>
          <a:noFill/>
          <a:ln/>
        </p:spPr>
        <p:txBody>
          <a:bodyPr wrap="square" lIns="0" tIns="0" rIns="0" bIns="0" rtlCol="0" anchor="t"/>
          <a:lstStyle/>
          <a:p>
            <a:pPr marL="0" indent="0" algn="l">
              <a:lnSpc>
                <a:spcPts val="1177"/>
              </a:lnSpc>
              <a:buNone/>
            </a:pPr>
            <a:r>
              <a:rPr lang="en-US" sz="800" dirty="0">
                <a:solidFill>
                  <a:srgbClr val="1F1F1F"/>
                </a:solidFill>
                <a:latin typeface="Carlito" pitchFamily="34" charset="0"/>
                <a:ea typeface="Carlito" pitchFamily="34" charset="-122"/>
                <a:cs typeface="Carlito" pitchFamily="34" charset="-120"/>
              </a:rPr>
              <a:t>The functional form is justified against Mosca's inequality. Weights are calibrated on a training split of expert labels — deliberately unlike CARS' Delphi elicitation, because we want weights fitted to a target we can then measure on held-out data. Sensitivity analysis over </a:t>
            </a:r>
            <a:r>
              <a:rPr lang="en-US" sz="800" dirty="0">
                <a:solidFill>
                  <a:srgbClr val="1F1F1F"/>
                </a:solidFill>
                <a:latin typeface="Courier New" pitchFamily="34" charset="0"/>
                <a:ea typeface="Courier New" pitchFamily="34" charset="-122"/>
                <a:cs typeface="Courier New" pitchFamily="34" charset="-120"/>
              </a:rPr>
              <a:t>w</a:t>
            </a:r>
            <a:r>
              <a:rPr lang="en-US" sz="800" dirty="0">
                <a:solidFill>
                  <a:srgbClr val="1F1F1F"/>
                </a:solidFill>
                <a:latin typeface="Carlito" pitchFamily="34" charset="0"/>
                <a:ea typeface="Carlito" pitchFamily="34" charset="-122"/>
                <a:cs typeface="Carlito" pitchFamily="34" charset="-120"/>
              </a:rPr>
              <a:t> is reported; if ranking quality is insensitive to the weights, that is itself a useful finding.</a:t>
            </a:r>
            <a:endParaRPr lang="en-US" sz="800" dirty="0"/>
          </a:p>
        </p:txBody>
      </p:sp>
      <p:sp>
        <p:nvSpPr>
          <p:cNvPr id="24" name="Text 22"/>
          <p:cNvSpPr/>
          <p:nvPr/>
        </p:nvSpPr>
        <p:spPr>
          <a:xfrm>
            <a:off x="514350" y="3475813"/>
            <a:ext cx="8115300" cy="7144"/>
          </a:xfrm>
          <a:prstGeom prst="rect">
            <a:avLst/>
          </a:prstGeom>
          <a:solidFill>
            <a:srgbClr val="D9D9D9"/>
          </a:solidFill>
          <a:ln/>
        </p:spPr>
        <p:txBody>
          <a:bodyPr wrap="square" rtlCol="0" anchor="ctr"/>
          <a:lstStyle/>
          <a:p>
            <a:pPr marL="0" indent="0">
              <a:buNone/>
            </a:pPr>
            <a:endParaRPr lang="en-US" dirty="0"/>
          </a:p>
        </p:txBody>
      </p:sp>
      <p:sp>
        <p:nvSpPr>
          <p:cNvPr id="25" name="Text 23"/>
          <p:cNvSpPr/>
          <p:nvPr/>
        </p:nvSpPr>
        <p:spPr>
          <a:xfrm>
            <a:off x="514350" y="3561208"/>
            <a:ext cx="1345037" cy="204493"/>
          </a:xfrm>
          <a:prstGeom prst="rect">
            <a:avLst/>
          </a:prstGeom>
          <a:noFill/>
          <a:ln/>
        </p:spPr>
        <p:txBody>
          <a:bodyPr wrap="none" lIns="0" tIns="28575" rIns="0" bIns="0" rtlCol="0" anchor="t"/>
          <a:lstStyle/>
          <a:p>
            <a:pPr marL="0" indent="0" algn="l">
              <a:lnSpc>
                <a:spcPts val="928"/>
              </a:lnSpc>
              <a:buNone/>
            </a:pPr>
            <a:r>
              <a:rPr lang="en-US" sz="800" kern="0" spc="136" dirty="0">
                <a:solidFill>
                  <a:srgbClr val="4A4A4A"/>
                </a:solidFill>
                <a:latin typeface="Liberation Sans Narrow" pitchFamily="34" charset="0"/>
                <a:ea typeface="Liberation Sans Narrow" pitchFamily="34" charset="-122"/>
                <a:cs typeface="Liberation Sans Narrow" pitchFamily="34" charset="-120"/>
              </a:rPr>
              <a:t>SUPPRESSION (N3)</a:t>
            </a:r>
            <a:endParaRPr lang="en-US" sz="800" dirty="0"/>
          </a:p>
        </p:txBody>
      </p:sp>
      <p:sp>
        <p:nvSpPr>
          <p:cNvPr id="26" name="Text 24"/>
          <p:cNvSpPr/>
          <p:nvPr/>
        </p:nvSpPr>
        <p:spPr>
          <a:xfrm>
            <a:off x="1938591" y="3572253"/>
            <a:ext cx="7082470" cy="164592"/>
          </a:xfrm>
          <a:prstGeom prst="rect">
            <a:avLst/>
          </a:prstGeom>
          <a:noFill/>
          <a:ln/>
        </p:spPr>
        <p:txBody>
          <a:bodyPr wrap="square" lIns="0" tIns="0" rIns="0" bIns="0" rtlCol="0" anchor="t"/>
          <a:lstStyle/>
          <a:p>
            <a:pPr marL="0" indent="0" algn="l">
              <a:lnSpc>
                <a:spcPts val="1055"/>
              </a:lnSpc>
              <a:buNone/>
            </a:pPr>
            <a:r>
              <a:rPr lang="en-US" sz="703" dirty="0">
                <a:solidFill>
                  <a:srgbClr val="1F1F1F"/>
                </a:solidFill>
                <a:latin typeface="Carlito" pitchFamily="34" charset="0"/>
                <a:ea typeface="Carlito" pitchFamily="34" charset="-122"/>
                <a:cs typeface="Carlito" pitchFamily="34" charset="-120"/>
              </a:rPr>
              <a:t>A finding is reclassified non-security when neither its sources nor its sinks are security-relevant. Reported as a curve over the suppression threshold.</a:t>
            </a:r>
            <a:endParaRPr lang="en-US" sz="703" dirty="0"/>
          </a:p>
        </p:txBody>
      </p:sp>
      <p:sp>
        <p:nvSpPr>
          <p:cNvPr id="27" name="Shape 25"/>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28" name="Text 26"/>
          <p:cNvSpPr/>
          <p:nvPr/>
        </p:nvSpPr>
        <p:spPr>
          <a:xfrm>
            <a:off x="1463040" y="4846320"/>
            <a:ext cx="7132320" cy="137160"/>
          </a:xfrm>
          <a:prstGeom prst="rect">
            <a:avLst/>
          </a:prstGeom>
          <a:noFill/>
          <a:ln/>
        </p:spPr>
        <p:txBody>
          <a:bodyPr wrap="non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07 · METHODOLOGY</a:t>
            </a:r>
            <a:endParaRPr lang="en-US" sz="800" dirty="0"/>
          </a:p>
        </p:txBody>
      </p:sp>
      <p:sp>
        <p:nvSpPr>
          <p:cNvPr id="29" name="Text 27"/>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35 / 39</a:t>
            </a:r>
            <a:endParaRPr lang="en-US" sz="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7303145"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7831782" y="400050"/>
            <a:ext cx="797868" cy="117872"/>
          </a:xfrm>
          <a:prstGeom prst="rect">
            <a:avLst/>
          </a:prstGeom>
          <a:noFill/>
          <a:ln/>
        </p:spPr>
        <p:txBody>
          <a:bodyPr wrap="none" lIns="0" tIns="0" rIns="0" bIns="0" rtlCol="0" anchor="t"/>
          <a:lstStyle/>
          <a:p>
            <a:pPr marL="0" indent="0" algn="l">
              <a:lnSpc>
                <a:spcPts val="928"/>
              </a:lnSpc>
              <a:buNone/>
            </a:pPr>
            <a:r>
              <a:rPr lang="en-US" sz="619" kern="0" spc="99" dirty="0">
                <a:solidFill>
                  <a:srgbClr val="4A4A4A"/>
                </a:solidFill>
                <a:latin typeface="Carlito" pitchFamily="34" charset="0"/>
                <a:ea typeface="Carlito" pitchFamily="34" charset="-122"/>
                <a:cs typeface="Carlito" pitchFamily="34" charset="-120"/>
              </a:rPr>
              <a:t>REVIEW REPORT I</a:t>
            </a:r>
            <a:endParaRPr lang="en-US" sz="619" dirty="0"/>
          </a:p>
        </p:txBody>
      </p:sp>
      <p:sp>
        <p:nvSpPr>
          <p:cNvPr id="5" name="Text 3"/>
          <p:cNvSpPr/>
          <p:nvPr/>
        </p:nvSpPr>
        <p:spPr>
          <a:xfrm>
            <a:off x="514350" y="796528"/>
            <a:ext cx="8629650" cy="147590"/>
          </a:xfrm>
          <a:prstGeom prst="rect">
            <a:avLst/>
          </a:prstGeom>
          <a:noFill/>
          <a:ln/>
        </p:spPr>
        <p:txBody>
          <a:bodyPr wrap="square" lIns="0" tIns="0" rIns="0" bIns="0" rtlCol="0" anchor="t">
            <a:normAutofit/>
          </a:bodyPr>
          <a:lstStyle/>
          <a:p>
            <a:pPr marL="0" indent="0" algn="l">
              <a:lnSpc>
                <a:spcPts val="928"/>
              </a:lnSpc>
              <a:buNone/>
            </a:pPr>
            <a:r>
              <a:rPr lang="en-US" sz="800" kern="0" spc="136" dirty="0">
                <a:solidFill>
                  <a:srgbClr val="4A4A4A"/>
                </a:solidFill>
                <a:latin typeface="Carlito" pitchFamily="34" charset="0"/>
                <a:ea typeface="Carlito" pitchFamily="34" charset="-122"/>
                <a:cs typeface="Carlito" pitchFamily="34" charset="-120"/>
              </a:rPr>
              <a:t>7.5 STAGE 4 — PATCH SYNTHESIS &amp; DIFFERENTIAL VERIFICATION</a:t>
            </a:r>
            <a:endParaRPr lang="en-US" sz="800" dirty="0"/>
          </a:p>
        </p:txBody>
      </p:sp>
      <p:sp>
        <p:nvSpPr>
          <p:cNvPr id="6" name="Text 4"/>
          <p:cNvSpPr/>
          <p:nvPr/>
        </p:nvSpPr>
        <p:spPr>
          <a:xfrm>
            <a:off x="514350" y="971550"/>
            <a:ext cx="8629650" cy="345619"/>
          </a:xfrm>
          <a:prstGeom prst="rect">
            <a:avLst/>
          </a:prstGeom>
          <a:noFill/>
          <a:ln/>
        </p:spPr>
        <p:txBody>
          <a:bodyPr wrap="squar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Three gates. All required.</a:t>
            </a:r>
            <a:endParaRPr lang="en-US" sz="2250" dirty="0"/>
          </a:p>
        </p:txBody>
      </p:sp>
      <p:sp>
        <p:nvSpPr>
          <p:cNvPr id="7" name="Text 5"/>
          <p:cNvSpPr/>
          <p:nvPr/>
        </p:nvSpPr>
        <p:spPr>
          <a:xfrm>
            <a:off x="514350" y="1405868"/>
            <a:ext cx="400050" cy="28575"/>
          </a:xfrm>
          <a:prstGeom prst="rect">
            <a:avLst/>
          </a:prstGeom>
          <a:solidFill>
            <a:srgbClr val="0A0A0A"/>
          </a:solidFill>
          <a:ln/>
        </p:spPr>
        <p:txBody>
          <a:bodyPr wrap="square" rtlCol="0" anchor="ctr"/>
          <a:lstStyle/>
          <a:p>
            <a:pPr marL="0" indent="0">
              <a:buNone/>
            </a:pPr>
            <a:endParaRPr lang="en-US" dirty="0"/>
          </a:p>
        </p:txBody>
      </p:sp>
      <p:sp>
        <p:nvSpPr>
          <p:cNvPr id="8" name="Text 6"/>
          <p:cNvSpPr/>
          <p:nvPr/>
        </p:nvSpPr>
        <p:spPr>
          <a:xfrm>
            <a:off x="514350" y="1548743"/>
            <a:ext cx="7858125" cy="340106"/>
          </a:xfrm>
          <a:prstGeom prst="rect">
            <a:avLst/>
          </a:prstGeom>
          <a:noFill/>
          <a:ln/>
        </p:spPr>
        <p:txBody>
          <a:bodyPr wrap="square" lIns="0" tIns="0" rIns="0" bIns="0" rtlCol="0" anchor="t"/>
          <a:lstStyle/>
          <a:p>
            <a:pPr marL="0" indent="0" algn="l">
              <a:lnSpc>
                <a:spcPts val="1177"/>
              </a:lnSpc>
              <a:buNone/>
            </a:pPr>
            <a:r>
              <a:rPr lang="en-US" sz="800" dirty="0">
                <a:solidFill>
                  <a:srgbClr val="1F1F1F"/>
                </a:solidFill>
                <a:latin typeface="Carlito" pitchFamily="34" charset="0"/>
                <a:ea typeface="Carlito" pitchFamily="34" charset="-122"/>
                <a:cs typeface="Carlito" pitchFamily="34" charset="-120"/>
              </a:rPr>
              <a:t>Templates per migration class (TLS configuration, KEM handshake, signature scheme, envelope encryption) instantiated with liboqs hybrid constructions. An LLM is used only for localisation and adaptation; the template constrains the cryptographic content.</a:t>
            </a:r>
            <a:endParaRPr lang="en-US" sz="800" dirty="0"/>
          </a:p>
        </p:txBody>
      </p:sp>
      <p:sp>
        <p:nvSpPr>
          <p:cNvPr id="9" name="Shape 7"/>
          <p:cNvSpPr/>
          <p:nvPr/>
        </p:nvSpPr>
        <p:spPr>
          <a:xfrm>
            <a:off x="514350" y="1965536"/>
            <a:ext cx="8115300" cy="0"/>
          </a:xfrm>
          <a:prstGeom prst="line">
            <a:avLst/>
          </a:prstGeom>
          <a:noFill/>
          <a:ln w="7144">
            <a:solidFill>
              <a:srgbClr val="0A0A0A"/>
            </a:solidFill>
            <a:prstDash val="solid"/>
          </a:ln>
        </p:spPr>
        <p:txBody>
          <a:bodyPr/>
          <a:lstStyle/>
          <a:p>
            <a:endParaRPr lang="en-US"/>
          </a:p>
        </p:txBody>
      </p:sp>
      <p:sp>
        <p:nvSpPr>
          <p:cNvPr id="10" name="Shape 8"/>
          <p:cNvSpPr/>
          <p:nvPr/>
        </p:nvSpPr>
        <p:spPr>
          <a:xfrm>
            <a:off x="514350" y="2476537"/>
            <a:ext cx="8115300" cy="0"/>
          </a:xfrm>
          <a:prstGeom prst="line">
            <a:avLst/>
          </a:prstGeom>
          <a:noFill/>
          <a:ln w="7144">
            <a:solidFill>
              <a:srgbClr val="0A0A0A"/>
            </a:solidFill>
            <a:prstDash val="solid"/>
          </a:ln>
        </p:spPr>
        <p:txBody>
          <a:bodyPr/>
          <a:lstStyle/>
          <a:p>
            <a:endParaRPr lang="en-US"/>
          </a:p>
        </p:txBody>
      </p:sp>
      <p:sp>
        <p:nvSpPr>
          <p:cNvPr id="11" name="Shape 9"/>
          <p:cNvSpPr/>
          <p:nvPr/>
        </p:nvSpPr>
        <p:spPr>
          <a:xfrm>
            <a:off x="1196578" y="1969108"/>
            <a:ext cx="0" cy="503858"/>
          </a:xfrm>
          <a:prstGeom prst="line">
            <a:avLst/>
          </a:prstGeom>
          <a:noFill/>
          <a:ln w="7144">
            <a:solidFill>
              <a:srgbClr val="0A0A0A"/>
            </a:solidFill>
            <a:prstDash val="solid"/>
          </a:ln>
        </p:spPr>
        <p:txBody>
          <a:bodyPr/>
          <a:lstStyle/>
          <a:p>
            <a:endParaRPr lang="en-US"/>
          </a:p>
        </p:txBody>
      </p:sp>
      <p:sp>
        <p:nvSpPr>
          <p:cNvPr id="12" name="Text 10"/>
          <p:cNvSpPr/>
          <p:nvPr/>
        </p:nvSpPr>
        <p:spPr>
          <a:xfrm>
            <a:off x="753666" y="2071018"/>
            <a:ext cx="439341" cy="324041"/>
          </a:xfrm>
          <a:prstGeom prst="rect">
            <a:avLst/>
          </a:prstGeom>
          <a:noFill/>
          <a:ln/>
        </p:spPr>
        <p:txBody>
          <a:bodyPr wrap="none" lIns="0" tIns="0" rIns="0" bIns="0" rtlCol="0" anchor="t"/>
          <a:lstStyle/>
          <a:p>
            <a:pPr marL="0" indent="0" algn="l">
              <a:lnSpc>
                <a:spcPts val="2363"/>
              </a:lnSpc>
              <a:buNone/>
            </a:pPr>
            <a:r>
              <a:rPr lang="en-US" sz="1575" dirty="0">
                <a:solidFill>
                  <a:srgbClr val="0A0A0A"/>
                </a:solidFill>
                <a:latin typeface="Liberation Sans Narrow" pitchFamily="34" charset="0"/>
                <a:ea typeface="Liberation Sans Narrow" pitchFamily="34" charset="-122"/>
                <a:cs typeface="Liberation Sans Narrow" pitchFamily="34" charset="-120"/>
              </a:rPr>
              <a:t>01</a:t>
            </a:r>
            <a:endParaRPr lang="en-US" sz="1575" dirty="0"/>
          </a:p>
        </p:txBody>
      </p:sp>
      <p:sp>
        <p:nvSpPr>
          <p:cNvPr id="13" name="Text 11"/>
          <p:cNvSpPr/>
          <p:nvPr/>
        </p:nvSpPr>
        <p:spPr>
          <a:xfrm>
            <a:off x="1343025" y="2019663"/>
            <a:ext cx="6920097" cy="165672"/>
          </a:xfrm>
          <a:prstGeom prst="rect">
            <a:avLst/>
          </a:prstGeom>
          <a:noFill/>
          <a:ln/>
        </p:spPr>
        <p:txBody>
          <a:bodyPr wrap="square" lIns="0" tIns="0" rIns="0" bIns="0" rtlCol="0" anchor="t">
            <a:normAutofit/>
          </a:bodyPr>
          <a:lstStyle/>
          <a:p>
            <a:pPr marL="0" indent="0" algn="l">
              <a:lnSpc>
                <a:spcPts val="1296"/>
              </a:lnSpc>
              <a:buNone/>
            </a:pPr>
            <a:r>
              <a:rPr lang="en-US" sz="1013" kern="0" spc="-6" dirty="0">
                <a:solidFill>
                  <a:srgbClr val="0A0A0A"/>
                </a:solidFill>
                <a:latin typeface="Carlito" pitchFamily="34" charset="0"/>
                <a:ea typeface="Carlito" pitchFamily="34" charset="-122"/>
                <a:cs typeface="Carlito" pitchFamily="34" charset="-120"/>
              </a:rPr>
              <a:t>DIFFERENTIAL EQUIVALENCE</a:t>
            </a:r>
            <a:endParaRPr lang="en-US" sz="1013" dirty="0"/>
          </a:p>
        </p:txBody>
      </p:sp>
      <p:sp>
        <p:nvSpPr>
          <p:cNvPr id="14" name="Text 12"/>
          <p:cNvSpPr/>
          <p:nvPr/>
        </p:nvSpPr>
        <p:spPr>
          <a:xfrm>
            <a:off x="1343025" y="2198699"/>
            <a:ext cx="6407497" cy="164592"/>
          </a:xfrm>
          <a:prstGeom prst="rect">
            <a:avLst/>
          </a:prstGeom>
          <a:noFill/>
          <a:ln/>
        </p:spPr>
        <p:txBody>
          <a:bodyPr wrap="square" lIns="0" tIns="0" rIns="0" bIns="0" rtlCol="0" anchor="t"/>
          <a:lstStyle/>
          <a:p>
            <a:pPr marL="0" indent="0" algn="l">
              <a:lnSpc>
                <a:spcPts val="1097"/>
              </a:lnSpc>
              <a:buNone/>
            </a:pPr>
            <a:r>
              <a:rPr lang="en-US" sz="731" dirty="0">
                <a:solidFill>
                  <a:srgbClr val="1F1F1F"/>
                </a:solidFill>
                <a:latin typeface="Carlito" pitchFamily="34" charset="0"/>
                <a:ea typeface="Carlito" pitchFamily="34" charset="-122"/>
                <a:cs typeface="Carlito" pitchFamily="34" charset="-120"/>
              </a:rPr>
              <a:t>Original and patched implementations exercised on the same inputs. Observable behaviour (plaintext recovered, signature validity, error classes) must match.</a:t>
            </a:r>
            <a:endParaRPr lang="en-US" sz="731" dirty="0"/>
          </a:p>
        </p:txBody>
      </p:sp>
      <p:sp>
        <p:nvSpPr>
          <p:cNvPr id="15" name="Shape 13"/>
          <p:cNvSpPr/>
          <p:nvPr/>
        </p:nvSpPr>
        <p:spPr>
          <a:xfrm>
            <a:off x="514350" y="2987539"/>
            <a:ext cx="8115300" cy="0"/>
          </a:xfrm>
          <a:prstGeom prst="line">
            <a:avLst/>
          </a:prstGeom>
          <a:noFill/>
          <a:ln w="7144">
            <a:solidFill>
              <a:srgbClr val="0A0A0A"/>
            </a:solidFill>
            <a:prstDash val="solid"/>
          </a:ln>
        </p:spPr>
        <p:txBody>
          <a:bodyPr/>
          <a:lstStyle/>
          <a:p>
            <a:endParaRPr lang="en-US"/>
          </a:p>
        </p:txBody>
      </p:sp>
      <p:sp>
        <p:nvSpPr>
          <p:cNvPr id="16" name="Shape 14"/>
          <p:cNvSpPr/>
          <p:nvPr/>
        </p:nvSpPr>
        <p:spPr>
          <a:xfrm>
            <a:off x="1196578" y="2480109"/>
            <a:ext cx="0" cy="503858"/>
          </a:xfrm>
          <a:prstGeom prst="line">
            <a:avLst/>
          </a:prstGeom>
          <a:noFill/>
          <a:ln w="7144">
            <a:solidFill>
              <a:srgbClr val="0A0A0A"/>
            </a:solidFill>
            <a:prstDash val="solid"/>
          </a:ln>
        </p:spPr>
        <p:txBody>
          <a:bodyPr/>
          <a:lstStyle/>
          <a:p>
            <a:endParaRPr lang="en-US"/>
          </a:p>
        </p:txBody>
      </p:sp>
      <p:sp>
        <p:nvSpPr>
          <p:cNvPr id="17" name="Text 15"/>
          <p:cNvSpPr/>
          <p:nvPr/>
        </p:nvSpPr>
        <p:spPr>
          <a:xfrm>
            <a:off x="753666" y="2582019"/>
            <a:ext cx="439341" cy="324041"/>
          </a:xfrm>
          <a:prstGeom prst="rect">
            <a:avLst/>
          </a:prstGeom>
          <a:noFill/>
          <a:ln/>
        </p:spPr>
        <p:txBody>
          <a:bodyPr wrap="none" lIns="0" tIns="0" rIns="0" bIns="0" rtlCol="0" anchor="t"/>
          <a:lstStyle/>
          <a:p>
            <a:pPr marL="0" indent="0" algn="l">
              <a:lnSpc>
                <a:spcPts val="2363"/>
              </a:lnSpc>
              <a:buNone/>
            </a:pPr>
            <a:r>
              <a:rPr lang="en-US" sz="1575" dirty="0">
                <a:solidFill>
                  <a:srgbClr val="0A0A0A"/>
                </a:solidFill>
                <a:latin typeface="Liberation Sans Narrow" pitchFamily="34" charset="0"/>
                <a:ea typeface="Liberation Sans Narrow" pitchFamily="34" charset="-122"/>
                <a:cs typeface="Liberation Sans Narrow" pitchFamily="34" charset="-120"/>
              </a:rPr>
              <a:t>02</a:t>
            </a:r>
            <a:endParaRPr lang="en-US" sz="1575" dirty="0"/>
          </a:p>
        </p:txBody>
      </p:sp>
      <p:sp>
        <p:nvSpPr>
          <p:cNvPr id="18" name="Text 16"/>
          <p:cNvSpPr/>
          <p:nvPr/>
        </p:nvSpPr>
        <p:spPr>
          <a:xfrm>
            <a:off x="1343025" y="2558800"/>
            <a:ext cx="6531559" cy="165672"/>
          </a:xfrm>
          <a:prstGeom prst="rect">
            <a:avLst/>
          </a:prstGeom>
          <a:noFill/>
          <a:ln/>
        </p:spPr>
        <p:txBody>
          <a:bodyPr wrap="none" lIns="0" tIns="0" rIns="0" bIns="0" rtlCol="0" anchor="t">
            <a:normAutofit/>
          </a:bodyPr>
          <a:lstStyle/>
          <a:p>
            <a:pPr marL="0" indent="0" algn="l">
              <a:lnSpc>
                <a:spcPts val="1296"/>
              </a:lnSpc>
              <a:buNone/>
            </a:pPr>
            <a:r>
              <a:rPr lang="en-US" sz="1013" kern="0" spc="-6" dirty="0">
                <a:solidFill>
                  <a:srgbClr val="0A0A0A"/>
                </a:solidFill>
                <a:latin typeface="Carlito" pitchFamily="34" charset="0"/>
                <a:ea typeface="Carlito" pitchFamily="34" charset="-122"/>
                <a:cs typeface="Carlito" pitchFamily="34" charset="-120"/>
              </a:rPr>
              <a:t>PROPERTY TESTS</a:t>
            </a:r>
            <a:endParaRPr lang="en-US" sz="1013" dirty="0"/>
          </a:p>
        </p:txBody>
      </p:sp>
      <p:sp>
        <p:nvSpPr>
          <p:cNvPr id="19" name="Text 17"/>
          <p:cNvSpPr/>
          <p:nvPr/>
        </p:nvSpPr>
        <p:spPr>
          <a:xfrm>
            <a:off x="1343025" y="2709701"/>
            <a:ext cx="6220532" cy="164592"/>
          </a:xfrm>
          <a:prstGeom prst="rect">
            <a:avLst/>
          </a:prstGeom>
          <a:noFill/>
          <a:ln/>
        </p:spPr>
        <p:txBody>
          <a:bodyPr wrap="square" lIns="0" tIns="0" rIns="0" bIns="0" rtlCol="0" anchor="t"/>
          <a:lstStyle/>
          <a:p>
            <a:pPr marL="0" indent="0" algn="l">
              <a:lnSpc>
                <a:spcPts val="1097"/>
              </a:lnSpc>
              <a:buNone/>
            </a:pPr>
            <a:r>
              <a:rPr lang="en-US" sz="731" dirty="0">
                <a:solidFill>
                  <a:srgbClr val="1F1F1F"/>
                </a:solidFill>
                <a:latin typeface="Carlito" pitchFamily="34" charset="0"/>
                <a:ea typeface="Carlito" pitchFamily="34" charset="-122"/>
                <a:cs typeface="Carlito" pitchFamily="34" charset="-120"/>
              </a:rPr>
              <a:t>Round-trip, tamper-detection, wrong-key rejection, parameter-downgrade detection. Explicitly the checks a round-trip test alone cannot catch (P3, Flaw 2).</a:t>
            </a:r>
            <a:endParaRPr lang="en-US" sz="731" dirty="0"/>
          </a:p>
        </p:txBody>
      </p:sp>
      <p:sp>
        <p:nvSpPr>
          <p:cNvPr id="20" name="Shape 18"/>
          <p:cNvSpPr/>
          <p:nvPr/>
        </p:nvSpPr>
        <p:spPr>
          <a:xfrm>
            <a:off x="514350" y="3498540"/>
            <a:ext cx="8115300" cy="0"/>
          </a:xfrm>
          <a:prstGeom prst="line">
            <a:avLst/>
          </a:prstGeom>
          <a:noFill/>
          <a:ln w="7144">
            <a:solidFill>
              <a:srgbClr val="0A0A0A"/>
            </a:solidFill>
            <a:prstDash val="solid"/>
          </a:ln>
        </p:spPr>
        <p:txBody>
          <a:bodyPr/>
          <a:lstStyle/>
          <a:p>
            <a:endParaRPr lang="en-US"/>
          </a:p>
        </p:txBody>
      </p:sp>
      <p:sp>
        <p:nvSpPr>
          <p:cNvPr id="21" name="Shape 19"/>
          <p:cNvSpPr/>
          <p:nvPr/>
        </p:nvSpPr>
        <p:spPr>
          <a:xfrm>
            <a:off x="1196578" y="2991110"/>
            <a:ext cx="0" cy="503858"/>
          </a:xfrm>
          <a:prstGeom prst="line">
            <a:avLst/>
          </a:prstGeom>
          <a:noFill/>
          <a:ln w="7144">
            <a:solidFill>
              <a:srgbClr val="0A0A0A"/>
            </a:solidFill>
            <a:prstDash val="solid"/>
          </a:ln>
        </p:spPr>
        <p:txBody>
          <a:bodyPr/>
          <a:lstStyle/>
          <a:p>
            <a:endParaRPr lang="en-US"/>
          </a:p>
        </p:txBody>
      </p:sp>
      <p:sp>
        <p:nvSpPr>
          <p:cNvPr id="22" name="Text 20"/>
          <p:cNvSpPr/>
          <p:nvPr/>
        </p:nvSpPr>
        <p:spPr>
          <a:xfrm>
            <a:off x="753666" y="3093021"/>
            <a:ext cx="439341" cy="324041"/>
          </a:xfrm>
          <a:prstGeom prst="rect">
            <a:avLst/>
          </a:prstGeom>
          <a:noFill/>
          <a:ln/>
        </p:spPr>
        <p:txBody>
          <a:bodyPr wrap="none" lIns="0" tIns="0" rIns="0" bIns="0" rtlCol="0" anchor="t"/>
          <a:lstStyle/>
          <a:p>
            <a:pPr marL="0" indent="0" algn="l">
              <a:lnSpc>
                <a:spcPts val="2363"/>
              </a:lnSpc>
              <a:buNone/>
            </a:pPr>
            <a:r>
              <a:rPr lang="en-US" sz="1575" dirty="0">
                <a:solidFill>
                  <a:srgbClr val="0A0A0A"/>
                </a:solidFill>
                <a:latin typeface="Liberation Sans Narrow" pitchFamily="34" charset="0"/>
                <a:ea typeface="Liberation Sans Narrow" pitchFamily="34" charset="-122"/>
                <a:cs typeface="Liberation Sans Narrow" pitchFamily="34" charset="-120"/>
              </a:rPr>
              <a:t>03</a:t>
            </a:r>
            <a:endParaRPr lang="en-US" sz="1575" dirty="0"/>
          </a:p>
        </p:txBody>
      </p:sp>
      <p:sp>
        <p:nvSpPr>
          <p:cNvPr id="23" name="Text 21"/>
          <p:cNvSpPr/>
          <p:nvPr/>
        </p:nvSpPr>
        <p:spPr>
          <a:xfrm>
            <a:off x="1343025" y="3076835"/>
            <a:ext cx="6006259" cy="165672"/>
          </a:xfrm>
          <a:prstGeom prst="rect">
            <a:avLst/>
          </a:prstGeom>
          <a:noFill/>
          <a:ln/>
        </p:spPr>
        <p:txBody>
          <a:bodyPr wrap="none" lIns="0" tIns="0" rIns="0" bIns="0" rtlCol="0" anchor="t">
            <a:normAutofit/>
          </a:bodyPr>
          <a:lstStyle/>
          <a:p>
            <a:pPr marL="0" indent="0" algn="l">
              <a:lnSpc>
                <a:spcPts val="1296"/>
              </a:lnSpc>
              <a:buNone/>
            </a:pPr>
            <a:r>
              <a:rPr lang="en-US" sz="1013" kern="0" spc="-6" dirty="0">
                <a:solidFill>
                  <a:srgbClr val="0A0A0A"/>
                </a:solidFill>
                <a:latin typeface="Carlito" pitchFamily="34" charset="0"/>
                <a:ea typeface="Carlito" pitchFamily="34" charset="-122"/>
                <a:cs typeface="Carlito" pitchFamily="34" charset="-120"/>
              </a:rPr>
              <a:t>INTEROPERABILITY</a:t>
            </a:r>
            <a:endParaRPr lang="en-US" sz="1013" dirty="0"/>
          </a:p>
        </p:txBody>
      </p:sp>
      <p:sp>
        <p:nvSpPr>
          <p:cNvPr id="24" name="Text 22"/>
          <p:cNvSpPr/>
          <p:nvPr/>
        </p:nvSpPr>
        <p:spPr>
          <a:xfrm>
            <a:off x="1343025" y="3269940"/>
            <a:ext cx="5720246" cy="164592"/>
          </a:xfrm>
          <a:prstGeom prst="rect">
            <a:avLst/>
          </a:prstGeom>
          <a:noFill/>
          <a:ln/>
        </p:spPr>
        <p:txBody>
          <a:bodyPr wrap="square" lIns="0" tIns="0" rIns="0" bIns="0" rtlCol="0" anchor="t"/>
          <a:lstStyle/>
          <a:p>
            <a:pPr marL="0" indent="0" algn="l">
              <a:lnSpc>
                <a:spcPts val="1097"/>
              </a:lnSpc>
              <a:buNone/>
            </a:pPr>
            <a:r>
              <a:rPr lang="en-US" sz="731" dirty="0">
                <a:solidFill>
                  <a:srgbClr val="1F1F1F"/>
                </a:solidFill>
                <a:latin typeface="Carlito" pitchFamily="34" charset="0"/>
                <a:ea typeface="Carlito" pitchFamily="34" charset="-122"/>
                <a:cs typeface="Carlito" pitchFamily="34" charset="-120"/>
              </a:rPr>
              <a:t>Patched peer must negotiate successfully with an unmigrated peer under hybrid mode, and must </a:t>
            </a:r>
            <a:r>
              <a:rPr lang="en-US" sz="731" dirty="0">
                <a:solidFill>
                  <a:srgbClr val="0A0A0A"/>
                </a:solidFill>
                <a:latin typeface="Carlito" pitchFamily="34" charset="0"/>
                <a:ea typeface="Carlito" pitchFamily="34" charset="-122"/>
                <a:cs typeface="Carlito" pitchFamily="34" charset="-120"/>
              </a:rPr>
              <a:t>FAIL CLOSED</a:t>
            </a:r>
            <a:r>
              <a:rPr lang="en-US" sz="731" dirty="0">
                <a:solidFill>
                  <a:srgbClr val="1F1F1F"/>
                </a:solidFill>
                <a:latin typeface="Carlito" pitchFamily="34" charset="0"/>
                <a:ea typeface="Carlito" pitchFamily="34" charset="-122"/>
                <a:cs typeface="Carlito" pitchFamily="34" charset="-120"/>
              </a:rPr>
              <a:t> against a downgrade attempt.</a:t>
            </a:r>
            <a:endParaRPr lang="en-US" sz="731" dirty="0"/>
          </a:p>
        </p:txBody>
      </p:sp>
      <p:sp>
        <p:nvSpPr>
          <p:cNvPr id="25" name="Shape 23"/>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26" name="Text 24"/>
          <p:cNvSpPr/>
          <p:nvPr/>
        </p:nvSpPr>
        <p:spPr>
          <a:xfrm>
            <a:off x="1463040" y="4846320"/>
            <a:ext cx="7132320" cy="137160"/>
          </a:xfrm>
          <a:prstGeom prst="rect">
            <a:avLst/>
          </a:prstGeom>
          <a:noFill/>
          <a:ln/>
        </p:spPr>
        <p:txBody>
          <a:bodyPr wrap="non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07 · METHODOLOGY</a:t>
            </a:r>
            <a:endParaRPr lang="en-US" sz="800" dirty="0"/>
          </a:p>
        </p:txBody>
      </p:sp>
      <p:sp>
        <p:nvSpPr>
          <p:cNvPr id="27" name="Text 25"/>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36 / 39</a:t>
            </a:r>
            <a:endParaRPr lang="en-US" sz="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7303145"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7831782" y="400050"/>
            <a:ext cx="797868" cy="117872"/>
          </a:xfrm>
          <a:prstGeom prst="rect">
            <a:avLst/>
          </a:prstGeom>
          <a:noFill/>
          <a:ln/>
        </p:spPr>
        <p:txBody>
          <a:bodyPr wrap="none" lIns="0" tIns="0" rIns="0" bIns="0" rtlCol="0" anchor="t"/>
          <a:lstStyle/>
          <a:p>
            <a:pPr marL="0" indent="0" algn="l">
              <a:lnSpc>
                <a:spcPts val="928"/>
              </a:lnSpc>
              <a:buNone/>
            </a:pPr>
            <a:r>
              <a:rPr lang="en-US" sz="619" kern="0" spc="99" dirty="0">
                <a:solidFill>
                  <a:srgbClr val="4A4A4A"/>
                </a:solidFill>
                <a:latin typeface="Carlito" pitchFamily="34" charset="0"/>
                <a:ea typeface="Carlito" pitchFamily="34" charset="-122"/>
                <a:cs typeface="Carlito" pitchFamily="34" charset="-120"/>
              </a:rPr>
              <a:t>REVIEW REPORT I</a:t>
            </a:r>
            <a:endParaRPr lang="en-US" sz="619" dirty="0"/>
          </a:p>
        </p:txBody>
      </p:sp>
      <p:sp>
        <p:nvSpPr>
          <p:cNvPr id="5" name="Text 3"/>
          <p:cNvSpPr/>
          <p:nvPr/>
        </p:nvSpPr>
        <p:spPr>
          <a:xfrm>
            <a:off x="514350" y="796528"/>
            <a:ext cx="8629650" cy="147590"/>
          </a:xfrm>
          <a:prstGeom prst="rect">
            <a:avLst/>
          </a:prstGeom>
          <a:noFill/>
          <a:ln/>
        </p:spPr>
        <p:txBody>
          <a:bodyPr wrap="none" lIns="0" tIns="0" rIns="0" bIns="0" rtlCol="0" anchor="t">
            <a:normAutofit/>
          </a:bodyPr>
          <a:lstStyle/>
          <a:p>
            <a:pPr marL="0" indent="0" algn="l">
              <a:lnSpc>
                <a:spcPts val="928"/>
              </a:lnSpc>
              <a:buNone/>
            </a:pPr>
            <a:r>
              <a:rPr lang="en-US" sz="800" kern="0" spc="136" dirty="0">
                <a:solidFill>
                  <a:srgbClr val="4A4A4A"/>
                </a:solidFill>
                <a:latin typeface="Liberation Sans Narrow" pitchFamily="34" charset="0"/>
                <a:ea typeface="Liberation Sans Narrow" pitchFamily="34" charset="-122"/>
                <a:cs typeface="Liberation Sans Narrow" pitchFamily="34" charset="-120"/>
              </a:rPr>
              <a:t>7.6 EVALUATION PLAN</a:t>
            </a:r>
            <a:endParaRPr lang="en-US" sz="800" dirty="0"/>
          </a:p>
        </p:txBody>
      </p:sp>
      <p:sp>
        <p:nvSpPr>
          <p:cNvPr id="6" name="Text 4"/>
          <p:cNvSpPr/>
          <p:nvPr/>
        </p:nvSpPr>
        <p:spPr>
          <a:xfrm>
            <a:off x="514350" y="971550"/>
            <a:ext cx="8521065" cy="345619"/>
          </a:xfrm>
          <a:prstGeom prst="rect">
            <a:avLst/>
          </a:prstGeom>
          <a:noFill/>
          <a:ln/>
        </p:spPr>
        <p:txBody>
          <a:bodyPr wrap="none" lIns="0" tIns="0" rIns="0" bIns="0" rtlCol="0" anchor="t"/>
          <a:lstStyle/>
          <a:p>
            <a:pPr marL="0" indent="0" algn="l">
              <a:lnSpc>
                <a:spcPts val="2520"/>
              </a:lnSpc>
              <a:buNone/>
            </a:pPr>
            <a:r>
              <a:rPr lang="en-US" sz="2250" b="1" kern="0" spc="-40" dirty="0">
                <a:solidFill>
                  <a:srgbClr val="0A0A0A"/>
                </a:solidFill>
                <a:latin typeface="Carlito" pitchFamily="34" charset="0"/>
                <a:ea typeface="Carlito" pitchFamily="34" charset="-122"/>
                <a:cs typeface="Carlito" pitchFamily="34" charset="-120"/>
              </a:rPr>
              <a:t>Six research questions.</a:t>
            </a:r>
            <a:endParaRPr lang="en-US" sz="2250" dirty="0"/>
          </a:p>
        </p:txBody>
      </p:sp>
      <p:sp>
        <p:nvSpPr>
          <p:cNvPr id="7" name="Text 5"/>
          <p:cNvSpPr/>
          <p:nvPr/>
        </p:nvSpPr>
        <p:spPr>
          <a:xfrm>
            <a:off x="514350" y="1405868"/>
            <a:ext cx="400050" cy="28575"/>
          </a:xfrm>
          <a:prstGeom prst="rect">
            <a:avLst/>
          </a:prstGeom>
          <a:solidFill>
            <a:srgbClr val="0A0A0A"/>
          </a:solidFill>
          <a:ln/>
        </p:spPr>
        <p:txBody>
          <a:bodyPr wrap="square" rtlCol="0" anchor="ctr"/>
          <a:lstStyle/>
          <a:p>
            <a:pPr marL="0" indent="0">
              <a:buNone/>
            </a:pPr>
            <a:endParaRPr lang="en-US"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14350" y="1548743"/>
          <a:ext cx="8108156" cy="2076452"/>
        </p:xfrm>
        <a:graphic>
          <a:graphicData uri="http://schemas.openxmlformats.org/drawingml/2006/table">
            <a:tbl>
              <a:tblPr/>
              <a:tblGrid>
                <a:gridCol w="2432447">
                  <a:extLst>
                    <a:ext uri="{9D8B030D-6E8A-4147-A177-3AD203B41FA5}">
                      <a16:colId xmlns:a16="http://schemas.microsoft.com/office/drawing/2014/main" val="20000"/>
                    </a:ext>
                  </a:extLst>
                </a:gridCol>
                <a:gridCol w="2270261">
                  <a:extLst>
                    <a:ext uri="{9D8B030D-6E8A-4147-A177-3AD203B41FA5}">
                      <a16:colId xmlns:a16="http://schemas.microsoft.com/office/drawing/2014/main" val="20001"/>
                    </a:ext>
                  </a:extLst>
                </a:gridCol>
                <a:gridCol w="3405448">
                  <a:extLst>
                    <a:ext uri="{9D8B030D-6E8A-4147-A177-3AD203B41FA5}">
                      <a16:colId xmlns:a16="http://schemas.microsoft.com/office/drawing/2014/main" val="20002"/>
                    </a:ext>
                  </a:extLst>
                </a:gridCol>
              </a:tblGrid>
              <a:tr h="0">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RESEARCH QUESTION</a:t>
                      </a:r>
                      <a:endParaRPr lang="en-US" sz="800" dirty="0">
                        <a:latin typeface="Carlito" charset="0"/>
                        <a:ea typeface="Carlito" charset="0"/>
                        <a:cs typeface="Carlito" charset="0"/>
                      </a:endParaRPr>
                    </a:p>
                  </a:txBody>
                  <a:tcPr marL="57150" marR="71438" marT="71438" marB="5715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METRIC</a:t>
                      </a:r>
                      <a:endParaRPr lang="en-US" sz="800" dirty="0">
                        <a:latin typeface="Carlito" charset="0"/>
                        <a:ea typeface="Carlito" charset="0"/>
                        <a:cs typeface="Carlito" charset="0"/>
                      </a:endParaRPr>
                    </a:p>
                  </a:txBody>
                  <a:tcPr marL="57150" marR="71438" marT="71438" marB="5715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BASELINE / TARGET</a:t>
                      </a:r>
                      <a:endParaRPr lang="en-US" sz="800" dirty="0">
                        <a:latin typeface="Carlito" charset="0"/>
                        <a:ea typeface="Carlito" charset="0"/>
                        <a:cs typeface="Carlito" charset="0"/>
                      </a:endParaRPr>
                    </a:p>
                  </a:txBody>
                  <a:tcPr marL="57150" marR="71438" marT="71438" marB="5715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A0A0A"/>
                    </a:solidFill>
                  </a:tcPr>
                </a:tc>
                <a:extLst>
                  <a:ext uri="{0D108BD9-81ED-4DB2-BD59-A6C34878D82A}">
                    <a16:rowId xmlns:a16="http://schemas.microsoft.com/office/drawing/2014/main" val="10000"/>
                  </a:ext>
                </a:extLst>
              </a:tr>
              <a:tr h="0">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Do we discover cryptographic assets as well as the state of the art?</a:t>
                      </a:r>
                      <a:endParaRPr lang="en-US" sz="800" dirty="0">
                        <a:latin typeface="Carlito" charset="0"/>
                        <a:ea typeface="Carlito" charset="0"/>
                        <a:cs typeface="Carlito" charset="0"/>
                      </a:endParaRPr>
                    </a:p>
                  </a:txBody>
                  <a:tcPr marL="50006" marR="71438" marT="71438" marB="50006">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Precision / recall / F1 on labelled benchmark</a:t>
                      </a:r>
                      <a:endParaRPr lang="en-US" sz="800" dirty="0">
                        <a:latin typeface="Carlito" charset="0"/>
                        <a:ea typeface="Carlito" charset="0"/>
                        <a:cs typeface="Carlito" charset="0"/>
                      </a:endParaRPr>
                    </a:p>
                  </a:txBody>
                  <a:tcPr marL="50006" marR="71438" marT="71438" marB="50006">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Crysy 0.75 / Go 0.92 [P1]; CBOMkit 0.66; target ≥ 0.85</a:t>
                      </a:r>
                      <a:endParaRPr lang="en-US" sz="800" dirty="0">
                        <a:latin typeface="Carlito" charset="0"/>
                        <a:ea typeface="Carlito" charset="0"/>
                        <a:cs typeface="Carlito" charset="0"/>
                      </a:endParaRPr>
                    </a:p>
                  </a:txBody>
                  <a:tcPr marL="50006" marR="71438" marT="71438" marB="50006">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Does the semantic layer make findings actionable?</a:t>
                      </a:r>
                      <a:endParaRPr lang="en-US" sz="800" dirty="0">
                        <a:latin typeface="Carlito" charset="0"/>
                        <a:ea typeface="Carlito" charset="0"/>
                        <a:cs typeface="Carlito" charset="0"/>
                      </a:endParaRPr>
                    </a:p>
                  </a:txBody>
                  <a:tcPr marL="50006" marR="71438" marT="71438" marB="50006">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Actionable-finding precision</a:t>
                      </a:r>
                      <a:endParaRPr lang="en-US" sz="800" dirty="0">
                        <a:latin typeface="Carlito" charset="0"/>
                        <a:ea typeface="Carlito" charset="0"/>
                        <a:cs typeface="Carlito" charset="0"/>
                      </a:endParaRPr>
                    </a:p>
                  </a:txBody>
                  <a:tcPr marL="50006" marR="71438" marT="71438" marB="50006">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 0.30 reported [P1]; target ≥ 0.70 (≤ 5 pt recall loss)</a:t>
                      </a:r>
                      <a:endParaRPr lang="en-US" sz="800" dirty="0">
                        <a:latin typeface="Carlito" charset="0"/>
                        <a:ea typeface="Carlito" charset="0"/>
                        <a:cs typeface="Carlito" charset="0"/>
                      </a:endParaRPr>
                    </a:p>
                  </a:txBody>
                  <a:tcPr marL="50006" marR="71438" marT="71438" marB="50006">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0">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Does the score order call sites correctly?</a:t>
                      </a:r>
                      <a:endParaRPr lang="en-US" sz="800" dirty="0">
                        <a:latin typeface="Carlito" charset="0"/>
                        <a:ea typeface="Carlito" charset="0"/>
                        <a:cs typeface="Carlito" charset="0"/>
                      </a:endParaRPr>
                    </a:p>
                  </a:txBody>
                  <a:tcPr marL="50006" marR="71438" marT="71438" marB="50006">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nDCG@10/@20, Kendall-τ, Spearman ρ vs expert order</a:t>
                      </a:r>
                      <a:endParaRPr lang="en-US" sz="800" dirty="0">
                        <a:latin typeface="Carlito" charset="0"/>
                        <a:ea typeface="Carlito" charset="0"/>
                        <a:cs typeface="Carlito" charset="0"/>
                      </a:endParaRPr>
                    </a:p>
                  </a:txBody>
                  <a:tcPr marL="50006" marR="71438" marT="71438" marB="50006">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Algorithm-severity [P2], random, CVSS. Target nDCG@20 ≥ 0.80</a:t>
                      </a:r>
                      <a:endParaRPr lang="en-US" sz="800" dirty="0">
                        <a:latin typeface="Carlito" charset="0"/>
                        <a:ea typeface="Carlito" charset="0"/>
                        <a:cs typeface="Carlito" charset="0"/>
                      </a:endParaRPr>
                    </a:p>
                  </a:txBody>
                  <a:tcPr marL="50006" marR="71438" marT="71438" marB="50006">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Is retention inference reliable?</a:t>
                      </a:r>
                      <a:endParaRPr lang="en-US" sz="800" dirty="0">
                        <a:latin typeface="Carlito" charset="0"/>
                        <a:ea typeface="Carlito" charset="0"/>
                        <a:cs typeface="Carlito" charset="0"/>
                      </a:endParaRPr>
                    </a:p>
                  </a:txBody>
                  <a:tcPr marL="50006" marR="71438" marT="71438" marB="50006">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Coverage; accuracy vs manual annotation</a:t>
                      </a:r>
                      <a:endParaRPr lang="en-US" sz="800" dirty="0">
                        <a:latin typeface="Carlito" charset="0"/>
                        <a:ea typeface="Carlito" charset="0"/>
                        <a:cs typeface="Carlito" charset="0"/>
                      </a:endParaRPr>
                    </a:p>
                  </a:txBody>
                  <a:tcPr marL="50006" marR="71438" marT="71438" marB="50006">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 70% coverage, ≥ 80% accuracy on covered sites</a:t>
                      </a:r>
                      <a:endParaRPr lang="en-US" sz="800" dirty="0">
                        <a:latin typeface="Carlito" charset="0"/>
                        <a:ea typeface="Carlito" charset="0"/>
                        <a:cs typeface="Carlito" charset="0"/>
                      </a:endParaRPr>
                    </a:p>
                  </a:txBody>
                  <a:tcPr marL="50006" marR="71438" marT="71438" marB="50006">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extLst>
                  <a:ext uri="{0D108BD9-81ED-4DB2-BD59-A6C34878D82A}">
                    <a16:rowId xmlns:a16="http://schemas.microsoft.com/office/drawing/2014/main" val="10004"/>
                  </a:ext>
                </a:extLst>
              </a:tr>
              <a:tr h="0">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Are patches correct?</a:t>
                      </a:r>
                      <a:endParaRPr lang="en-US" sz="800" dirty="0">
                        <a:latin typeface="Carlito" charset="0"/>
                        <a:ea typeface="Carlito" charset="0"/>
                        <a:cs typeface="Carlito" charset="0"/>
                      </a:endParaRPr>
                    </a:p>
                  </a:txBody>
                  <a:tcPr marL="50006" marR="71438" marT="71438" marB="50006">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Differential + property + interop pass rate</a:t>
                      </a:r>
                      <a:endParaRPr lang="en-US" sz="800" dirty="0">
                        <a:latin typeface="Carlito" charset="0"/>
                        <a:ea typeface="Carlito" charset="0"/>
                        <a:cs typeface="Carlito" charset="0"/>
                      </a:endParaRPr>
                    </a:p>
                  </a:txBody>
                  <a:tcPr marL="50006" marR="71438" marT="71438" marB="50006">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P3 92.5% synthetic reference; target ≥ 80% on real repos</a:t>
                      </a:r>
                      <a:endParaRPr lang="en-US" sz="800" dirty="0">
                        <a:latin typeface="Carlito" charset="0"/>
                        <a:ea typeface="Carlito" charset="0"/>
                        <a:cs typeface="Carlito" charset="0"/>
                      </a:endParaRPr>
                    </a:p>
                  </a:txBody>
                  <a:tcPr marL="50006" marR="71438" marT="71438" marB="50006">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Does it scale?</a:t>
                      </a:r>
                      <a:endParaRPr lang="en-US" sz="800" dirty="0">
                        <a:latin typeface="Carlito" charset="0"/>
                        <a:ea typeface="Carlito" charset="0"/>
                        <a:cs typeface="Carlito" charset="0"/>
                      </a:endParaRPr>
                    </a:p>
                  </a:txBody>
                  <a:tcPr marL="50006" marR="71438" marT="71438" marB="50006">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Wall-clock on a 50k-file repository</a:t>
                      </a:r>
                      <a:endParaRPr lang="en-US" sz="800" dirty="0">
                        <a:latin typeface="Carlito" charset="0"/>
                        <a:ea typeface="Carlito" charset="0"/>
                        <a:cs typeface="Carlito" charset="0"/>
                      </a:endParaRPr>
                    </a:p>
                  </a:txBody>
                  <a:tcPr marL="50006" marR="71438" marT="71438" marB="50006">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tc>
                  <a:txBody>
                    <a:bodyPr/>
                    <a:lstStyle/>
                    <a:p>
                      <a:pPr marL="0" indent="0" algn="l">
                        <a:buNone/>
                      </a:pPr>
                      <a:r>
                        <a:rPr lang="en-US" sz="800" dirty="0">
                          <a:solidFill>
                            <a:srgbClr val="0A0A0A"/>
                          </a:solidFill>
                          <a:latin typeface="Carlito" pitchFamily="34" charset="0"/>
                          <a:ea typeface="Carlito" pitchFamily="34" charset="-122"/>
                          <a:cs typeface="Carlito" pitchFamily="34" charset="-120"/>
                        </a:rPr>
                        <a:t>Crysy: 57,610 files in &lt; 6 min [P1]</a:t>
                      </a:r>
                      <a:endParaRPr lang="en-US" sz="800" dirty="0">
                        <a:latin typeface="Carlito" charset="0"/>
                        <a:ea typeface="Carlito" charset="0"/>
                        <a:cs typeface="Carlito" charset="0"/>
                      </a:endParaRPr>
                    </a:p>
                  </a:txBody>
                  <a:tcPr marL="50006" marR="71438" marT="71438" marB="50006">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4F4"/>
                    </a:solidFill>
                  </a:tcPr>
                </a:tc>
                <a:extLst>
                  <a:ext uri="{0D108BD9-81ED-4DB2-BD59-A6C34878D82A}">
                    <a16:rowId xmlns:a16="http://schemas.microsoft.com/office/drawing/2014/main" val="10006"/>
                  </a:ext>
                </a:extLst>
              </a:tr>
            </a:tbl>
          </a:graphicData>
        </a:graphic>
      </p:graphicFrame>
      <p:sp>
        <p:nvSpPr>
          <p:cNvPr id="9" name="Shape 6"/>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10" name="Text 7"/>
          <p:cNvSpPr/>
          <p:nvPr/>
        </p:nvSpPr>
        <p:spPr>
          <a:xfrm>
            <a:off x="1463040" y="4846320"/>
            <a:ext cx="7132320" cy="137160"/>
          </a:xfrm>
          <a:prstGeom prst="rect">
            <a:avLst/>
          </a:prstGeom>
          <a:noFill/>
          <a:ln/>
        </p:spPr>
        <p:txBody>
          <a:bodyPr wrap="non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07 · METHODOLOGY</a:t>
            </a:r>
            <a:endParaRPr lang="en-US" sz="800" dirty="0"/>
          </a:p>
        </p:txBody>
      </p:sp>
      <p:sp>
        <p:nvSpPr>
          <p:cNvPr id="11" name="Text 8"/>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37 / 39</a:t>
            </a:r>
            <a:endParaRPr lang="en-US" sz="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7303145"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7831782" y="400050"/>
            <a:ext cx="797868" cy="117872"/>
          </a:xfrm>
          <a:prstGeom prst="rect">
            <a:avLst/>
          </a:prstGeom>
          <a:noFill/>
          <a:ln/>
        </p:spPr>
        <p:txBody>
          <a:bodyPr wrap="none" lIns="0" tIns="0" rIns="0" bIns="0" rtlCol="0" anchor="t"/>
          <a:lstStyle/>
          <a:p>
            <a:pPr marL="0" indent="0" algn="l">
              <a:lnSpc>
                <a:spcPts val="928"/>
              </a:lnSpc>
              <a:buNone/>
            </a:pPr>
            <a:r>
              <a:rPr lang="en-US" sz="619" kern="0" spc="99" dirty="0">
                <a:solidFill>
                  <a:srgbClr val="4A4A4A"/>
                </a:solidFill>
                <a:latin typeface="Carlito" pitchFamily="34" charset="0"/>
                <a:ea typeface="Carlito" pitchFamily="34" charset="-122"/>
                <a:cs typeface="Carlito" pitchFamily="34" charset="-120"/>
              </a:rPr>
              <a:t>REVIEW REPORT I</a:t>
            </a:r>
            <a:endParaRPr lang="en-US" sz="619" dirty="0"/>
          </a:p>
        </p:txBody>
      </p:sp>
      <p:sp>
        <p:nvSpPr>
          <p:cNvPr id="5" name="Text 3"/>
          <p:cNvSpPr/>
          <p:nvPr/>
        </p:nvSpPr>
        <p:spPr>
          <a:xfrm>
            <a:off x="514350" y="796528"/>
            <a:ext cx="8629650" cy="147590"/>
          </a:xfrm>
          <a:prstGeom prst="rect">
            <a:avLst/>
          </a:prstGeom>
          <a:noFill/>
          <a:ln/>
        </p:spPr>
        <p:txBody>
          <a:bodyPr wrap="square" lIns="0" tIns="0" rIns="0" bIns="0" rtlCol="0" anchor="t">
            <a:normAutofit/>
          </a:bodyPr>
          <a:lstStyle/>
          <a:p>
            <a:pPr marL="0" indent="0" algn="l">
              <a:lnSpc>
                <a:spcPts val="928"/>
              </a:lnSpc>
              <a:buNone/>
            </a:pPr>
            <a:r>
              <a:rPr lang="en-US" sz="800" kern="0" spc="136" dirty="0">
                <a:solidFill>
                  <a:srgbClr val="4A4A4A"/>
                </a:solidFill>
                <a:latin typeface="Liberation Sans Narrow" pitchFamily="34" charset="0"/>
                <a:ea typeface="Liberation Sans Narrow" pitchFamily="34" charset="-122"/>
                <a:cs typeface="Liberation Sans Narrow" pitchFamily="34" charset="-120"/>
              </a:rPr>
              <a:t>8 REFERENCES — PART 1 OF 2 (P1–P8)</a:t>
            </a:r>
            <a:endParaRPr lang="en-US" sz="800" dirty="0"/>
          </a:p>
        </p:txBody>
      </p:sp>
      <p:sp>
        <p:nvSpPr>
          <p:cNvPr id="6" name="Text 4"/>
          <p:cNvSpPr/>
          <p:nvPr/>
        </p:nvSpPr>
        <p:spPr>
          <a:xfrm>
            <a:off x="514350" y="971550"/>
            <a:ext cx="8629650" cy="296193"/>
          </a:xfrm>
          <a:prstGeom prst="rect">
            <a:avLst/>
          </a:prstGeom>
          <a:noFill/>
          <a:ln/>
        </p:spPr>
        <p:txBody>
          <a:bodyPr wrap="square" lIns="0" tIns="0" rIns="0" bIns="0" rtlCol="0" anchor="t"/>
          <a:lstStyle/>
          <a:p>
            <a:pPr marL="0" indent="0" algn="l">
              <a:lnSpc>
                <a:spcPts val="2160"/>
              </a:lnSpc>
              <a:buNone/>
            </a:pPr>
            <a:r>
              <a:rPr lang="en-US" sz="1688" kern="0" spc="-20" dirty="0">
                <a:solidFill>
                  <a:srgbClr val="0A0A0A"/>
                </a:solidFill>
                <a:latin typeface="Carlito" pitchFamily="34" charset="0"/>
                <a:ea typeface="Carlito" pitchFamily="34" charset="-122"/>
                <a:cs typeface="Carlito" pitchFamily="34" charset="-120"/>
              </a:rPr>
              <a:t>Scanners, scoring, frameworks, standards.</a:t>
            </a:r>
            <a:endParaRPr lang="en-US" sz="1688" dirty="0"/>
          </a:p>
        </p:txBody>
      </p:sp>
      <p:sp>
        <p:nvSpPr>
          <p:cNvPr id="7" name="Text 5"/>
          <p:cNvSpPr/>
          <p:nvPr/>
        </p:nvSpPr>
        <p:spPr>
          <a:xfrm>
            <a:off x="514350" y="1331528"/>
            <a:ext cx="400050" cy="28575"/>
          </a:xfrm>
          <a:prstGeom prst="rect">
            <a:avLst/>
          </a:prstGeom>
          <a:solidFill>
            <a:srgbClr val="0A0A0A"/>
          </a:solidFill>
          <a:ln/>
        </p:spPr>
        <p:txBody>
          <a:bodyPr wrap="square" rtlCol="0" anchor="ctr"/>
          <a:lstStyle/>
          <a:p>
            <a:pPr marL="0" indent="0">
              <a:buNone/>
            </a:pPr>
            <a:endParaRPr lang="en-US" dirty="0"/>
          </a:p>
        </p:txBody>
      </p:sp>
      <p:sp>
        <p:nvSpPr>
          <p:cNvPr id="8" name="Shape 6"/>
          <p:cNvSpPr/>
          <p:nvPr/>
        </p:nvSpPr>
        <p:spPr>
          <a:xfrm>
            <a:off x="514350" y="1449400"/>
            <a:ext cx="8115300" cy="0"/>
          </a:xfrm>
          <a:prstGeom prst="line">
            <a:avLst/>
          </a:prstGeom>
          <a:noFill/>
          <a:ln w="7144">
            <a:solidFill>
              <a:srgbClr val="D9D9D9"/>
            </a:solidFill>
            <a:prstDash val="solid"/>
          </a:ln>
        </p:spPr>
        <p:txBody>
          <a:bodyPr/>
          <a:lstStyle/>
          <a:p>
            <a:endParaRPr lang="en-US"/>
          </a:p>
        </p:txBody>
      </p:sp>
      <p:sp>
        <p:nvSpPr>
          <p:cNvPr id="9" name="Text 7"/>
          <p:cNvSpPr/>
          <p:nvPr/>
        </p:nvSpPr>
        <p:spPr>
          <a:xfrm>
            <a:off x="514350" y="1524409"/>
            <a:ext cx="722376" cy="139303"/>
          </a:xfrm>
          <a:prstGeom prst="rect">
            <a:avLst/>
          </a:prstGeom>
          <a:noFill/>
          <a:ln/>
        </p:spPr>
        <p:txBody>
          <a:bodyPr wrap="none" lIns="0" tIns="0" rIns="0" bIns="0" rtlCol="0" anchor="t"/>
          <a:lstStyle/>
          <a:p>
            <a:pPr marL="0" indent="0" algn="l">
              <a:lnSpc>
                <a:spcPts val="1097"/>
              </a:lnSpc>
              <a:buNone/>
            </a:pPr>
            <a:r>
              <a:rPr lang="en-US" sz="800" b="1" dirty="0">
                <a:solidFill>
                  <a:srgbClr val="0A0A0A"/>
                </a:solidFill>
                <a:latin typeface="Liberation Sans Narrow" pitchFamily="34" charset="0"/>
                <a:ea typeface="Liberation Sans Narrow" pitchFamily="34" charset="-122"/>
                <a:cs typeface="Liberation Sans Narrow" pitchFamily="34" charset="-120"/>
              </a:rPr>
              <a:t>P1</a:t>
            </a:r>
            <a:endParaRPr lang="en-US" sz="800" dirty="0"/>
          </a:p>
        </p:txBody>
      </p:sp>
      <p:sp>
        <p:nvSpPr>
          <p:cNvPr id="10" name="Text 8"/>
          <p:cNvSpPr/>
          <p:nvPr/>
        </p:nvSpPr>
        <p:spPr>
          <a:xfrm>
            <a:off x="971550" y="1538697"/>
            <a:ext cx="7658100" cy="125016"/>
          </a:xfrm>
          <a:prstGeom prst="rect">
            <a:avLst/>
          </a:prstGeom>
          <a:noFill/>
          <a:ln/>
        </p:spPr>
        <p:txBody>
          <a:bodyPr wrap="square" lIns="0" tIns="0" rIns="0" bIns="0" rtlCol="0" anchor="t"/>
          <a:lstStyle/>
          <a:p>
            <a:pPr marL="0" indent="0" algn="l">
              <a:lnSpc>
                <a:spcPts val="979"/>
              </a:lnSpc>
              <a:buNone/>
            </a:pPr>
            <a:r>
              <a:rPr lang="en-US" sz="800" dirty="0">
                <a:solidFill>
                  <a:srgbClr val="1F1F1F"/>
                </a:solidFill>
                <a:latin typeface="Carlito" pitchFamily="34" charset="0"/>
                <a:ea typeface="Carlito" pitchFamily="34" charset="-122"/>
                <a:cs typeface="Carlito" pitchFamily="34" charset="-120"/>
              </a:rPr>
              <a:t>C. Näther &amp; E. Hirsch. </a:t>
            </a:r>
            <a:r>
              <a:rPr lang="en-US" sz="800" i="1" dirty="0">
                <a:solidFill>
                  <a:srgbClr val="1F1F1F"/>
                </a:solidFill>
                <a:latin typeface="Tinos" pitchFamily="34" charset="0"/>
                <a:ea typeface="Tinos" pitchFamily="34" charset="-122"/>
                <a:cs typeface="Tinos" pitchFamily="34" charset="-120"/>
              </a:rPr>
              <a:t>Hidden Ciphers and Where to Find Them.</a:t>
            </a:r>
            <a:r>
              <a:rPr lang="en-US" sz="800" dirty="0">
                <a:solidFill>
                  <a:srgbClr val="1F1F1F"/>
                </a:solidFill>
                <a:latin typeface="Liberation Sans Narrow" pitchFamily="34" charset="0"/>
                <a:ea typeface="Liberation Sans Narrow" pitchFamily="34" charset="-122"/>
                <a:cs typeface="Liberation Sans Narrow" pitchFamily="34" charset="-120"/>
              </a:rPr>
              <a:t> arXiv:2608.04857, Aug 2026.</a:t>
            </a:r>
            <a:endParaRPr lang="en-US" sz="800" dirty="0"/>
          </a:p>
        </p:txBody>
      </p:sp>
      <p:sp>
        <p:nvSpPr>
          <p:cNvPr id="11" name="Shape 9"/>
          <p:cNvSpPr/>
          <p:nvPr/>
        </p:nvSpPr>
        <p:spPr>
          <a:xfrm>
            <a:off x="514350" y="1738722"/>
            <a:ext cx="8115300" cy="0"/>
          </a:xfrm>
          <a:prstGeom prst="line">
            <a:avLst/>
          </a:prstGeom>
          <a:noFill/>
          <a:ln w="7144">
            <a:solidFill>
              <a:srgbClr val="D9D9D9"/>
            </a:solidFill>
            <a:prstDash val="solid"/>
          </a:ln>
        </p:spPr>
        <p:txBody>
          <a:bodyPr/>
          <a:lstStyle/>
          <a:p>
            <a:endParaRPr lang="en-US"/>
          </a:p>
        </p:txBody>
      </p:sp>
      <p:sp>
        <p:nvSpPr>
          <p:cNvPr id="12" name="Text 10"/>
          <p:cNvSpPr/>
          <p:nvPr/>
        </p:nvSpPr>
        <p:spPr>
          <a:xfrm>
            <a:off x="514350" y="1813731"/>
            <a:ext cx="722376" cy="139303"/>
          </a:xfrm>
          <a:prstGeom prst="rect">
            <a:avLst/>
          </a:prstGeom>
          <a:noFill/>
          <a:ln/>
        </p:spPr>
        <p:txBody>
          <a:bodyPr wrap="none" lIns="0" tIns="0" rIns="0" bIns="0" rtlCol="0" anchor="t"/>
          <a:lstStyle/>
          <a:p>
            <a:pPr marL="0" indent="0" algn="l">
              <a:lnSpc>
                <a:spcPts val="1097"/>
              </a:lnSpc>
              <a:buNone/>
            </a:pPr>
            <a:r>
              <a:rPr lang="en-US" sz="800" b="1" dirty="0">
                <a:solidFill>
                  <a:srgbClr val="0A0A0A"/>
                </a:solidFill>
                <a:latin typeface="Liberation Sans Narrow" pitchFamily="34" charset="0"/>
                <a:ea typeface="Liberation Sans Narrow" pitchFamily="34" charset="-122"/>
                <a:cs typeface="Liberation Sans Narrow" pitchFamily="34" charset="-120"/>
              </a:rPr>
              <a:t>P2</a:t>
            </a:r>
            <a:endParaRPr lang="en-US" sz="800" dirty="0"/>
          </a:p>
        </p:txBody>
      </p:sp>
      <p:sp>
        <p:nvSpPr>
          <p:cNvPr id="13" name="Text 11"/>
          <p:cNvSpPr/>
          <p:nvPr/>
        </p:nvSpPr>
        <p:spPr>
          <a:xfrm>
            <a:off x="971550" y="1828019"/>
            <a:ext cx="7658100" cy="125016"/>
          </a:xfrm>
          <a:prstGeom prst="rect">
            <a:avLst/>
          </a:prstGeom>
          <a:noFill/>
          <a:ln/>
        </p:spPr>
        <p:txBody>
          <a:bodyPr wrap="square" lIns="0" tIns="0" rIns="0" bIns="0" rtlCol="0" anchor="t"/>
          <a:lstStyle/>
          <a:p>
            <a:pPr marL="0" indent="0" algn="l">
              <a:lnSpc>
                <a:spcPts val="979"/>
              </a:lnSpc>
              <a:buNone/>
            </a:pPr>
            <a:r>
              <a:rPr lang="en-US" sz="800" dirty="0">
                <a:solidFill>
                  <a:srgbClr val="1F1F1F"/>
                </a:solidFill>
                <a:latin typeface="Carlito" pitchFamily="34" charset="0"/>
                <a:ea typeface="Carlito" pitchFamily="34" charset="-122"/>
                <a:cs typeface="Carlito" pitchFamily="34" charset="-120"/>
              </a:rPr>
              <a:t>A. Shaw. </a:t>
            </a:r>
            <a:r>
              <a:rPr lang="en-US" sz="800" i="1" dirty="0">
                <a:solidFill>
                  <a:srgbClr val="1F1F1F"/>
                </a:solidFill>
                <a:latin typeface="Tinos" pitchFamily="34" charset="0"/>
                <a:ea typeface="Tinos" pitchFamily="34" charset="-122"/>
                <a:cs typeface="Tinos" pitchFamily="34" charset="-120"/>
              </a:rPr>
              <a:t>Quantum-Safe Code Auditing.</a:t>
            </a:r>
            <a:r>
              <a:rPr lang="en-US" sz="800" dirty="0">
                <a:solidFill>
                  <a:srgbClr val="1F1F1F"/>
                </a:solidFill>
                <a:latin typeface="Liberation Sans Narrow" pitchFamily="34" charset="0"/>
                <a:ea typeface="Liberation Sans Narrow" pitchFamily="34" charset="-122"/>
                <a:cs typeface="Liberation Sans Narrow" pitchFamily="34" charset="-120"/>
              </a:rPr>
              <a:t> arXiv:2604.00560, Apr 2026.</a:t>
            </a:r>
            <a:endParaRPr lang="en-US" sz="800" dirty="0"/>
          </a:p>
        </p:txBody>
      </p:sp>
      <p:sp>
        <p:nvSpPr>
          <p:cNvPr id="14" name="Shape 12"/>
          <p:cNvSpPr/>
          <p:nvPr/>
        </p:nvSpPr>
        <p:spPr>
          <a:xfrm>
            <a:off x="514350" y="2028044"/>
            <a:ext cx="8115300" cy="0"/>
          </a:xfrm>
          <a:prstGeom prst="line">
            <a:avLst/>
          </a:prstGeom>
          <a:noFill/>
          <a:ln w="7144">
            <a:solidFill>
              <a:srgbClr val="D9D9D9"/>
            </a:solidFill>
            <a:prstDash val="solid"/>
          </a:ln>
        </p:spPr>
        <p:txBody>
          <a:bodyPr/>
          <a:lstStyle/>
          <a:p>
            <a:endParaRPr lang="en-US"/>
          </a:p>
        </p:txBody>
      </p:sp>
      <p:sp>
        <p:nvSpPr>
          <p:cNvPr id="15" name="Text 13"/>
          <p:cNvSpPr/>
          <p:nvPr/>
        </p:nvSpPr>
        <p:spPr>
          <a:xfrm>
            <a:off x="514350" y="2103053"/>
            <a:ext cx="722376" cy="139303"/>
          </a:xfrm>
          <a:prstGeom prst="rect">
            <a:avLst/>
          </a:prstGeom>
          <a:noFill/>
          <a:ln/>
        </p:spPr>
        <p:txBody>
          <a:bodyPr wrap="none" lIns="0" tIns="0" rIns="0" bIns="0" rtlCol="0" anchor="t"/>
          <a:lstStyle/>
          <a:p>
            <a:pPr marL="0" indent="0" algn="l">
              <a:lnSpc>
                <a:spcPts val="1097"/>
              </a:lnSpc>
              <a:buNone/>
            </a:pPr>
            <a:r>
              <a:rPr lang="en-US" sz="800" b="1" dirty="0">
                <a:solidFill>
                  <a:srgbClr val="0A0A0A"/>
                </a:solidFill>
                <a:latin typeface="Liberation Sans Narrow" pitchFamily="34" charset="0"/>
                <a:ea typeface="Liberation Sans Narrow" pitchFamily="34" charset="-122"/>
                <a:cs typeface="Liberation Sans Narrow" pitchFamily="34" charset="-120"/>
              </a:rPr>
              <a:t>P3</a:t>
            </a:r>
            <a:endParaRPr lang="en-US" sz="800" dirty="0"/>
          </a:p>
        </p:txBody>
      </p:sp>
      <p:sp>
        <p:nvSpPr>
          <p:cNvPr id="16" name="Text 14"/>
          <p:cNvSpPr/>
          <p:nvPr/>
        </p:nvSpPr>
        <p:spPr>
          <a:xfrm>
            <a:off x="971550" y="2117341"/>
            <a:ext cx="7658100" cy="125016"/>
          </a:xfrm>
          <a:prstGeom prst="rect">
            <a:avLst/>
          </a:prstGeom>
          <a:noFill/>
          <a:ln/>
        </p:spPr>
        <p:txBody>
          <a:bodyPr wrap="square" lIns="0" tIns="0" rIns="0" bIns="0" rtlCol="0" anchor="t"/>
          <a:lstStyle/>
          <a:p>
            <a:pPr marL="0" indent="0" algn="l">
              <a:lnSpc>
                <a:spcPts val="979"/>
              </a:lnSpc>
              <a:buNone/>
            </a:pPr>
            <a:r>
              <a:rPr lang="en-US" sz="675" dirty="0">
                <a:solidFill>
                  <a:srgbClr val="1F1F1F"/>
                </a:solidFill>
                <a:latin typeface="Carlito" pitchFamily="34" charset="0"/>
                <a:ea typeface="Carlito" pitchFamily="34" charset="-122"/>
                <a:cs typeface="Carlito" pitchFamily="34" charset="-120"/>
              </a:rPr>
              <a:t>J. Pallarés de Bonrostro, A. I. González-Tabales &amp; M. I. González Vasco. </a:t>
            </a:r>
            <a:r>
              <a:rPr lang="en-US" sz="675" i="1" dirty="0">
                <a:solidFill>
                  <a:srgbClr val="1F1F1F"/>
                </a:solidFill>
                <a:latin typeface="Tinos" pitchFamily="34" charset="0"/>
                <a:ea typeface="Tinos" pitchFamily="34" charset="-122"/>
                <a:cs typeface="Tinos" pitchFamily="34" charset="-120"/>
              </a:rPr>
              <a:t>Empirical Evaluation of LLMs for Migration of Code Fragments to PQC.</a:t>
            </a:r>
            <a:r>
              <a:rPr lang="en-US" sz="675" dirty="0">
                <a:solidFill>
                  <a:srgbClr val="1F1F1F"/>
                </a:solidFill>
                <a:latin typeface="Liberation Sans Narrow" pitchFamily="34" charset="0"/>
                <a:ea typeface="Liberation Sans Narrow" pitchFamily="34" charset="-122"/>
                <a:cs typeface="Liberation Sans Narrow" pitchFamily="34" charset="-120"/>
              </a:rPr>
              <a:t> arXiv:2606.07341, Jun 2026.</a:t>
            </a:r>
            <a:endParaRPr lang="en-US" sz="675" dirty="0"/>
          </a:p>
        </p:txBody>
      </p:sp>
      <p:sp>
        <p:nvSpPr>
          <p:cNvPr id="17" name="Shape 15"/>
          <p:cNvSpPr/>
          <p:nvPr/>
        </p:nvSpPr>
        <p:spPr>
          <a:xfrm>
            <a:off x="514350" y="2317366"/>
            <a:ext cx="8115300" cy="0"/>
          </a:xfrm>
          <a:prstGeom prst="line">
            <a:avLst/>
          </a:prstGeom>
          <a:noFill/>
          <a:ln w="7144">
            <a:solidFill>
              <a:srgbClr val="D9D9D9"/>
            </a:solidFill>
            <a:prstDash val="solid"/>
          </a:ln>
        </p:spPr>
        <p:txBody>
          <a:bodyPr/>
          <a:lstStyle/>
          <a:p>
            <a:endParaRPr lang="en-US"/>
          </a:p>
        </p:txBody>
      </p:sp>
      <p:sp>
        <p:nvSpPr>
          <p:cNvPr id="18" name="Text 16"/>
          <p:cNvSpPr/>
          <p:nvPr/>
        </p:nvSpPr>
        <p:spPr>
          <a:xfrm>
            <a:off x="514350" y="2392375"/>
            <a:ext cx="722376" cy="139303"/>
          </a:xfrm>
          <a:prstGeom prst="rect">
            <a:avLst/>
          </a:prstGeom>
          <a:noFill/>
          <a:ln/>
        </p:spPr>
        <p:txBody>
          <a:bodyPr wrap="none" lIns="0" tIns="0" rIns="0" bIns="0" rtlCol="0" anchor="t"/>
          <a:lstStyle/>
          <a:p>
            <a:pPr marL="0" indent="0" algn="l">
              <a:lnSpc>
                <a:spcPts val="1097"/>
              </a:lnSpc>
              <a:buNone/>
            </a:pPr>
            <a:r>
              <a:rPr lang="en-US" sz="800" b="1" dirty="0">
                <a:solidFill>
                  <a:srgbClr val="0A0A0A"/>
                </a:solidFill>
                <a:latin typeface="Liberation Sans Narrow" pitchFamily="34" charset="0"/>
                <a:ea typeface="Liberation Sans Narrow" pitchFamily="34" charset="-122"/>
                <a:cs typeface="Liberation Sans Narrow" pitchFamily="34" charset="-120"/>
              </a:rPr>
              <a:t>P4</a:t>
            </a:r>
            <a:endParaRPr lang="en-US" sz="800" dirty="0"/>
          </a:p>
        </p:txBody>
      </p:sp>
      <p:sp>
        <p:nvSpPr>
          <p:cNvPr id="19" name="Text 17"/>
          <p:cNvSpPr/>
          <p:nvPr/>
        </p:nvSpPr>
        <p:spPr>
          <a:xfrm>
            <a:off x="971550" y="2406662"/>
            <a:ext cx="7658100" cy="125016"/>
          </a:xfrm>
          <a:prstGeom prst="rect">
            <a:avLst/>
          </a:prstGeom>
          <a:noFill/>
          <a:ln/>
        </p:spPr>
        <p:txBody>
          <a:bodyPr wrap="square" lIns="0" tIns="0" rIns="0" bIns="0" rtlCol="0" anchor="t"/>
          <a:lstStyle/>
          <a:p>
            <a:pPr marL="0" indent="0" algn="l">
              <a:lnSpc>
                <a:spcPts val="979"/>
              </a:lnSpc>
              <a:buNone/>
            </a:pPr>
            <a:r>
              <a:rPr lang="en-US" sz="800" dirty="0">
                <a:solidFill>
                  <a:srgbClr val="1F1F1F"/>
                </a:solidFill>
                <a:latin typeface="Carlito" pitchFamily="34" charset="0"/>
                <a:ea typeface="Carlito" pitchFamily="34" charset="-122"/>
                <a:cs typeface="Carlito" pitchFamily="34" charset="-120"/>
              </a:rPr>
              <a:t>L. Zhang. </a:t>
            </a:r>
            <a:r>
              <a:rPr lang="en-US" sz="800" i="1" dirty="0">
                <a:solidFill>
                  <a:srgbClr val="1F1F1F"/>
                </a:solidFill>
                <a:latin typeface="Tinos" pitchFamily="34" charset="0"/>
                <a:ea typeface="Tinos" pitchFamily="34" charset="-122"/>
                <a:cs typeface="Tinos" pitchFamily="34" charset="-120"/>
              </a:rPr>
              <a:t>Toward Quantum-Safe Software Engineering.</a:t>
            </a:r>
            <a:r>
              <a:rPr lang="en-US" sz="800" dirty="0">
                <a:solidFill>
                  <a:srgbClr val="1F1F1F"/>
                </a:solidFill>
                <a:latin typeface="Liberation Sans Narrow" pitchFamily="34" charset="0"/>
                <a:ea typeface="Liberation Sans Narrow" pitchFamily="34" charset="-122"/>
                <a:cs typeface="Liberation Sans Narrow" pitchFamily="34" charset="-120"/>
              </a:rPr>
              <a:t> ICSE'26 Poster; arXiv:2602.05759.</a:t>
            </a:r>
            <a:endParaRPr lang="en-US" sz="800" dirty="0"/>
          </a:p>
        </p:txBody>
      </p:sp>
      <p:sp>
        <p:nvSpPr>
          <p:cNvPr id="20" name="Shape 18"/>
          <p:cNvSpPr/>
          <p:nvPr/>
        </p:nvSpPr>
        <p:spPr>
          <a:xfrm>
            <a:off x="514350" y="2606687"/>
            <a:ext cx="8115300" cy="0"/>
          </a:xfrm>
          <a:prstGeom prst="line">
            <a:avLst/>
          </a:prstGeom>
          <a:noFill/>
          <a:ln w="7144">
            <a:solidFill>
              <a:srgbClr val="D9D9D9"/>
            </a:solidFill>
            <a:prstDash val="solid"/>
          </a:ln>
        </p:spPr>
        <p:txBody>
          <a:bodyPr/>
          <a:lstStyle/>
          <a:p>
            <a:endParaRPr lang="en-US"/>
          </a:p>
        </p:txBody>
      </p:sp>
      <p:sp>
        <p:nvSpPr>
          <p:cNvPr id="21" name="Text 19"/>
          <p:cNvSpPr/>
          <p:nvPr/>
        </p:nvSpPr>
        <p:spPr>
          <a:xfrm>
            <a:off x="514350" y="2681697"/>
            <a:ext cx="722376" cy="139303"/>
          </a:xfrm>
          <a:prstGeom prst="rect">
            <a:avLst/>
          </a:prstGeom>
          <a:noFill/>
          <a:ln/>
        </p:spPr>
        <p:txBody>
          <a:bodyPr wrap="none" lIns="0" tIns="0" rIns="0" bIns="0" rtlCol="0" anchor="t"/>
          <a:lstStyle/>
          <a:p>
            <a:pPr marL="0" indent="0" algn="l">
              <a:lnSpc>
                <a:spcPts val="1097"/>
              </a:lnSpc>
              <a:buNone/>
            </a:pPr>
            <a:r>
              <a:rPr lang="en-US" sz="800" b="1" dirty="0">
                <a:solidFill>
                  <a:srgbClr val="0A0A0A"/>
                </a:solidFill>
                <a:latin typeface="Liberation Sans Narrow" pitchFamily="34" charset="0"/>
                <a:ea typeface="Liberation Sans Narrow" pitchFamily="34" charset="-122"/>
                <a:cs typeface="Liberation Sans Narrow" pitchFamily="34" charset="-120"/>
              </a:rPr>
              <a:t>P5</a:t>
            </a:r>
            <a:endParaRPr lang="en-US" sz="800" dirty="0"/>
          </a:p>
        </p:txBody>
      </p:sp>
      <p:sp>
        <p:nvSpPr>
          <p:cNvPr id="22" name="Text 20"/>
          <p:cNvSpPr/>
          <p:nvPr/>
        </p:nvSpPr>
        <p:spPr>
          <a:xfrm>
            <a:off x="971550" y="2695984"/>
            <a:ext cx="7658100" cy="125016"/>
          </a:xfrm>
          <a:prstGeom prst="rect">
            <a:avLst/>
          </a:prstGeom>
          <a:noFill/>
          <a:ln/>
        </p:spPr>
        <p:txBody>
          <a:bodyPr wrap="square" lIns="0" tIns="0" rIns="0" bIns="0" rtlCol="0" anchor="t"/>
          <a:lstStyle/>
          <a:p>
            <a:pPr marL="0" indent="0" algn="l">
              <a:lnSpc>
                <a:spcPts val="979"/>
              </a:lnSpc>
              <a:buNone/>
            </a:pPr>
            <a:r>
              <a:rPr lang="en-US" sz="800" dirty="0">
                <a:solidFill>
                  <a:srgbClr val="1F1F1F"/>
                </a:solidFill>
                <a:latin typeface="Carlito" pitchFamily="34" charset="0"/>
                <a:ea typeface="Carlito" pitchFamily="34" charset="-122"/>
                <a:cs typeface="Carlito" pitchFamily="34" charset="-120"/>
              </a:rPr>
              <a:t>A. D. B. Costa. </a:t>
            </a:r>
            <a:r>
              <a:rPr lang="en-US" sz="800" i="1" dirty="0">
                <a:solidFill>
                  <a:srgbClr val="1F1F1F"/>
                </a:solidFill>
                <a:latin typeface="Tinos" pitchFamily="34" charset="0"/>
                <a:ea typeface="Tinos" pitchFamily="34" charset="-122"/>
                <a:cs typeface="Tinos" pitchFamily="34" charset="-120"/>
              </a:rPr>
              <a:t>Quantum-Safe Cryptography: A Migration Framework with CARS.</a:t>
            </a:r>
            <a:r>
              <a:rPr lang="en-US" sz="800" dirty="0">
                <a:solidFill>
                  <a:srgbClr val="1F1F1F"/>
                </a:solidFill>
                <a:latin typeface="Liberation Sans Narrow" pitchFamily="34" charset="0"/>
                <a:ea typeface="Liberation Sans Narrow" pitchFamily="34" charset="-122"/>
                <a:cs typeface="Liberation Sans Narrow" pitchFamily="34" charset="-120"/>
              </a:rPr>
              <a:t> IACR ePrint 2026/1467, Jul 2026.</a:t>
            </a:r>
            <a:endParaRPr lang="en-US" sz="800" dirty="0"/>
          </a:p>
        </p:txBody>
      </p:sp>
      <p:sp>
        <p:nvSpPr>
          <p:cNvPr id="23" name="Shape 21"/>
          <p:cNvSpPr/>
          <p:nvPr/>
        </p:nvSpPr>
        <p:spPr>
          <a:xfrm>
            <a:off x="514350" y="2896009"/>
            <a:ext cx="8115300" cy="0"/>
          </a:xfrm>
          <a:prstGeom prst="line">
            <a:avLst/>
          </a:prstGeom>
          <a:noFill/>
          <a:ln w="7144">
            <a:solidFill>
              <a:srgbClr val="D9D9D9"/>
            </a:solidFill>
            <a:prstDash val="solid"/>
          </a:ln>
        </p:spPr>
        <p:txBody>
          <a:bodyPr/>
          <a:lstStyle/>
          <a:p>
            <a:endParaRPr lang="en-US"/>
          </a:p>
        </p:txBody>
      </p:sp>
      <p:sp>
        <p:nvSpPr>
          <p:cNvPr id="24" name="Text 22"/>
          <p:cNvSpPr/>
          <p:nvPr/>
        </p:nvSpPr>
        <p:spPr>
          <a:xfrm>
            <a:off x="514350" y="2971019"/>
            <a:ext cx="722376" cy="139303"/>
          </a:xfrm>
          <a:prstGeom prst="rect">
            <a:avLst/>
          </a:prstGeom>
          <a:noFill/>
          <a:ln/>
        </p:spPr>
        <p:txBody>
          <a:bodyPr wrap="none" lIns="0" tIns="0" rIns="0" bIns="0" rtlCol="0" anchor="t"/>
          <a:lstStyle/>
          <a:p>
            <a:pPr marL="0" indent="0" algn="l">
              <a:lnSpc>
                <a:spcPts val="1097"/>
              </a:lnSpc>
              <a:buNone/>
            </a:pPr>
            <a:r>
              <a:rPr lang="en-US" sz="800" b="1" dirty="0">
                <a:solidFill>
                  <a:srgbClr val="0A0A0A"/>
                </a:solidFill>
                <a:latin typeface="Liberation Sans Narrow" pitchFamily="34" charset="0"/>
                <a:ea typeface="Liberation Sans Narrow" pitchFamily="34" charset="-122"/>
                <a:cs typeface="Liberation Sans Narrow" pitchFamily="34" charset="-120"/>
              </a:rPr>
              <a:t>P6</a:t>
            </a:r>
            <a:endParaRPr lang="en-US" sz="800" dirty="0"/>
          </a:p>
        </p:txBody>
      </p:sp>
      <p:sp>
        <p:nvSpPr>
          <p:cNvPr id="25" name="Text 23"/>
          <p:cNvSpPr/>
          <p:nvPr/>
        </p:nvSpPr>
        <p:spPr>
          <a:xfrm>
            <a:off x="971550" y="2985306"/>
            <a:ext cx="7658100" cy="125016"/>
          </a:xfrm>
          <a:prstGeom prst="rect">
            <a:avLst/>
          </a:prstGeom>
          <a:noFill/>
          <a:ln/>
        </p:spPr>
        <p:txBody>
          <a:bodyPr wrap="square" lIns="0" tIns="0" rIns="0" bIns="0" rtlCol="0" anchor="t"/>
          <a:lstStyle/>
          <a:p>
            <a:pPr marL="0" indent="0" algn="l">
              <a:lnSpc>
                <a:spcPts val="979"/>
              </a:lnSpc>
              <a:buNone/>
            </a:pPr>
            <a:r>
              <a:rPr lang="en-US" sz="800" dirty="0">
                <a:solidFill>
                  <a:srgbClr val="1F1F1F"/>
                </a:solidFill>
                <a:latin typeface="Carlito" pitchFamily="34" charset="0"/>
                <a:ea typeface="Carlito" pitchFamily="34" charset="-122"/>
                <a:cs typeface="Carlito" pitchFamily="34" charset="-120"/>
              </a:rPr>
              <a:t>IBM Research. </a:t>
            </a:r>
            <a:r>
              <a:rPr lang="en-US" sz="800" i="1" dirty="0">
                <a:solidFill>
                  <a:srgbClr val="1F1F1F"/>
                </a:solidFill>
                <a:latin typeface="Tinos" pitchFamily="34" charset="0"/>
                <a:ea typeface="Tinos" pitchFamily="34" charset="-122"/>
                <a:cs typeface="Tinos" pitchFamily="34" charset="-120"/>
              </a:rPr>
              <a:t>The Anatomy of Cryptography Bills of Materials.</a:t>
            </a:r>
            <a:r>
              <a:rPr lang="en-US" sz="800" dirty="0">
                <a:solidFill>
                  <a:srgbClr val="1F1F1F"/>
                </a:solidFill>
                <a:latin typeface="Liberation Sans Narrow" pitchFamily="34" charset="0"/>
                <a:ea typeface="Liberation Sans Narrow" pitchFamily="34" charset="-122"/>
                <a:cs typeface="Liberation Sans Narrow" pitchFamily="34" charset="-120"/>
              </a:rPr>
              <a:t> Eurocrypt 2026.</a:t>
            </a:r>
            <a:endParaRPr lang="en-US" sz="800" dirty="0"/>
          </a:p>
        </p:txBody>
      </p:sp>
      <p:sp>
        <p:nvSpPr>
          <p:cNvPr id="26" name="Shape 24"/>
          <p:cNvSpPr/>
          <p:nvPr/>
        </p:nvSpPr>
        <p:spPr>
          <a:xfrm>
            <a:off x="514350" y="3185331"/>
            <a:ext cx="8115300" cy="0"/>
          </a:xfrm>
          <a:prstGeom prst="line">
            <a:avLst/>
          </a:prstGeom>
          <a:noFill/>
          <a:ln w="7144">
            <a:solidFill>
              <a:srgbClr val="D9D9D9"/>
            </a:solidFill>
            <a:prstDash val="solid"/>
          </a:ln>
        </p:spPr>
        <p:txBody>
          <a:bodyPr/>
          <a:lstStyle/>
          <a:p>
            <a:endParaRPr lang="en-US"/>
          </a:p>
        </p:txBody>
      </p:sp>
      <p:sp>
        <p:nvSpPr>
          <p:cNvPr id="27" name="Text 25"/>
          <p:cNvSpPr/>
          <p:nvPr/>
        </p:nvSpPr>
        <p:spPr>
          <a:xfrm>
            <a:off x="514350" y="3260341"/>
            <a:ext cx="722376" cy="139303"/>
          </a:xfrm>
          <a:prstGeom prst="rect">
            <a:avLst/>
          </a:prstGeom>
          <a:noFill/>
          <a:ln/>
        </p:spPr>
        <p:txBody>
          <a:bodyPr wrap="none" lIns="0" tIns="0" rIns="0" bIns="0" rtlCol="0" anchor="t"/>
          <a:lstStyle/>
          <a:p>
            <a:pPr marL="0" indent="0" algn="l">
              <a:lnSpc>
                <a:spcPts val="1097"/>
              </a:lnSpc>
              <a:buNone/>
            </a:pPr>
            <a:r>
              <a:rPr lang="en-US" sz="800" b="1" dirty="0">
                <a:solidFill>
                  <a:srgbClr val="0A0A0A"/>
                </a:solidFill>
                <a:latin typeface="Liberation Sans Narrow" pitchFamily="34" charset="0"/>
                <a:ea typeface="Liberation Sans Narrow" pitchFamily="34" charset="-122"/>
                <a:cs typeface="Liberation Sans Narrow" pitchFamily="34" charset="-120"/>
              </a:rPr>
              <a:t>P7</a:t>
            </a:r>
            <a:endParaRPr lang="en-US" sz="800" dirty="0"/>
          </a:p>
        </p:txBody>
      </p:sp>
      <p:sp>
        <p:nvSpPr>
          <p:cNvPr id="28" name="Text 26"/>
          <p:cNvSpPr/>
          <p:nvPr/>
        </p:nvSpPr>
        <p:spPr>
          <a:xfrm>
            <a:off x="971550" y="3274628"/>
            <a:ext cx="7658100" cy="125016"/>
          </a:xfrm>
          <a:prstGeom prst="rect">
            <a:avLst/>
          </a:prstGeom>
          <a:noFill/>
          <a:ln/>
        </p:spPr>
        <p:txBody>
          <a:bodyPr wrap="square" lIns="0" tIns="0" rIns="0" bIns="0" rtlCol="0" anchor="t"/>
          <a:lstStyle/>
          <a:p>
            <a:pPr marL="0" indent="0" algn="l">
              <a:lnSpc>
                <a:spcPts val="979"/>
              </a:lnSpc>
              <a:buNone/>
            </a:pPr>
            <a:r>
              <a:rPr lang="en-US" sz="800" i="1" dirty="0">
                <a:solidFill>
                  <a:srgbClr val="1F1F1F"/>
                </a:solidFill>
                <a:latin typeface="Tinos" pitchFamily="34" charset="0"/>
                <a:ea typeface="Tinos" pitchFamily="34" charset="-122"/>
                <a:cs typeface="Tinos" pitchFamily="34" charset="-120"/>
              </a:rPr>
              <a:t>Towards Cryptography Bill of Materials Compliance.</a:t>
            </a:r>
            <a:r>
              <a:rPr lang="en-US" sz="800" dirty="0">
                <a:solidFill>
                  <a:srgbClr val="1F1F1F"/>
                </a:solidFill>
                <a:latin typeface="Liberation Sans Narrow" pitchFamily="34" charset="0"/>
                <a:ea typeface="Liberation Sans Narrow" pitchFamily="34" charset="-122"/>
                <a:cs typeface="Liberation Sans Narrow" pitchFamily="34" charset="-120"/>
              </a:rPr>
              <a:t> Springer LNCS, 2026.</a:t>
            </a:r>
            <a:endParaRPr lang="en-US" sz="800" dirty="0"/>
          </a:p>
        </p:txBody>
      </p:sp>
      <p:sp>
        <p:nvSpPr>
          <p:cNvPr id="29" name="Shape 27"/>
          <p:cNvSpPr/>
          <p:nvPr/>
        </p:nvSpPr>
        <p:spPr>
          <a:xfrm>
            <a:off x="514350" y="3474653"/>
            <a:ext cx="8115300" cy="0"/>
          </a:xfrm>
          <a:prstGeom prst="line">
            <a:avLst/>
          </a:prstGeom>
          <a:noFill/>
          <a:ln w="7144">
            <a:solidFill>
              <a:srgbClr val="D9D9D9"/>
            </a:solidFill>
            <a:prstDash val="solid"/>
          </a:ln>
        </p:spPr>
        <p:txBody>
          <a:bodyPr/>
          <a:lstStyle/>
          <a:p>
            <a:endParaRPr lang="en-US"/>
          </a:p>
        </p:txBody>
      </p:sp>
      <p:sp>
        <p:nvSpPr>
          <p:cNvPr id="30" name="Shape 28"/>
          <p:cNvSpPr/>
          <p:nvPr/>
        </p:nvSpPr>
        <p:spPr>
          <a:xfrm>
            <a:off x="514350" y="3763975"/>
            <a:ext cx="8115300" cy="0"/>
          </a:xfrm>
          <a:prstGeom prst="line">
            <a:avLst/>
          </a:prstGeom>
          <a:noFill/>
          <a:ln w="7144">
            <a:solidFill>
              <a:srgbClr val="D9D9D9"/>
            </a:solidFill>
            <a:prstDash val="solid"/>
          </a:ln>
        </p:spPr>
        <p:txBody>
          <a:bodyPr/>
          <a:lstStyle/>
          <a:p>
            <a:endParaRPr lang="en-US"/>
          </a:p>
        </p:txBody>
      </p:sp>
      <p:sp>
        <p:nvSpPr>
          <p:cNvPr id="31" name="Text 29"/>
          <p:cNvSpPr/>
          <p:nvPr/>
        </p:nvSpPr>
        <p:spPr>
          <a:xfrm>
            <a:off x="514350" y="3549662"/>
            <a:ext cx="722376" cy="139303"/>
          </a:xfrm>
          <a:prstGeom prst="rect">
            <a:avLst/>
          </a:prstGeom>
          <a:noFill/>
          <a:ln/>
        </p:spPr>
        <p:txBody>
          <a:bodyPr wrap="none" lIns="0" tIns="0" rIns="0" bIns="0" rtlCol="0" anchor="t"/>
          <a:lstStyle/>
          <a:p>
            <a:pPr marL="0" indent="0" algn="l">
              <a:lnSpc>
                <a:spcPts val="1097"/>
              </a:lnSpc>
              <a:buNone/>
            </a:pPr>
            <a:r>
              <a:rPr lang="en-US" sz="800" b="1" dirty="0">
                <a:solidFill>
                  <a:srgbClr val="0A0A0A"/>
                </a:solidFill>
                <a:latin typeface="Liberation Sans Narrow" pitchFamily="34" charset="0"/>
                <a:ea typeface="Liberation Sans Narrow" pitchFamily="34" charset="-122"/>
                <a:cs typeface="Liberation Sans Narrow" pitchFamily="34" charset="-120"/>
              </a:rPr>
              <a:t>P8</a:t>
            </a:r>
            <a:endParaRPr lang="en-US" sz="800" dirty="0"/>
          </a:p>
        </p:txBody>
      </p:sp>
      <p:sp>
        <p:nvSpPr>
          <p:cNvPr id="32" name="Text 30"/>
          <p:cNvSpPr/>
          <p:nvPr/>
        </p:nvSpPr>
        <p:spPr>
          <a:xfrm>
            <a:off x="971550" y="3563950"/>
            <a:ext cx="7658100" cy="125016"/>
          </a:xfrm>
          <a:prstGeom prst="rect">
            <a:avLst/>
          </a:prstGeom>
          <a:noFill/>
          <a:ln/>
        </p:spPr>
        <p:txBody>
          <a:bodyPr wrap="square" lIns="0" tIns="0" rIns="0" bIns="0" rtlCol="0" anchor="t"/>
          <a:lstStyle/>
          <a:p>
            <a:pPr marL="0" indent="0" algn="l">
              <a:lnSpc>
                <a:spcPts val="979"/>
              </a:lnSpc>
              <a:buNone/>
            </a:pPr>
            <a:r>
              <a:rPr lang="en-US" sz="800" i="1" dirty="0">
                <a:solidFill>
                  <a:srgbClr val="1F1F1F"/>
                </a:solidFill>
                <a:latin typeface="Tinos" pitchFamily="34" charset="0"/>
                <a:ea typeface="Tinos" pitchFamily="34" charset="-122"/>
                <a:cs typeface="Tinos" pitchFamily="34" charset="-120"/>
              </a:rPr>
              <a:t>On the Practical Feasibility of Harvest-Now, Decrypt-Later Attacks.</a:t>
            </a:r>
            <a:r>
              <a:rPr lang="en-US" sz="800" dirty="0">
                <a:solidFill>
                  <a:srgbClr val="1F1F1F"/>
                </a:solidFill>
                <a:latin typeface="Liberation Sans Narrow" pitchFamily="34" charset="0"/>
                <a:ea typeface="Liberation Sans Narrow" pitchFamily="34" charset="-122"/>
                <a:cs typeface="Liberation Sans Narrow" pitchFamily="34" charset="-120"/>
              </a:rPr>
              <a:t> arXiv:2603.01091, 2026.</a:t>
            </a:r>
            <a:endParaRPr lang="en-US" sz="800" dirty="0"/>
          </a:p>
        </p:txBody>
      </p:sp>
      <p:sp>
        <p:nvSpPr>
          <p:cNvPr id="33" name="Shape 31"/>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34" name="Text 32"/>
          <p:cNvSpPr/>
          <p:nvPr/>
        </p:nvSpPr>
        <p:spPr>
          <a:xfrm>
            <a:off x="1463040" y="4846320"/>
            <a:ext cx="7132320" cy="137160"/>
          </a:xfrm>
          <a:prstGeom prst="rect">
            <a:avLst/>
          </a:prstGeom>
          <a:noFill/>
          <a:ln/>
        </p:spPr>
        <p:txBody>
          <a:bodyPr wrap="non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10 · REFERENCES</a:t>
            </a:r>
            <a:endParaRPr lang="en-US" sz="800" dirty="0"/>
          </a:p>
        </p:txBody>
      </p:sp>
      <p:sp>
        <p:nvSpPr>
          <p:cNvPr id="35" name="Text 33"/>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38 / 39</a:t>
            </a:r>
            <a:endParaRPr lang="en-US" sz="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14350" y="621506"/>
            <a:ext cx="8115300" cy="0"/>
          </a:xfrm>
          <a:prstGeom prst="line">
            <a:avLst/>
          </a:prstGeom>
          <a:noFill/>
          <a:ln w="7144">
            <a:solidFill>
              <a:srgbClr val="D9D9D9"/>
            </a:solidFill>
            <a:prstDash val="solid"/>
          </a:ln>
        </p:spPr>
        <p:txBody>
          <a:bodyPr/>
          <a:lstStyle/>
          <a:p>
            <a:endParaRPr lang="en-US"/>
          </a:p>
        </p:txBody>
      </p:sp>
      <p:sp>
        <p:nvSpPr>
          <p:cNvPr id="3" name="Text 1"/>
          <p:cNvSpPr/>
          <p:nvPr/>
        </p:nvSpPr>
        <p:spPr>
          <a:xfrm>
            <a:off x="514350" y="400050"/>
            <a:ext cx="7303145" cy="117872"/>
          </a:xfrm>
          <a:prstGeom prst="rect">
            <a:avLst/>
          </a:prstGeom>
          <a:noFill/>
          <a:ln/>
        </p:spPr>
        <p:txBody>
          <a:bodyPr wrap="none" lIns="0" tIns="0" rIns="0" bIns="0" rtlCol="0" anchor="t"/>
          <a:lstStyle/>
          <a:p>
            <a:pPr marL="0" indent="0" algn="l">
              <a:lnSpc>
                <a:spcPts val="928"/>
              </a:lnSpc>
              <a:buNone/>
            </a:pPr>
            <a:r>
              <a:rPr lang="en-US" sz="800" b="1" kern="0" spc="99" dirty="0">
                <a:solidFill>
                  <a:srgbClr val="0A0A0A"/>
                </a:solidFill>
                <a:latin typeface="Carlito" pitchFamily="34" charset="0"/>
                <a:ea typeface="Carlito" pitchFamily="34" charset="-122"/>
                <a:cs typeface="Carlito" pitchFamily="34" charset="-120"/>
              </a:rPr>
              <a:t>CRYPTO-AGILITY NAVIGATOR</a:t>
            </a:r>
            <a:endParaRPr lang="en-US" sz="800" dirty="0"/>
          </a:p>
        </p:txBody>
      </p:sp>
      <p:sp>
        <p:nvSpPr>
          <p:cNvPr id="4" name="Text 2"/>
          <p:cNvSpPr/>
          <p:nvPr/>
        </p:nvSpPr>
        <p:spPr>
          <a:xfrm>
            <a:off x="7831782" y="400050"/>
            <a:ext cx="797868" cy="117872"/>
          </a:xfrm>
          <a:prstGeom prst="rect">
            <a:avLst/>
          </a:prstGeom>
          <a:noFill/>
          <a:ln/>
        </p:spPr>
        <p:txBody>
          <a:bodyPr wrap="none" lIns="0" tIns="0" rIns="0" bIns="0" rtlCol="0" anchor="t"/>
          <a:lstStyle/>
          <a:p>
            <a:pPr marL="0" indent="0" algn="l">
              <a:lnSpc>
                <a:spcPts val="928"/>
              </a:lnSpc>
              <a:buNone/>
            </a:pPr>
            <a:r>
              <a:rPr lang="en-US" sz="619" kern="0" spc="99" dirty="0">
                <a:solidFill>
                  <a:srgbClr val="4A4A4A"/>
                </a:solidFill>
                <a:latin typeface="Carlito" pitchFamily="34" charset="0"/>
                <a:ea typeface="Carlito" pitchFamily="34" charset="-122"/>
                <a:cs typeface="Carlito" pitchFamily="34" charset="-120"/>
              </a:rPr>
              <a:t>REVIEW REPORT I</a:t>
            </a:r>
            <a:endParaRPr lang="en-US" sz="619" dirty="0"/>
          </a:p>
        </p:txBody>
      </p:sp>
      <p:sp>
        <p:nvSpPr>
          <p:cNvPr id="5" name="Text 3"/>
          <p:cNvSpPr/>
          <p:nvPr/>
        </p:nvSpPr>
        <p:spPr>
          <a:xfrm>
            <a:off x="507316" y="796528"/>
            <a:ext cx="8629650" cy="147590"/>
          </a:xfrm>
          <a:prstGeom prst="rect">
            <a:avLst/>
          </a:prstGeom>
          <a:noFill/>
          <a:ln/>
        </p:spPr>
        <p:txBody>
          <a:bodyPr wrap="square" lIns="0" tIns="0" rIns="0" bIns="0" rtlCol="0" anchor="t">
            <a:normAutofit/>
          </a:bodyPr>
          <a:lstStyle/>
          <a:p>
            <a:pPr marL="0" indent="0" algn="l">
              <a:lnSpc>
                <a:spcPts val="928"/>
              </a:lnSpc>
              <a:buNone/>
            </a:pPr>
            <a:r>
              <a:rPr lang="en-US" sz="800" kern="0" spc="136" dirty="0">
                <a:solidFill>
                  <a:srgbClr val="4A4A4A"/>
                </a:solidFill>
                <a:latin typeface="Liberation Sans Narrow" pitchFamily="34" charset="0"/>
                <a:ea typeface="Liberation Sans Narrow" pitchFamily="34" charset="-122"/>
                <a:cs typeface="Liberation Sans Narrow" pitchFamily="34" charset="-120"/>
              </a:rPr>
              <a:t>8 REFERENCES — PART 2 OF 2 (P9–P16)</a:t>
            </a:r>
            <a:endParaRPr lang="en-US" sz="800" dirty="0"/>
          </a:p>
        </p:txBody>
      </p:sp>
      <p:sp>
        <p:nvSpPr>
          <p:cNvPr id="6" name="Text 4"/>
          <p:cNvSpPr/>
          <p:nvPr/>
        </p:nvSpPr>
        <p:spPr>
          <a:xfrm>
            <a:off x="514350" y="971550"/>
            <a:ext cx="8629650" cy="296193"/>
          </a:xfrm>
          <a:prstGeom prst="rect">
            <a:avLst/>
          </a:prstGeom>
          <a:noFill/>
          <a:ln/>
        </p:spPr>
        <p:txBody>
          <a:bodyPr wrap="square" lIns="0" tIns="0" rIns="0" bIns="0" rtlCol="0" anchor="t"/>
          <a:lstStyle/>
          <a:p>
            <a:pPr marL="0" indent="0" algn="l">
              <a:lnSpc>
                <a:spcPts val="2160"/>
              </a:lnSpc>
              <a:buNone/>
            </a:pPr>
            <a:r>
              <a:rPr lang="en-US" sz="1688" kern="0" spc="-20" dirty="0">
                <a:solidFill>
                  <a:srgbClr val="0A0A0A"/>
                </a:solidFill>
                <a:latin typeface="Carlito" pitchFamily="34" charset="0"/>
                <a:ea typeface="Carlito" pitchFamily="34" charset="-122"/>
                <a:cs typeface="Carlito" pitchFamily="34" charset="-120"/>
              </a:rPr>
              <a:t>Surveys, economics, baselines.</a:t>
            </a:r>
            <a:endParaRPr lang="en-US" sz="1688" dirty="0"/>
          </a:p>
        </p:txBody>
      </p:sp>
      <p:sp>
        <p:nvSpPr>
          <p:cNvPr id="7" name="Text 5"/>
          <p:cNvSpPr/>
          <p:nvPr/>
        </p:nvSpPr>
        <p:spPr>
          <a:xfrm>
            <a:off x="514350" y="1331528"/>
            <a:ext cx="400050" cy="28575"/>
          </a:xfrm>
          <a:prstGeom prst="rect">
            <a:avLst/>
          </a:prstGeom>
          <a:solidFill>
            <a:srgbClr val="0A0A0A"/>
          </a:solidFill>
          <a:ln/>
        </p:spPr>
        <p:txBody>
          <a:bodyPr wrap="square" rtlCol="0" anchor="ctr"/>
          <a:lstStyle/>
          <a:p>
            <a:pPr marL="0" indent="0">
              <a:buNone/>
            </a:pPr>
            <a:endParaRPr lang="en-US" dirty="0"/>
          </a:p>
        </p:txBody>
      </p:sp>
      <p:sp>
        <p:nvSpPr>
          <p:cNvPr id="8" name="Shape 6"/>
          <p:cNvSpPr/>
          <p:nvPr/>
        </p:nvSpPr>
        <p:spPr>
          <a:xfrm>
            <a:off x="514350" y="1449400"/>
            <a:ext cx="8115300" cy="0"/>
          </a:xfrm>
          <a:prstGeom prst="line">
            <a:avLst/>
          </a:prstGeom>
          <a:noFill/>
          <a:ln w="7144">
            <a:solidFill>
              <a:srgbClr val="D9D9D9"/>
            </a:solidFill>
            <a:prstDash val="solid"/>
          </a:ln>
        </p:spPr>
        <p:txBody>
          <a:bodyPr/>
          <a:lstStyle/>
          <a:p>
            <a:endParaRPr lang="en-US"/>
          </a:p>
        </p:txBody>
      </p:sp>
      <p:sp>
        <p:nvSpPr>
          <p:cNvPr id="9" name="Text 7"/>
          <p:cNvSpPr/>
          <p:nvPr/>
        </p:nvSpPr>
        <p:spPr>
          <a:xfrm>
            <a:off x="514350" y="1524409"/>
            <a:ext cx="722376" cy="139303"/>
          </a:xfrm>
          <a:prstGeom prst="rect">
            <a:avLst/>
          </a:prstGeom>
          <a:noFill/>
          <a:ln/>
        </p:spPr>
        <p:txBody>
          <a:bodyPr wrap="none" lIns="0" tIns="0" rIns="0" bIns="0" rtlCol="0" anchor="t"/>
          <a:lstStyle/>
          <a:p>
            <a:pPr marL="0" indent="0" algn="l">
              <a:lnSpc>
                <a:spcPts val="1097"/>
              </a:lnSpc>
              <a:buNone/>
            </a:pPr>
            <a:r>
              <a:rPr lang="en-US" sz="800" b="1" dirty="0">
                <a:solidFill>
                  <a:srgbClr val="0A0A0A"/>
                </a:solidFill>
                <a:latin typeface="Liberation Sans Narrow" pitchFamily="34" charset="0"/>
                <a:ea typeface="Liberation Sans Narrow" pitchFamily="34" charset="-122"/>
                <a:cs typeface="Liberation Sans Narrow" pitchFamily="34" charset="-120"/>
              </a:rPr>
              <a:t>P9</a:t>
            </a:r>
            <a:endParaRPr lang="en-US" sz="800" dirty="0"/>
          </a:p>
        </p:txBody>
      </p:sp>
      <p:sp>
        <p:nvSpPr>
          <p:cNvPr id="10" name="Text 8"/>
          <p:cNvSpPr/>
          <p:nvPr/>
        </p:nvSpPr>
        <p:spPr>
          <a:xfrm>
            <a:off x="971550" y="1538697"/>
            <a:ext cx="7658100" cy="125016"/>
          </a:xfrm>
          <a:prstGeom prst="rect">
            <a:avLst/>
          </a:prstGeom>
          <a:noFill/>
          <a:ln/>
        </p:spPr>
        <p:txBody>
          <a:bodyPr wrap="square" lIns="0" tIns="0" rIns="0" bIns="0" rtlCol="0" anchor="t"/>
          <a:lstStyle/>
          <a:p>
            <a:pPr marL="0" indent="0" algn="l">
              <a:lnSpc>
                <a:spcPts val="979"/>
              </a:lnSpc>
              <a:buNone/>
            </a:pPr>
            <a:r>
              <a:rPr lang="en-US" sz="800" i="1" dirty="0">
                <a:solidFill>
                  <a:srgbClr val="1F1F1F"/>
                </a:solidFill>
                <a:latin typeface="Tinos" pitchFamily="34" charset="0"/>
                <a:ea typeface="Tinos" pitchFamily="34" charset="-122"/>
                <a:cs typeface="Tinos" pitchFamily="34" charset="-120"/>
              </a:rPr>
              <a:t>Post-Quantum Cryptography and Quantum-Safe Security: A Comprehensive Survey.</a:t>
            </a:r>
            <a:r>
              <a:rPr lang="en-US" sz="800" dirty="0">
                <a:solidFill>
                  <a:srgbClr val="1F1F1F"/>
                </a:solidFill>
                <a:latin typeface="Carlito" pitchFamily="34" charset="0"/>
                <a:ea typeface="Carlito" pitchFamily="34" charset="-122"/>
                <a:cs typeface="Carlito" pitchFamily="34" charset="-120"/>
              </a:rPr>
              <a:t> arXiv:2510.10436, Oct 2025, rev. Jun 2026.</a:t>
            </a:r>
            <a:endParaRPr lang="en-US" sz="800" dirty="0"/>
          </a:p>
        </p:txBody>
      </p:sp>
      <p:sp>
        <p:nvSpPr>
          <p:cNvPr id="11" name="Shape 9"/>
          <p:cNvSpPr/>
          <p:nvPr/>
        </p:nvSpPr>
        <p:spPr>
          <a:xfrm>
            <a:off x="514350" y="1738722"/>
            <a:ext cx="8115300" cy="0"/>
          </a:xfrm>
          <a:prstGeom prst="line">
            <a:avLst/>
          </a:prstGeom>
          <a:noFill/>
          <a:ln w="7144">
            <a:solidFill>
              <a:srgbClr val="D9D9D9"/>
            </a:solidFill>
            <a:prstDash val="solid"/>
          </a:ln>
        </p:spPr>
        <p:txBody>
          <a:bodyPr/>
          <a:lstStyle/>
          <a:p>
            <a:endParaRPr lang="en-US"/>
          </a:p>
        </p:txBody>
      </p:sp>
      <p:sp>
        <p:nvSpPr>
          <p:cNvPr id="12" name="Text 10"/>
          <p:cNvSpPr/>
          <p:nvPr/>
        </p:nvSpPr>
        <p:spPr>
          <a:xfrm>
            <a:off x="514350" y="1813731"/>
            <a:ext cx="722376" cy="139303"/>
          </a:xfrm>
          <a:prstGeom prst="rect">
            <a:avLst/>
          </a:prstGeom>
          <a:noFill/>
          <a:ln/>
        </p:spPr>
        <p:txBody>
          <a:bodyPr wrap="none" lIns="0" tIns="0" rIns="0" bIns="0" rtlCol="0" anchor="t"/>
          <a:lstStyle/>
          <a:p>
            <a:pPr marL="0" indent="0" algn="l">
              <a:lnSpc>
                <a:spcPts val="1097"/>
              </a:lnSpc>
              <a:buNone/>
            </a:pPr>
            <a:r>
              <a:rPr lang="en-US" sz="800" b="1" dirty="0">
                <a:solidFill>
                  <a:srgbClr val="0A0A0A"/>
                </a:solidFill>
                <a:latin typeface="Liberation Sans Narrow" pitchFamily="34" charset="0"/>
                <a:ea typeface="Liberation Sans Narrow" pitchFamily="34" charset="-122"/>
                <a:cs typeface="Liberation Sans Narrow" pitchFamily="34" charset="-120"/>
              </a:rPr>
              <a:t>P10</a:t>
            </a:r>
            <a:endParaRPr lang="en-US" sz="800" dirty="0"/>
          </a:p>
        </p:txBody>
      </p:sp>
      <p:sp>
        <p:nvSpPr>
          <p:cNvPr id="13" name="Text 11"/>
          <p:cNvSpPr/>
          <p:nvPr/>
        </p:nvSpPr>
        <p:spPr>
          <a:xfrm>
            <a:off x="971550" y="1828019"/>
            <a:ext cx="7658100" cy="125016"/>
          </a:xfrm>
          <a:prstGeom prst="rect">
            <a:avLst/>
          </a:prstGeom>
          <a:noFill/>
          <a:ln/>
        </p:spPr>
        <p:txBody>
          <a:bodyPr wrap="square" lIns="0" tIns="0" rIns="0" bIns="0" rtlCol="0" anchor="t"/>
          <a:lstStyle/>
          <a:p>
            <a:pPr marL="0" indent="0" algn="l">
              <a:lnSpc>
                <a:spcPts val="979"/>
              </a:lnSpc>
              <a:buNone/>
            </a:pPr>
            <a:r>
              <a:rPr lang="en-US" sz="800" i="1" dirty="0">
                <a:solidFill>
                  <a:srgbClr val="1F1F1F"/>
                </a:solidFill>
                <a:latin typeface="Tinos" pitchFamily="34" charset="0"/>
                <a:ea typeface="Tinos" pitchFamily="34" charset="-122"/>
                <a:cs typeface="Tinos" pitchFamily="34" charset="-120"/>
              </a:rPr>
              <a:t>Securing Cryptography in the Age of Quantum Computing and AI.</a:t>
            </a:r>
            <a:r>
              <a:rPr lang="en-US" sz="800" dirty="0">
                <a:solidFill>
                  <a:srgbClr val="1F1F1F"/>
                </a:solidFill>
                <a:latin typeface="Liberation Sans Narrow" pitchFamily="34" charset="0"/>
                <a:ea typeface="Liberation Sans Narrow" pitchFamily="34" charset="-122"/>
                <a:cs typeface="Liberation Sans Narrow" pitchFamily="34" charset="-120"/>
              </a:rPr>
              <a:t> arXiv:2603.06969, Mar 2026.</a:t>
            </a:r>
            <a:endParaRPr lang="en-US" sz="800" dirty="0"/>
          </a:p>
        </p:txBody>
      </p:sp>
      <p:sp>
        <p:nvSpPr>
          <p:cNvPr id="14" name="Shape 12"/>
          <p:cNvSpPr/>
          <p:nvPr/>
        </p:nvSpPr>
        <p:spPr>
          <a:xfrm>
            <a:off x="514350" y="2028044"/>
            <a:ext cx="8115300" cy="0"/>
          </a:xfrm>
          <a:prstGeom prst="line">
            <a:avLst/>
          </a:prstGeom>
          <a:noFill/>
          <a:ln w="7144">
            <a:solidFill>
              <a:srgbClr val="D9D9D9"/>
            </a:solidFill>
            <a:prstDash val="solid"/>
          </a:ln>
        </p:spPr>
        <p:txBody>
          <a:bodyPr/>
          <a:lstStyle/>
          <a:p>
            <a:endParaRPr lang="en-US"/>
          </a:p>
        </p:txBody>
      </p:sp>
      <p:sp>
        <p:nvSpPr>
          <p:cNvPr id="15" name="Text 13"/>
          <p:cNvSpPr/>
          <p:nvPr/>
        </p:nvSpPr>
        <p:spPr>
          <a:xfrm>
            <a:off x="514350" y="2103053"/>
            <a:ext cx="722376" cy="139303"/>
          </a:xfrm>
          <a:prstGeom prst="rect">
            <a:avLst/>
          </a:prstGeom>
          <a:noFill/>
          <a:ln/>
        </p:spPr>
        <p:txBody>
          <a:bodyPr wrap="none" lIns="0" tIns="0" rIns="0" bIns="0" rtlCol="0" anchor="t"/>
          <a:lstStyle/>
          <a:p>
            <a:pPr marL="0" indent="0" algn="l">
              <a:lnSpc>
                <a:spcPts val="1097"/>
              </a:lnSpc>
              <a:buNone/>
            </a:pPr>
            <a:r>
              <a:rPr lang="en-US" sz="800" b="1" dirty="0">
                <a:solidFill>
                  <a:srgbClr val="0A0A0A"/>
                </a:solidFill>
                <a:latin typeface="Liberation Sans Narrow" pitchFamily="34" charset="0"/>
                <a:ea typeface="Liberation Sans Narrow" pitchFamily="34" charset="-122"/>
                <a:cs typeface="Liberation Sans Narrow" pitchFamily="34" charset="-120"/>
              </a:rPr>
              <a:t>P11</a:t>
            </a:r>
            <a:endParaRPr lang="en-US" sz="800" dirty="0"/>
          </a:p>
        </p:txBody>
      </p:sp>
      <p:sp>
        <p:nvSpPr>
          <p:cNvPr id="16" name="Text 14"/>
          <p:cNvSpPr/>
          <p:nvPr/>
        </p:nvSpPr>
        <p:spPr>
          <a:xfrm>
            <a:off x="971550" y="2117341"/>
            <a:ext cx="7658100" cy="125016"/>
          </a:xfrm>
          <a:prstGeom prst="rect">
            <a:avLst/>
          </a:prstGeom>
          <a:noFill/>
          <a:ln/>
        </p:spPr>
        <p:txBody>
          <a:bodyPr wrap="square" lIns="0" tIns="0" rIns="0" bIns="0" rtlCol="0" anchor="t"/>
          <a:lstStyle/>
          <a:p>
            <a:pPr marL="0" indent="0" algn="l">
              <a:lnSpc>
                <a:spcPts val="979"/>
              </a:lnSpc>
              <a:buNone/>
            </a:pPr>
            <a:r>
              <a:rPr lang="en-US" sz="800" i="1" dirty="0">
                <a:solidFill>
                  <a:srgbClr val="1F1F1F"/>
                </a:solidFill>
                <a:latin typeface="Tinos" pitchFamily="34" charset="0"/>
                <a:ea typeface="Tinos" pitchFamily="34" charset="-122"/>
                <a:cs typeface="Tinos" pitchFamily="34" charset="-120"/>
              </a:rPr>
              <a:t>A Toolchain for Assisting Migration of Software Executables Towards PQC.</a:t>
            </a:r>
            <a:r>
              <a:rPr lang="en-US" sz="800" dirty="0">
                <a:solidFill>
                  <a:srgbClr val="1F1F1F"/>
                </a:solidFill>
                <a:latin typeface="Liberation Sans Narrow" pitchFamily="34" charset="0"/>
                <a:ea typeface="Liberation Sans Narrow" pitchFamily="34" charset="-122"/>
                <a:cs typeface="Liberation Sans Narrow" pitchFamily="34" charset="-120"/>
              </a:rPr>
              <a:t> arXiv:2409.07852, 2024.</a:t>
            </a:r>
            <a:endParaRPr lang="en-US" sz="800" dirty="0"/>
          </a:p>
        </p:txBody>
      </p:sp>
      <p:sp>
        <p:nvSpPr>
          <p:cNvPr id="17" name="Shape 15"/>
          <p:cNvSpPr/>
          <p:nvPr/>
        </p:nvSpPr>
        <p:spPr>
          <a:xfrm>
            <a:off x="514350" y="2317366"/>
            <a:ext cx="8115300" cy="0"/>
          </a:xfrm>
          <a:prstGeom prst="line">
            <a:avLst/>
          </a:prstGeom>
          <a:noFill/>
          <a:ln w="7144">
            <a:solidFill>
              <a:srgbClr val="D9D9D9"/>
            </a:solidFill>
            <a:prstDash val="solid"/>
          </a:ln>
        </p:spPr>
        <p:txBody>
          <a:bodyPr/>
          <a:lstStyle/>
          <a:p>
            <a:endParaRPr lang="en-US"/>
          </a:p>
        </p:txBody>
      </p:sp>
      <p:sp>
        <p:nvSpPr>
          <p:cNvPr id="18" name="Text 16"/>
          <p:cNvSpPr/>
          <p:nvPr/>
        </p:nvSpPr>
        <p:spPr>
          <a:xfrm>
            <a:off x="514350" y="2392375"/>
            <a:ext cx="722376" cy="139303"/>
          </a:xfrm>
          <a:prstGeom prst="rect">
            <a:avLst/>
          </a:prstGeom>
          <a:noFill/>
          <a:ln/>
        </p:spPr>
        <p:txBody>
          <a:bodyPr wrap="none" lIns="0" tIns="0" rIns="0" bIns="0" rtlCol="0" anchor="t"/>
          <a:lstStyle/>
          <a:p>
            <a:pPr marL="0" indent="0" algn="l">
              <a:lnSpc>
                <a:spcPts val="1097"/>
              </a:lnSpc>
              <a:buNone/>
            </a:pPr>
            <a:r>
              <a:rPr lang="en-US" sz="800" b="1" dirty="0">
                <a:solidFill>
                  <a:srgbClr val="0A0A0A"/>
                </a:solidFill>
                <a:latin typeface="Liberation Sans Narrow" pitchFamily="34" charset="0"/>
                <a:ea typeface="Liberation Sans Narrow" pitchFamily="34" charset="-122"/>
                <a:cs typeface="Liberation Sans Narrow" pitchFamily="34" charset="-120"/>
              </a:rPr>
              <a:t>P12</a:t>
            </a:r>
            <a:endParaRPr lang="en-US" sz="800" dirty="0"/>
          </a:p>
        </p:txBody>
      </p:sp>
      <p:sp>
        <p:nvSpPr>
          <p:cNvPr id="19" name="Text 17"/>
          <p:cNvSpPr/>
          <p:nvPr/>
        </p:nvSpPr>
        <p:spPr>
          <a:xfrm>
            <a:off x="971550" y="2406662"/>
            <a:ext cx="7658100" cy="125016"/>
          </a:xfrm>
          <a:prstGeom prst="rect">
            <a:avLst/>
          </a:prstGeom>
          <a:noFill/>
          <a:ln/>
        </p:spPr>
        <p:txBody>
          <a:bodyPr wrap="square" lIns="0" tIns="0" rIns="0" bIns="0" rtlCol="0" anchor="t"/>
          <a:lstStyle/>
          <a:p>
            <a:pPr marL="0" indent="0" algn="l">
              <a:lnSpc>
                <a:spcPts val="979"/>
              </a:lnSpc>
              <a:buNone/>
            </a:pPr>
            <a:r>
              <a:rPr lang="en-US" sz="675" i="1" dirty="0">
                <a:solidFill>
                  <a:srgbClr val="1F1F1F"/>
                </a:solidFill>
                <a:latin typeface="Tinos" pitchFamily="34" charset="0"/>
                <a:ea typeface="Tinos" pitchFamily="34" charset="-122"/>
                <a:cs typeface="Tinos" pitchFamily="34" charset="-120"/>
              </a:rPr>
              <a:t>The Cost of Waiting: Decision-Theoretic Synthesis of Early vs Late PQC Migration Under Uncertainty.</a:t>
            </a:r>
            <a:r>
              <a:rPr lang="en-US" sz="675" dirty="0">
                <a:solidFill>
                  <a:srgbClr val="1F1F1F"/>
                </a:solidFill>
                <a:latin typeface="Carlito" pitchFamily="34" charset="0"/>
                <a:ea typeface="Carlito" pitchFamily="34" charset="-122"/>
                <a:cs typeface="Carlito" pitchFamily="34" charset="-120"/>
              </a:rPr>
              <a:t> Frontiers in Quantum Science and Technology, 2026.</a:t>
            </a:r>
            <a:endParaRPr lang="en-US" sz="675" dirty="0"/>
          </a:p>
        </p:txBody>
      </p:sp>
      <p:sp>
        <p:nvSpPr>
          <p:cNvPr id="20" name="Shape 18"/>
          <p:cNvSpPr/>
          <p:nvPr/>
        </p:nvSpPr>
        <p:spPr>
          <a:xfrm>
            <a:off x="514350" y="2606687"/>
            <a:ext cx="8115300" cy="0"/>
          </a:xfrm>
          <a:prstGeom prst="line">
            <a:avLst/>
          </a:prstGeom>
          <a:noFill/>
          <a:ln w="7144">
            <a:solidFill>
              <a:srgbClr val="D9D9D9"/>
            </a:solidFill>
            <a:prstDash val="solid"/>
          </a:ln>
        </p:spPr>
        <p:txBody>
          <a:bodyPr/>
          <a:lstStyle/>
          <a:p>
            <a:endParaRPr lang="en-US"/>
          </a:p>
        </p:txBody>
      </p:sp>
      <p:sp>
        <p:nvSpPr>
          <p:cNvPr id="21" name="Text 19"/>
          <p:cNvSpPr/>
          <p:nvPr/>
        </p:nvSpPr>
        <p:spPr>
          <a:xfrm>
            <a:off x="514350" y="2681697"/>
            <a:ext cx="722376" cy="139303"/>
          </a:xfrm>
          <a:prstGeom prst="rect">
            <a:avLst/>
          </a:prstGeom>
          <a:noFill/>
          <a:ln/>
        </p:spPr>
        <p:txBody>
          <a:bodyPr wrap="none" lIns="0" tIns="0" rIns="0" bIns="0" rtlCol="0" anchor="t"/>
          <a:lstStyle/>
          <a:p>
            <a:pPr marL="0" indent="0" algn="l">
              <a:lnSpc>
                <a:spcPts val="1097"/>
              </a:lnSpc>
              <a:buNone/>
            </a:pPr>
            <a:r>
              <a:rPr lang="en-US" sz="800" b="1" dirty="0">
                <a:solidFill>
                  <a:srgbClr val="0A0A0A"/>
                </a:solidFill>
                <a:latin typeface="Liberation Sans Narrow" pitchFamily="34" charset="0"/>
                <a:ea typeface="Liberation Sans Narrow" pitchFamily="34" charset="-122"/>
                <a:cs typeface="Liberation Sans Narrow" pitchFamily="34" charset="-120"/>
              </a:rPr>
              <a:t>P13</a:t>
            </a:r>
            <a:endParaRPr lang="en-US" sz="800" dirty="0"/>
          </a:p>
        </p:txBody>
      </p:sp>
      <p:sp>
        <p:nvSpPr>
          <p:cNvPr id="22" name="Text 20"/>
          <p:cNvSpPr/>
          <p:nvPr/>
        </p:nvSpPr>
        <p:spPr>
          <a:xfrm>
            <a:off x="971550" y="2695984"/>
            <a:ext cx="7658100" cy="125016"/>
          </a:xfrm>
          <a:prstGeom prst="rect">
            <a:avLst/>
          </a:prstGeom>
          <a:noFill/>
          <a:ln/>
        </p:spPr>
        <p:txBody>
          <a:bodyPr wrap="square" lIns="0" tIns="0" rIns="0" bIns="0" rtlCol="0" anchor="t"/>
          <a:lstStyle/>
          <a:p>
            <a:pPr marL="0" indent="0" algn="l">
              <a:lnSpc>
                <a:spcPts val="979"/>
              </a:lnSpc>
              <a:buNone/>
            </a:pPr>
            <a:r>
              <a:rPr lang="en-US" sz="675" dirty="0">
                <a:solidFill>
                  <a:srgbClr val="1F1F1F"/>
                </a:solidFill>
                <a:latin typeface="Carlito" pitchFamily="34" charset="0"/>
                <a:ea typeface="Carlito" pitchFamily="34" charset="-122"/>
                <a:cs typeface="Carlito" pitchFamily="34" charset="-120"/>
              </a:rPr>
              <a:t>S. Rahaman et al. </a:t>
            </a:r>
            <a:r>
              <a:rPr lang="en-US" sz="675" i="1" dirty="0">
                <a:solidFill>
                  <a:srgbClr val="1F1F1F"/>
                </a:solidFill>
                <a:latin typeface="Tinos" pitchFamily="34" charset="0"/>
                <a:ea typeface="Tinos" pitchFamily="34" charset="-122"/>
                <a:cs typeface="Tinos" pitchFamily="34" charset="-120"/>
              </a:rPr>
              <a:t>CryptoGuard: High Precision Detection of Cryptographic Vulnerabilities in Massive-Sized Java Projects.</a:t>
            </a:r>
            <a:r>
              <a:rPr lang="en-US" sz="675" dirty="0">
                <a:solidFill>
                  <a:srgbClr val="1F1F1F"/>
                </a:solidFill>
                <a:latin typeface="Liberation Sans Narrow" pitchFamily="34" charset="0"/>
                <a:ea typeface="Liberation Sans Narrow" pitchFamily="34" charset="-122"/>
                <a:cs typeface="Liberation Sans Narrow" pitchFamily="34" charset="-120"/>
              </a:rPr>
              <a:t> ACM CCS 2019.</a:t>
            </a:r>
            <a:endParaRPr lang="en-US" sz="675" dirty="0"/>
          </a:p>
        </p:txBody>
      </p:sp>
      <p:sp>
        <p:nvSpPr>
          <p:cNvPr id="23" name="Shape 21"/>
          <p:cNvSpPr/>
          <p:nvPr/>
        </p:nvSpPr>
        <p:spPr>
          <a:xfrm>
            <a:off x="514350" y="2896009"/>
            <a:ext cx="8115300" cy="0"/>
          </a:xfrm>
          <a:prstGeom prst="line">
            <a:avLst/>
          </a:prstGeom>
          <a:noFill/>
          <a:ln w="7144">
            <a:solidFill>
              <a:srgbClr val="D9D9D9"/>
            </a:solidFill>
            <a:prstDash val="solid"/>
          </a:ln>
        </p:spPr>
        <p:txBody>
          <a:bodyPr/>
          <a:lstStyle/>
          <a:p>
            <a:endParaRPr lang="en-US"/>
          </a:p>
        </p:txBody>
      </p:sp>
      <p:sp>
        <p:nvSpPr>
          <p:cNvPr id="24" name="Text 22"/>
          <p:cNvSpPr/>
          <p:nvPr/>
        </p:nvSpPr>
        <p:spPr>
          <a:xfrm>
            <a:off x="514350" y="2971019"/>
            <a:ext cx="722376" cy="139303"/>
          </a:xfrm>
          <a:prstGeom prst="rect">
            <a:avLst/>
          </a:prstGeom>
          <a:noFill/>
          <a:ln/>
        </p:spPr>
        <p:txBody>
          <a:bodyPr wrap="none" lIns="0" tIns="0" rIns="0" bIns="0" rtlCol="0" anchor="t"/>
          <a:lstStyle/>
          <a:p>
            <a:pPr marL="0" indent="0" algn="l">
              <a:lnSpc>
                <a:spcPts val="1097"/>
              </a:lnSpc>
              <a:buNone/>
            </a:pPr>
            <a:r>
              <a:rPr lang="en-US" sz="800" b="1" dirty="0">
                <a:solidFill>
                  <a:srgbClr val="0A0A0A"/>
                </a:solidFill>
                <a:latin typeface="Liberation Sans Narrow" pitchFamily="34" charset="0"/>
                <a:ea typeface="Liberation Sans Narrow" pitchFamily="34" charset="-122"/>
                <a:cs typeface="Liberation Sans Narrow" pitchFamily="34" charset="-120"/>
              </a:rPr>
              <a:t>P14</a:t>
            </a:r>
            <a:endParaRPr lang="en-US" sz="800" dirty="0"/>
          </a:p>
        </p:txBody>
      </p:sp>
      <p:sp>
        <p:nvSpPr>
          <p:cNvPr id="25" name="Text 23"/>
          <p:cNvSpPr/>
          <p:nvPr/>
        </p:nvSpPr>
        <p:spPr>
          <a:xfrm>
            <a:off x="971550" y="2985306"/>
            <a:ext cx="7658100" cy="125016"/>
          </a:xfrm>
          <a:prstGeom prst="rect">
            <a:avLst/>
          </a:prstGeom>
          <a:noFill/>
          <a:ln/>
        </p:spPr>
        <p:txBody>
          <a:bodyPr wrap="square" lIns="0" tIns="0" rIns="0" bIns="0" rtlCol="0" anchor="t"/>
          <a:lstStyle/>
          <a:p>
            <a:pPr marL="0" indent="0" algn="l">
              <a:lnSpc>
                <a:spcPts val="979"/>
              </a:lnSpc>
              <a:buNone/>
            </a:pPr>
            <a:r>
              <a:rPr lang="en-US" sz="800" dirty="0">
                <a:solidFill>
                  <a:srgbClr val="1F1F1F"/>
                </a:solidFill>
                <a:latin typeface="Carlito" pitchFamily="34" charset="0"/>
                <a:ea typeface="Carlito" pitchFamily="34" charset="-122"/>
                <a:cs typeface="Carlito" pitchFamily="34" charset="-120"/>
              </a:rPr>
              <a:t>C. Näther et al. </a:t>
            </a:r>
            <a:r>
              <a:rPr lang="en-US" sz="800" i="1" dirty="0">
                <a:solidFill>
                  <a:srgbClr val="1F1F1F"/>
                </a:solidFill>
                <a:latin typeface="Tinos" pitchFamily="34" charset="0"/>
                <a:ea typeface="Tinos" pitchFamily="34" charset="-122"/>
                <a:cs typeface="Tinos" pitchFamily="34" charset="-120"/>
              </a:rPr>
              <a:t>Migrating Software Systems towards PQC: A Systematic Literature Review.</a:t>
            </a:r>
            <a:r>
              <a:rPr lang="en-US" sz="800" dirty="0">
                <a:solidFill>
                  <a:srgbClr val="1F1F1F"/>
                </a:solidFill>
                <a:latin typeface="Liberation Sans Narrow" pitchFamily="34" charset="0"/>
                <a:ea typeface="Liberation Sans Narrow" pitchFamily="34" charset="-122"/>
                <a:cs typeface="Liberation Sans Narrow" pitchFamily="34" charset="-120"/>
              </a:rPr>
              <a:t> arXiv:2404.12854, Apr 2024.</a:t>
            </a:r>
            <a:endParaRPr lang="en-US" sz="800" dirty="0"/>
          </a:p>
        </p:txBody>
      </p:sp>
      <p:sp>
        <p:nvSpPr>
          <p:cNvPr id="26" name="Shape 24"/>
          <p:cNvSpPr/>
          <p:nvPr/>
        </p:nvSpPr>
        <p:spPr>
          <a:xfrm>
            <a:off x="514350" y="3185331"/>
            <a:ext cx="8115300" cy="0"/>
          </a:xfrm>
          <a:prstGeom prst="line">
            <a:avLst/>
          </a:prstGeom>
          <a:noFill/>
          <a:ln w="7144">
            <a:solidFill>
              <a:srgbClr val="D9D9D9"/>
            </a:solidFill>
            <a:prstDash val="solid"/>
          </a:ln>
        </p:spPr>
        <p:txBody>
          <a:bodyPr/>
          <a:lstStyle/>
          <a:p>
            <a:endParaRPr lang="en-US"/>
          </a:p>
        </p:txBody>
      </p:sp>
      <p:sp>
        <p:nvSpPr>
          <p:cNvPr id="27" name="Text 25"/>
          <p:cNvSpPr/>
          <p:nvPr/>
        </p:nvSpPr>
        <p:spPr>
          <a:xfrm>
            <a:off x="514350" y="3260341"/>
            <a:ext cx="722376" cy="139303"/>
          </a:xfrm>
          <a:prstGeom prst="rect">
            <a:avLst/>
          </a:prstGeom>
          <a:noFill/>
          <a:ln/>
        </p:spPr>
        <p:txBody>
          <a:bodyPr wrap="none" lIns="0" tIns="0" rIns="0" bIns="0" rtlCol="0" anchor="t"/>
          <a:lstStyle/>
          <a:p>
            <a:pPr marL="0" indent="0" algn="l">
              <a:lnSpc>
                <a:spcPts val="1097"/>
              </a:lnSpc>
              <a:buNone/>
            </a:pPr>
            <a:r>
              <a:rPr lang="en-US" sz="800" b="1" dirty="0">
                <a:solidFill>
                  <a:srgbClr val="0A0A0A"/>
                </a:solidFill>
                <a:latin typeface="Liberation Sans Narrow" pitchFamily="34" charset="0"/>
                <a:ea typeface="Liberation Sans Narrow" pitchFamily="34" charset="-122"/>
                <a:cs typeface="Liberation Sans Narrow" pitchFamily="34" charset="-120"/>
              </a:rPr>
              <a:t>P15</a:t>
            </a:r>
            <a:endParaRPr lang="en-US" sz="800" dirty="0"/>
          </a:p>
        </p:txBody>
      </p:sp>
      <p:sp>
        <p:nvSpPr>
          <p:cNvPr id="28" name="Text 26"/>
          <p:cNvSpPr/>
          <p:nvPr/>
        </p:nvSpPr>
        <p:spPr>
          <a:xfrm>
            <a:off x="971550" y="3274628"/>
            <a:ext cx="7658100" cy="125016"/>
          </a:xfrm>
          <a:prstGeom prst="rect">
            <a:avLst/>
          </a:prstGeom>
          <a:noFill/>
          <a:ln/>
        </p:spPr>
        <p:txBody>
          <a:bodyPr wrap="square" lIns="0" tIns="0" rIns="0" bIns="0" rtlCol="0" anchor="t"/>
          <a:lstStyle/>
          <a:p>
            <a:pPr marL="0" indent="0" algn="l">
              <a:lnSpc>
                <a:spcPts val="979"/>
              </a:lnSpc>
              <a:buNone/>
            </a:pPr>
            <a:r>
              <a:rPr lang="en-US" sz="800" i="1" dirty="0">
                <a:solidFill>
                  <a:srgbClr val="1F1F1F"/>
                </a:solidFill>
                <a:latin typeface="Tinos" pitchFamily="34" charset="0"/>
                <a:ea typeface="Tinos" pitchFamily="34" charset="-122"/>
                <a:cs typeface="Tinos" pitchFamily="34" charset="-120"/>
              </a:rPr>
              <a:t>Harvest Now, Decrypt Later: Examining Post-Quantum Risk.</a:t>
            </a:r>
            <a:r>
              <a:rPr lang="en-US" sz="800" dirty="0">
                <a:solidFill>
                  <a:srgbClr val="1F1F1F"/>
                </a:solidFill>
                <a:latin typeface="Liberation Sans Narrow" pitchFamily="34" charset="0"/>
                <a:ea typeface="Liberation Sans Narrow" pitchFamily="34" charset="-122"/>
                <a:cs typeface="Liberation Sans Narrow" pitchFamily="34" charset="-120"/>
              </a:rPr>
              <a:t> Federal Reserve FEDS, 2025.</a:t>
            </a:r>
            <a:endParaRPr lang="en-US" sz="800" dirty="0"/>
          </a:p>
        </p:txBody>
      </p:sp>
      <p:sp>
        <p:nvSpPr>
          <p:cNvPr id="29" name="Shape 27"/>
          <p:cNvSpPr/>
          <p:nvPr/>
        </p:nvSpPr>
        <p:spPr>
          <a:xfrm>
            <a:off x="514350" y="3474653"/>
            <a:ext cx="8115300" cy="0"/>
          </a:xfrm>
          <a:prstGeom prst="line">
            <a:avLst/>
          </a:prstGeom>
          <a:noFill/>
          <a:ln w="7144">
            <a:solidFill>
              <a:srgbClr val="D9D9D9"/>
            </a:solidFill>
            <a:prstDash val="solid"/>
          </a:ln>
        </p:spPr>
        <p:txBody>
          <a:bodyPr/>
          <a:lstStyle/>
          <a:p>
            <a:endParaRPr lang="en-US"/>
          </a:p>
        </p:txBody>
      </p:sp>
      <p:sp>
        <p:nvSpPr>
          <p:cNvPr id="30" name="Shape 28"/>
          <p:cNvSpPr/>
          <p:nvPr/>
        </p:nvSpPr>
        <p:spPr>
          <a:xfrm>
            <a:off x="514350" y="3763975"/>
            <a:ext cx="8115300" cy="0"/>
          </a:xfrm>
          <a:prstGeom prst="line">
            <a:avLst/>
          </a:prstGeom>
          <a:noFill/>
          <a:ln w="7144">
            <a:solidFill>
              <a:srgbClr val="D9D9D9"/>
            </a:solidFill>
            <a:prstDash val="solid"/>
          </a:ln>
        </p:spPr>
        <p:txBody>
          <a:bodyPr/>
          <a:lstStyle/>
          <a:p>
            <a:endParaRPr lang="en-US"/>
          </a:p>
        </p:txBody>
      </p:sp>
      <p:sp>
        <p:nvSpPr>
          <p:cNvPr id="31" name="Text 29"/>
          <p:cNvSpPr/>
          <p:nvPr/>
        </p:nvSpPr>
        <p:spPr>
          <a:xfrm>
            <a:off x="514350" y="3549662"/>
            <a:ext cx="722376" cy="139303"/>
          </a:xfrm>
          <a:prstGeom prst="rect">
            <a:avLst/>
          </a:prstGeom>
          <a:noFill/>
          <a:ln/>
        </p:spPr>
        <p:txBody>
          <a:bodyPr wrap="none" lIns="0" tIns="0" rIns="0" bIns="0" rtlCol="0" anchor="t"/>
          <a:lstStyle/>
          <a:p>
            <a:pPr marL="0" indent="0" algn="l">
              <a:lnSpc>
                <a:spcPts val="1097"/>
              </a:lnSpc>
              <a:buNone/>
            </a:pPr>
            <a:r>
              <a:rPr lang="en-US" sz="800" b="1" dirty="0">
                <a:solidFill>
                  <a:srgbClr val="0A0A0A"/>
                </a:solidFill>
                <a:latin typeface="Liberation Sans Narrow" pitchFamily="34" charset="0"/>
                <a:ea typeface="Liberation Sans Narrow" pitchFamily="34" charset="-122"/>
                <a:cs typeface="Liberation Sans Narrow" pitchFamily="34" charset="-120"/>
              </a:rPr>
              <a:t>P16</a:t>
            </a:r>
            <a:endParaRPr lang="en-US" sz="800" dirty="0"/>
          </a:p>
        </p:txBody>
      </p:sp>
      <p:sp>
        <p:nvSpPr>
          <p:cNvPr id="32" name="Text 30"/>
          <p:cNvSpPr/>
          <p:nvPr/>
        </p:nvSpPr>
        <p:spPr>
          <a:xfrm>
            <a:off x="971550" y="3563950"/>
            <a:ext cx="7658100" cy="125016"/>
          </a:xfrm>
          <a:prstGeom prst="rect">
            <a:avLst/>
          </a:prstGeom>
          <a:noFill/>
          <a:ln/>
        </p:spPr>
        <p:txBody>
          <a:bodyPr wrap="square" lIns="0" tIns="0" rIns="0" bIns="0" rtlCol="0" anchor="t"/>
          <a:lstStyle/>
          <a:p>
            <a:pPr marL="0" indent="0" algn="l">
              <a:lnSpc>
                <a:spcPts val="979"/>
              </a:lnSpc>
              <a:buNone/>
            </a:pPr>
            <a:r>
              <a:rPr lang="en-US" sz="800" dirty="0">
                <a:solidFill>
                  <a:srgbClr val="1F1F1F"/>
                </a:solidFill>
                <a:latin typeface="Carlito" pitchFamily="34" charset="0"/>
                <a:ea typeface="Carlito" pitchFamily="34" charset="-122"/>
                <a:cs typeface="Carlito" pitchFamily="34" charset="-120"/>
              </a:rPr>
              <a:t>S. Krüger et al. </a:t>
            </a:r>
            <a:r>
              <a:rPr lang="en-US" sz="800" i="1" dirty="0">
                <a:solidFill>
                  <a:srgbClr val="1F1F1F"/>
                </a:solidFill>
                <a:latin typeface="Tinos" pitchFamily="34" charset="0"/>
                <a:ea typeface="Tinos" pitchFamily="34" charset="-122"/>
                <a:cs typeface="Tinos" pitchFamily="34" charset="-120"/>
              </a:rPr>
              <a:t>CogniCrypt: Supporting Developers in Using Cryptography.</a:t>
            </a:r>
            <a:r>
              <a:rPr lang="en-US" sz="800" dirty="0">
                <a:solidFill>
                  <a:srgbClr val="1F1F1F"/>
                </a:solidFill>
                <a:latin typeface="Liberation Sans Narrow" pitchFamily="34" charset="0"/>
                <a:ea typeface="Liberation Sans Narrow" pitchFamily="34" charset="-122"/>
                <a:cs typeface="Liberation Sans Narrow" pitchFamily="34" charset="-120"/>
              </a:rPr>
              <a:t> IEEE/ACM ASE 2017.</a:t>
            </a:r>
            <a:endParaRPr lang="en-US" sz="800" dirty="0"/>
          </a:p>
        </p:txBody>
      </p:sp>
      <p:sp>
        <p:nvSpPr>
          <p:cNvPr id="33" name="Shape 31"/>
          <p:cNvSpPr/>
          <p:nvPr/>
        </p:nvSpPr>
        <p:spPr>
          <a:xfrm>
            <a:off x="514350" y="4741664"/>
            <a:ext cx="8115300" cy="0"/>
          </a:xfrm>
          <a:prstGeom prst="line">
            <a:avLst/>
          </a:prstGeom>
          <a:noFill/>
          <a:ln w="7144">
            <a:solidFill>
              <a:srgbClr val="D9D9D9"/>
            </a:solidFill>
            <a:prstDash val="solid"/>
          </a:ln>
        </p:spPr>
        <p:txBody>
          <a:bodyPr/>
          <a:lstStyle/>
          <a:p>
            <a:endParaRPr lang="en-US"/>
          </a:p>
        </p:txBody>
      </p:sp>
      <p:sp>
        <p:nvSpPr>
          <p:cNvPr id="34" name="Text 32"/>
          <p:cNvSpPr/>
          <p:nvPr/>
        </p:nvSpPr>
        <p:spPr>
          <a:xfrm>
            <a:off x="1463040" y="4846320"/>
            <a:ext cx="7132320" cy="137160"/>
          </a:xfrm>
          <a:prstGeom prst="rect">
            <a:avLst/>
          </a:prstGeom>
          <a:noFill/>
          <a:ln/>
        </p:spPr>
        <p:txBody>
          <a:bodyPr wrap="none" lIns="0" tIns="0" rIns="0" bIns="0" rtlCol="0" anchor="t"/>
          <a:lstStyle/>
          <a:p>
            <a:pPr marL="0" indent="0" algn="l">
              <a:lnSpc>
                <a:spcPts val="886"/>
              </a:lnSpc>
              <a:buNone/>
            </a:pPr>
            <a:r>
              <a:rPr lang="en-US" sz="800" kern="0" spc="106" dirty="0">
                <a:solidFill>
                  <a:srgbClr val="4A4A4A"/>
                </a:solidFill>
                <a:latin typeface="Liberation Sans Narrow" pitchFamily="34" charset="0"/>
                <a:ea typeface="Liberation Sans Narrow" pitchFamily="34" charset="-122"/>
                <a:cs typeface="Liberation Sans Narrow" pitchFamily="34" charset="-120"/>
              </a:rPr>
              <a:t>SECTION 10 · REFERENCES</a:t>
            </a:r>
            <a:endParaRPr lang="en-US" sz="800" dirty="0"/>
          </a:p>
        </p:txBody>
      </p:sp>
      <p:sp>
        <p:nvSpPr>
          <p:cNvPr id="35" name="Text 33"/>
          <p:cNvSpPr/>
          <p:nvPr/>
        </p:nvSpPr>
        <p:spPr>
          <a:xfrm>
            <a:off x="548640" y="4846320"/>
            <a:ext cx="731520" cy="137160"/>
          </a:xfrm>
          <a:prstGeom prst="rect">
            <a:avLst/>
          </a:prstGeom>
          <a:noFill/>
          <a:ln/>
        </p:spPr>
        <p:txBody>
          <a:bodyPr wrap="none" lIns="0" tIns="0" rIns="0" bIns="0" rtlCol="0" anchor="t"/>
          <a:lstStyle/>
          <a:p>
            <a:pPr marL="0" indent="0" algn="l">
              <a:lnSpc>
                <a:spcPts val="886"/>
              </a:lnSpc>
              <a:buNone/>
            </a:pPr>
            <a:r>
              <a:rPr lang="en-US" sz="600" kern="0" spc="106" dirty="0">
                <a:solidFill>
                  <a:srgbClr val="4A4A4A"/>
                </a:solidFill>
                <a:latin typeface="Liberation Sans Narrow" pitchFamily="34" charset="0"/>
                <a:ea typeface="Liberation Sans Narrow" pitchFamily="34" charset="-122"/>
                <a:cs typeface="Liberation Sans Narrow" pitchFamily="34" charset="-120"/>
              </a:rPr>
              <a:t>39 / 39</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5715</Words>
  <Application>Microsoft Office PowerPoint</Application>
  <PresentationFormat>On-screen Show (16:9)</PresentationFormat>
  <Paragraphs>797</Paragraphs>
  <Slides>39</Slides>
  <Notes>39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Carlito</vt:lpstr>
      <vt:lpstr>Courier New</vt:lpstr>
      <vt:lpstr>Liberation Sans Narrow</vt:lpstr>
      <vt:lpstr>Tinos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Avi Dhandhania</cp:lastModifiedBy>
  <cp:revision>3</cp:revision>
  <dcterms:created xsi:type="dcterms:W3CDTF">2026-09-16T12:52:35Z</dcterms:created>
  <dcterms:modified xsi:type="dcterms:W3CDTF">2026-09-17T23:49:52Z</dcterms:modified>
</cp:coreProperties>
</file>