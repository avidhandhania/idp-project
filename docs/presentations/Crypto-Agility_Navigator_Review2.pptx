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and Prioritised Post-Quantum Migration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 Dhandhania (25BCE1207)  |  Anmol Saluja (25BCE1332)  |  Avika Tyagi (25BCE1294)
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Guide: Dr. E INIYA NEHRU (54128), SCOPE
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 Chennai Campus | Innovative Design Project | BACSE291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Unsolved Engineering Challenge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Every enterprise software system depends on cryptography it cannot reliably enumerate or sequence for migration. A typical mid-sized banking or healthcare application invokes RSA, ECDSA, AES and SHA-family primitives from a complex mixture of sources.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Peter Shor's algorithm renders classical public-key cryptography insecure on a CRQC. NIST has standardised post-quantum replacements (FIPS 203, 204, 205).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The unsolved engineering challenge: an organisation cannot migrate what it cannot locate, and cannot sequence a multi-year migration without knowing which of its thousands of cryptographic call sites are actually dangerous.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The urgency is set by the Harvest-Now-Decrypt-Later (HNDL) threat model.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A passive adversary intercepts and stores encrypted network traffic and database backups today at negligible storage cost, intending to decrypt the captured ciphertext once a CRQC becomes operational.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Detection after the fact provides no remedy, and forward secrecy cannot protect data retroactively.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SPECIFIC GAP IN TOOLING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Semantically Flat Outputs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Cryptographic inventory scanners have recently emerged (CBOMkit, Crypsy), standardising around CycloneDX 1.6 CBOM. However, output is semantically flat.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1. Findings are not actionable (noise). Over two-thirds of reported findings are noise, predominantly non-security hashing matched by heuristic rules.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2. Findings are not ordered (flat scoring). Where risk scoring exists, it is algorithm-intrinsic. Every RSA-2048 call site receives an identical score, offering no prioritisation signal.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FORMALISATION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The migration deadline is formalised by Mosca's inequality. For a given data path, let: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x = data confidentiality lifetime (years the data must remain secret)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y = migration duration (years required to re-engineer the system)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z = CRQC operational horizon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A data path is already breached today if: x + y &gt; z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Critically, x is a property of the data being protected, not of the cipher.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1. India Critical Information Infrastructure (CII) deadline (2027–2029).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2. Reserve Bank of India (RBI) Q-SAFE Committee.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3. SEBI Cyber Security and Cyber Resilience Framework (CSCRF).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4. US Executive Order 14412 (June 2026).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5. NIST final standards (FIPS 203, 204, 205).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LITERATURE SURVEY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 METHODOLOGY &amp; 2.2 SUMMARY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Core Papers Surveyed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LITERATURE SURVEY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Survey across ACM Digital Library, IEEE Xplore, IACR Cryptology ePrint, arXiv and Springer (Jan 2024–Aug 2026).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Key baselines: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P1 Crypsy: 214-rule static scanner; real-world actionable precision ≈ 0.30.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P2 Shaw: Regex detection with VQE threat score; algorithm-only scoring.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P3 Pallarés et al.: LLM-based migration; degrades sharply on multi-file repos.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P13 CryptoGuard: Backward inter-procedural dataflow analysis at scale.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LITERATURE SURVEY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 CRITICAL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Prior Work Gets Wrong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LITERATURE SURVEY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Critique of P1 (Crypsy):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Flaw: Context-blindness, no dataflow, no prioritisation.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Correction: Inter-procedural semantic dataflow with HNDL Exposure Score.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Critique of P2 (Shaw):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Flaw: Score cannot discriminate identical algorithms.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Correction: Score based on protected data path.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Critique of P3 (Pallarés):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Flaw: Synthetic single-fragment ceiling, superficial verification.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Correction: Verified hybrid templates with differential equivalence testing.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PROJECT OBJECTIVES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PRIMARY OBJECTIVES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O1 to O7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PROJECT OBJECTIVES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O1: Multi-language discovery. F1 ≥ 0.85.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O2: Semantic dataflow binding. ≥ 70% binding.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O3: HNDL exposure scoring. nDCG@20 ≥ 0.80.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O4: Noise suppression. Actionable precision ≥ 0.70.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O5: Verified hybrid patch synthesis. ≥ 80% pass rate.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O6: Public benchmark release.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O7: Evaluation methodology standardisation.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PROJECT OBJECTIVES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PILLARS OF NOVELTY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to N5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PROJECT OBJECTIVES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N1: Retention-aware cryptographic dataflow binding.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N2: Call-site-discriminating risk score and ranking metric.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N3: Dataflow-conditioned noise suppression.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N4: Differentially verified hybrid patch synthesis.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N5: Public retention-annotated benchmark.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REQUIREMENT ANALYSIS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STAKEHOLDERS &amp; 4.2 FRs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Requirements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REQUIREMENT ANALYSIS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Stakeholders: CISO, DevSecOps, Software Developers.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FR-1: Multi-language AST discovery.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FR-2: Constant propagation and type inference.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FR-3/FR-4: Backward and forward taint tracing.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FR-5: Retention policy extraction.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FR-6: HNDL scoring and Mosca evaluation.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FR-7: Context noise suppression.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FR-8: Hybrid patch synthesis and verification.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REQUIREMENT ANALYSIS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REQUIREMENT ANALYSIS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NFR-1: Scanning throughput (50k files in &lt;10 mins).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NFR-2: Memory footprint (&lt;4 GB peak RAM).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NFR-3: No specialised hardware (pure software).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NFR-4: Provenance integrity (observed vs inferred).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NFR-5: Graceful fallback and soundness (audit bucket).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NFR-6: Schema conformance (CycloneDX 1.6 CBOM).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END-TO-END PIPELINE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Four-Stage Architecture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The system is a four-stage pipeline. Each stage consumes structured output of the previous stage: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1. Multi-Language Cryptographic Discovery Layer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2. Inter-Procedural Semantic Dataflow and Retention Engine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3. HNDL Prioritisation, Scoring and Noise Suppression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4. Hybrid Patch Synthesis and Differential Verification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&amp; 5.3 DISCOVERY AND DATAFLOW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Subsystems 1 and 2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Subsystem 1 — Discovery Layer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Tree-sitter + Python ast module.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Extensible rule corpus for cryptographic namespaces.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Constant propagation.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Subsystem 2 — Dataflow Engine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Formal dataflow lattice propagating over CFGs.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Backward taint from arguments to sources.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Forward taint from outputs to sinks.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Declarative retention extractor (e.g. redis TTLs, S3 rules).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SCORING AND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Subsystem 3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HNDL Exposure Score: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Exposure(p) = w_r·R(p) × w_e·E(p) × w_a·A(p) × w_k·K(p)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Mosca breach flagged if: RetentionYears + MigrationYears &gt; CRQCHorizon.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Noise suppression reclassifies non-security hashing.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PATCHING &amp; 5.6 SCHEMA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Subsystems 4 and Data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Subsystem 4 — Verified Patching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Hybrid templates (e.g. X25519 + ML-KEM-768) via liboqs.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3 Gates: Differential equivalence, Property testing, Downgrade resistance.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5.6 Data Schema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Emits CycloneDX 1.6 CBOM enriched with cryptoProperties and custom dataflowProperties.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COMPONENT SELECTION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&amp; 6.2 PARSING &amp; TAINT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Justification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COMPONENT SELECTION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6.1 Parsing Infrastructure: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Selected: Tree-sitter + Python ast (Multi-language, High throughput, robust to errors).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Rejected: ANTLR4, Compiler front-ends.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6.2 Static Analysis &amp; Taint: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Selected: CodeQL (Java) + AST visitor (Python).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Rejected: Soot/WALA, Semgrep OSS (intra-procedural only).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COMPONENT SELECTION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6.3, 6.4, 6.5 TOOLS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PQC, CBOM &amp; Verification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COMPONENT SELECTION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6.3 PQC Library: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Selected: Open Quantum Safe (liboqs). Full NIST FIPS 203/204/205 conformance.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6.4 CBOM Schema: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Selected: OWASP CycloneDX 1.6 CBOM.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6.5 Patch Verification Strategy: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Selected: Differential testing + property tests.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Rejected: Formal verification (Dafny, F*) due to real-world infeasibility.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INITIAL PROTOTYPE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IMPLEMENTED PACKAGE STRUCTURE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Prototype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INITIAL PROTOTYPE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src/crypto_agility_navigator/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├── models.py      # domain models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├── discovery.py   # Stage 1: AST scanner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├── dataflow.py    # Stage 2: backward/forward taint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├── scorer.py      # Stage 3: HNDL exposure scoring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├── cbom.py        # CycloneDX 1.6 CBOM serialiser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├── cli.py         # CLI and reporting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└── server.py      # REST API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tests/test_navigator.py       # 100% passing tests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examples/sample_project/      # Benchmark example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INITIAL PROTOTYPE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EMPIRICAL VALIDATION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Benchmark Output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INITIAL PROTOTYPE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CLI Output on sample_project: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Discovered 3 cryptographic invocation(s).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RANK  ALGORITHM  LOCATION        RETENTION  EXPOSURE         SCORE  URGENCY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----------------------------------------------------------------------------------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1     RSA-OAEP   archive.py:11   10.0y      EXTERNAL_PUBLIC  16.7   HIGH (MOSCA BREACH)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2     RSA-OAEP   session.py:11   &lt;1 hour    INTERNAL_IPC     0.0    LOW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3     SHA-256    etags.py:9      &lt;1 hour    INTERNAL_IPC     0.0    SUPPRESSED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Two identical RSA-OAEP sites are correctly discriminated by retention and exposure.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INITIAL PROTOTYPE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&amp; 7.5 TESTING AND UI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and Dashboard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INITIAL PROTOTYPE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7.4 Automated Unit Test Suite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8 automated unit tests covering Stage 1-3 pipeline.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100% passing rate on tests/test_navigator.py.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7.5 Interactive Web Dashboard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Python http.server REST API + React SPA.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Features: KPI overview, Prioritisation table, Dataflow visualiser, Mosca simulation engine, Live AST scanner, CBOM inspector.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INNOVATION &amp; FEASIBILITY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 &amp; 8.2 INNOVATION AND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Basis &amp; Soundness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INNOVATION &amp; FEASIBILITY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8.1 Mathematical Basis: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U(p) ∝ max(0, xp + yp − z)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Ranks data paths by expected residual exposure under delayed remediation.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8.2 Soundness vs Completeness: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Targets ≥ 70% dataflow coverage. Unresolvable paths go to an explicit audit bucket.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8.3 Computational Feasibility: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O(N) discovery. Polynomial inter-procedural taint. &lt;4GB memory.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PROJECT PLANNING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&amp; 9.2 WORK DIVISION PRINCIPLE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(Completed)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PROJECT PLANNING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9.1 Work Division Principle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Equitable split of technical and non-technical work across 3 members.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9.2 Work Division for Review II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Avi Dhandhania: Stage 1 AST discovery, backward taint tracing. Sections 1, 4, 5.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Anmol Saluja: Forward taint tracing, retention extractor, Stage 3 HNDL scoring. Sections 2, 3, 6, 8.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Avika Tyagi: CBOM serialiser, CLI, REST API, Web dashboard, tests. Sections 7, 9, 10.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PROJECT PLANNING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WORK PLAN FOR FUTURE REVIEWS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 to VI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PROJECT PLANNING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Review III (≈ 30%): Java support (Tree-sitter), Expand rule corpus, CBOM validation.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Review IV (≈ 50%): Inter-procedural Java taint (CodeQL), ORM retention extraction, CI integration.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Review V-VI (≈ 80-100%): Three-gate patch verification harness, nDCG ranking evaluation, Hybrid patch templates (X25519 + ML-KEM), Final public benchmark release.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REFERENCES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REFERENCES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2A3B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REFERENCES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31B2B"/>
          </a:solidFill>
          <a:ln w="12700">
            <a:solidFill>
              <a:srgbClr val="2A3B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10.2 Regulatory and Standards References: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NIST FIPS 203 (ML-KEM), FIPS 204 (ML-DSA), FIPS 205 (SLH-DSA)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OWASP CycloneDX 1.6 CBOM Specification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RBI Q-SAFE Committee Terms of Reference (2026)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SEBI Cyber Security and Cyber Resilience Framework (CSCRF)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US Executive Order 14412 on Cryptography Bills of Materials (June 2026)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F8FAFC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Indian Patent Office CRI Guidelines (2025)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2026-09-21T06:16:26Z</dcterms:created>
  <dcterms:modified xsi:type="dcterms:W3CDTF">2026-09-21T06:16:26Z</dcterms:modified>
</cp:coreProperties>
</file>