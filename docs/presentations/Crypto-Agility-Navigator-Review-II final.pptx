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300" y="-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827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Project name: Crypto-Agility Navigator.
- Course: BACSE291 — Innovative Design Project, Review Report II.
- Team: Avi Dhandhania, Anmol Saluja, Avika Tyagi.
- Guide: Dr. E Iniya Nehru, SCOPE, VIT Chennai.
- Milestone date: 22 September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Open with the CRQC deadline and NIST FIPS 203 / 204 / 205.
- Explain why HNDL matters today — stored ciphertext is a future breach.
- Walk Mosca’s inequality and stress x is data, not cipher.
- Tie regulatory drivers (India CII, RBI, SEBI, US EO) to urgency.
- End by setting up why existing scanners fail to prioritise.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Survey scope: 5 sources, 16 papers, Jan 2024 – Aug 2026.
- P1 (Näther &amp; Hirsch) is our closest baseline — static, low precision, no dataflow.
- P2 / P3 / P5 / P6 are the most-cited prior works we critique.
- P13 (CryptoGuard) is the foundational taint baseline from 2019.
- Full P1–P16 matrix lives in written report Section 2.2.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Walk through each of the five challenges in order, left to right.
- Emphasise precision 0.30 (C1) and flat scoring (C2) as the two most damaging problems.
- Card 5 is filled to flag the synthesis gap this project addresses.
- Net-effect line is the takeaway: locate → score → sequence.
- Crypsy recall 0.66 (C4) and no-dataflow (C3) round out the gap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Every capability in the rightmost column is unique to this work.
- N1 (retention-aware dataflow) and N2 (call-site risk score) are the most consequential gaps.
- P1 is strong on discovery and CBOM output but covers nothing below row 2.
- N3 has partial coverage in P2 and P6/P7 — no prior tool fully solves noise suppression.
- N5 is the open-dataset contribution; no prior tool ships a retention-annotated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Every objective carries a measurable target — no soft goals.
- O1–O5 are the primary technical objectives; O6–O7 are research-community objectives.
- O4 directly answers the 0.30 precision problem from slide 5.
- O5’s ≥80% patch pass-rate target is the hardest to hit.
- O6 ships the public benchmark that N5 on slide 6 calls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Pipeline is modular — each stage produces a structured artifact.
- Stages 1–3 are independently useful; Stage 4 is the most exploratory.
- Stage 4 is gated by three independent verification checks.
- Discovery and binding still deliver value if patch synthesis slips.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Four subsystems map 1:1 to the four pipeline stages.
- The CBOM is the audit artifact consumed downstream.
- dataflowProperties is the novel extension beyond standard CBOM.
- Lattice ordering enables partial-order comparison of risk states.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- 20% implementation milestone reached — TRL 3 proof-of-concept.
- Identical RSA-2048 primitives separated by 33.33 points proves N1+N2+N3.
- All 8 unit tests pass in 0.026s.
- Non-security SHA-256 correctly suppressed — noise filter works.
- Next milestones: Java support, cross-module taint, patch harness, ranking 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Thank the panel for their time and attention.
- Acknowledge the guide, Dr. E Iniya Nehru, and the panel members.
- Invite questions on methodology, architecture, or evaluation plan.
- Be ready to discuss the Review III roadmap (Java support, cross-module taint, patch harness).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49" y="1454423"/>
            <a:ext cx="9519305" cy="129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1000" kern="0" spc="124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VELLORE INSTITUTE OF TECHNOLOGY, CHENNAI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14349" y="1611139"/>
            <a:ext cx="9519305" cy="15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1000" kern="0" spc="124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INNOVATIVE DESIGN PROJECT | BACSE291 | REVIEW REPORT II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4349" y="1982167"/>
            <a:ext cx="8321511" cy="33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2800" kern="0" spc="-20" dirty="0">
                <a:solidFill>
                  <a:srgbClr val="0B254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Crypto-Agility Navigator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14350" y="2362126"/>
            <a:ext cx="7249802" cy="229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71"/>
              </a:lnSpc>
              <a:buNone/>
            </a:pPr>
            <a:r>
              <a:rPr lang="en-US" sz="1600" i="1" dirty="0">
                <a:solidFill>
                  <a:srgbClr val="0B2545">
                    <a:alpha val="82000"/>
                  </a:srgbClr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Dataflow-Aware Cryptographic Inventory and Prioritised Post-Quantum Migration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14350" y="2831381"/>
            <a:ext cx="630418" cy="14288"/>
          </a:xfrm>
          <a:prstGeom prst="rect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14350" y="3074268"/>
            <a:ext cx="3927391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1000" kern="0" spc="90" dirty="0">
                <a:solidFill>
                  <a:srgbClr val="0B2545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SUBMITTED BY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14350" y="3235003"/>
            <a:ext cx="2022920" cy="19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10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Avi Dhandhania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53875" y="3235003"/>
            <a:ext cx="777167" cy="19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1000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25BCE1207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14350" y="3414936"/>
            <a:ext cx="2257964" cy="19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10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Anmol Saluja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53875" y="3414936"/>
            <a:ext cx="777167" cy="19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1000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25BCE1332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4350" y="3594869"/>
            <a:ext cx="2257964" cy="19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1000" dirty="0">
                <a:solidFill>
                  <a:srgbClr val="0B2545"/>
                </a:solidFill>
                <a:latin typeface="Carlito"/>
                <a:ea typeface="Carlito" pitchFamily="34" charset="-122"/>
                <a:cs typeface="Carlito" pitchFamily="34" charset="-120"/>
              </a:rPr>
              <a:t>Avika Tyagi</a:t>
            </a:r>
            <a:endParaRPr lang="en-US" sz="1000" dirty="0">
              <a:latin typeface="Carlito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253875" y="3594869"/>
            <a:ext cx="777167" cy="19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1000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25BCE1294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14825" y="3074268"/>
            <a:ext cx="3927391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1000" kern="0" spc="90" dirty="0">
                <a:solidFill>
                  <a:srgbClr val="0B2545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PROJECT GUIDE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14825" y="3235003"/>
            <a:ext cx="3057525" cy="5922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10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Dr. E Iniya Nehru</a:t>
            </a:r>
            <a:endParaRPr lang="en-US" sz="1000" dirty="0"/>
          </a:p>
          <a:p>
            <a:pPr marL="0" indent="0" algn="l">
              <a:lnSpc>
                <a:spcPts val="1418"/>
              </a:lnSpc>
              <a:buNone/>
            </a:pPr>
            <a:r>
              <a:rPr lang="en-US" sz="1000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Faculty ID: 54128</a:t>
            </a:r>
            <a:endParaRPr lang="en-US" sz="1000" dirty="0"/>
          </a:p>
          <a:p>
            <a:pPr marL="0" indent="0" algn="l">
              <a:lnSpc>
                <a:spcPts val="1418"/>
              </a:lnSpc>
              <a:buNone/>
            </a:pPr>
            <a:r>
              <a:rPr lang="en-US" sz="10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SCOPE — School of Computer Science Engineering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4350" y="4772471"/>
            <a:ext cx="8115764" cy="15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1000" kern="0" spc="25" dirty="0">
                <a:solidFill>
                  <a:srgbClr val="0B2545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BACSE291 | Review Report II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885918" y="4772471"/>
            <a:ext cx="986895" cy="158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800" kern="0" spc="25" dirty="0">
                <a:solidFill>
                  <a:srgbClr val="0B2545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23 September 2026</a:t>
            </a:r>
            <a:endParaRPr lang="en-US" sz="800" dirty="0"/>
          </a:p>
        </p:txBody>
      </p:sp>
      <p:pic>
        <p:nvPicPr>
          <p:cNvPr id="18" name="Picture 17" descr="VIT Logo - Vellore Institute of Technology">
            <a:extLst>
              <a:ext uri="{FF2B5EF4-FFF2-40B4-BE49-F238E27FC236}">
                <a16:creationId xmlns:a16="http://schemas.microsoft.com/office/drawing/2014/main" id="{A579AD77-2F72-2435-9279-AC61020A1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9149" y="299119"/>
            <a:ext cx="2980201" cy="16689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800" kern="0" spc="101" dirty="0">
                <a:solidFill>
                  <a:srgbClr val="0B2545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46497"/>
            <a:ext cx="8629650" cy="24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463" kern="0" spc="-15" dirty="0">
                <a:solidFill>
                  <a:srgbClr val="0B254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Introduction</a:t>
            </a:r>
            <a:endParaRPr lang="en-US" sz="1463" dirty="0"/>
          </a:p>
        </p:txBody>
      </p:sp>
      <p:sp>
        <p:nvSpPr>
          <p:cNvPr id="4" name="Text 2"/>
          <p:cNvSpPr/>
          <p:nvPr/>
        </p:nvSpPr>
        <p:spPr>
          <a:xfrm>
            <a:off x="514350" y="826443"/>
            <a:ext cx="400050" cy="14288"/>
          </a:xfrm>
          <a:prstGeom prst="rect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997893"/>
            <a:ext cx="4909732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1000" b="1" dirty="0">
                <a:solidFill>
                  <a:srgbClr val="0B254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The post-quantum deadline</a:t>
            </a:r>
            <a:endParaRPr lang="en-US" sz="1000" b="1" dirty="0"/>
          </a:p>
        </p:txBody>
      </p:sp>
      <p:sp>
        <p:nvSpPr>
          <p:cNvPr id="6" name="Text 4"/>
          <p:cNvSpPr/>
          <p:nvPr/>
        </p:nvSpPr>
        <p:spPr>
          <a:xfrm>
            <a:off x="514350" y="1183630"/>
            <a:ext cx="4463393" cy="679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3"/>
              </a:lnSpc>
              <a:buNone/>
            </a:pPr>
            <a:r>
              <a:rPr lang="en-US" sz="10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Shor’s algorithm renders RSA, ECDSA, ECDH and Ed25519 breakable on a Cryptographically Relevant Quantum Computer (CRQC). NIST has finalised the replacements: FIPS 203 (ML-KEM), FIPS 204 (ML-DSA) and FIPS 205 (SLH-DSA). What to migrate to is settled; the open problem is locating and sequencing the migration.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14350" y="1959173"/>
            <a:ext cx="4686562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1000" b="1" dirty="0">
                <a:solidFill>
                  <a:srgbClr val="0B254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The HNDL threat</a:t>
            </a:r>
            <a:endParaRPr lang="en-US" sz="1000" b="1" dirty="0"/>
          </a:p>
        </p:txBody>
      </p:sp>
      <p:sp>
        <p:nvSpPr>
          <p:cNvPr id="8" name="Text 6"/>
          <p:cNvSpPr/>
          <p:nvPr/>
        </p:nvSpPr>
        <p:spPr>
          <a:xfrm>
            <a:off x="514350" y="2144911"/>
            <a:ext cx="4463393" cy="33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3"/>
              </a:lnSpc>
              <a:buNone/>
            </a:pPr>
            <a:r>
              <a:rPr lang="en-US" sz="10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passive adversary stores encrypted traffic today at near-zero cost, intending to decrypt it once a CRQC exists. Forward secrecy cannot protect data retroactively — detection after the fact provides no remedy.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14350" y="2632695"/>
            <a:ext cx="4686562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1000" b="1" dirty="0">
                <a:solidFill>
                  <a:srgbClr val="0B254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Mosca’s inequality</a:t>
            </a:r>
            <a:endParaRPr lang="en-US" sz="1000" b="1" dirty="0"/>
          </a:p>
        </p:txBody>
      </p:sp>
      <p:sp>
        <p:nvSpPr>
          <p:cNvPr id="10" name="Text 8"/>
          <p:cNvSpPr/>
          <p:nvPr/>
        </p:nvSpPr>
        <p:spPr>
          <a:xfrm>
            <a:off x="514350" y="2818433"/>
            <a:ext cx="4463393" cy="33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3"/>
              </a:lnSpc>
              <a:buNone/>
            </a:pPr>
            <a:r>
              <a:rPr lang="en-US" sz="10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data path is already breached when </a:t>
            </a:r>
            <a:r>
              <a:rPr lang="en-US" sz="1000" kern="0" spc="7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 + y &gt; z</a:t>
            </a:r>
            <a:r>
              <a:rPr lang="en-US" sz="10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where </a:t>
            </a:r>
            <a:r>
              <a:rPr lang="en-US" sz="1000" kern="0" spc="7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</a:t>
            </a:r>
            <a:r>
              <a:rPr lang="en-US" sz="10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= confidentiality lifetime, </a:t>
            </a:r>
            <a:r>
              <a:rPr lang="en-US" sz="1000" kern="0" spc="7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</a:t>
            </a:r>
            <a:r>
              <a:rPr lang="en-US" sz="10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= migration duration, </a:t>
            </a:r>
            <a:r>
              <a:rPr lang="en-US" sz="1000" kern="0" spc="7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</a:t>
            </a:r>
            <a:r>
              <a:rPr lang="en-US" sz="10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= CRQC horizon. Critically, </a:t>
            </a:r>
            <a:r>
              <a:rPr lang="en-US" sz="1000" kern="0" spc="7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</a:t>
            </a:r>
            <a:r>
              <a:rPr lang="en-US" sz="10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is a property of the data, not of the cipher.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4350" y="3291929"/>
            <a:ext cx="5795994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800" kern="0" spc="101" dirty="0">
                <a:solidFill>
                  <a:srgbClr val="0B2545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URGENCY: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4350" y="3468112"/>
            <a:ext cx="1822109" cy="7172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171450" indent="-171450">
              <a:lnSpc>
                <a:spcPts val="816"/>
              </a:lnSpc>
              <a:buFont typeface="Arial" panose="020B0604020202020204" pitchFamily="34" charset="0"/>
              <a:buChar char="•"/>
            </a:pPr>
            <a:r>
              <a:rPr lang="en-US" sz="800" kern="0" spc="45" dirty="0">
                <a:solidFill>
                  <a:srgbClr val="0B2545"/>
                </a:solidFill>
                <a:latin typeface="Carlito"/>
                <a:ea typeface="Carlito"/>
                <a:cs typeface="Liberation Sans Narrow" pitchFamily="34" charset="-120"/>
              </a:rPr>
              <a:t>INDIA CII 2027–2029</a:t>
            </a:r>
          </a:p>
          <a:p>
            <a:pPr marL="171450" indent="-171450">
              <a:lnSpc>
                <a:spcPts val="816"/>
              </a:lnSpc>
              <a:buFont typeface="Arial" panose="020B0604020202020204" pitchFamily="34" charset="0"/>
              <a:buChar char="•"/>
            </a:pPr>
            <a:r>
              <a:rPr lang="en-US" sz="800" kern="0" spc="45" dirty="0">
                <a:solidFill>
                  <a:srgbClr val="0B2545"/>
                </a:solidFill>
                <a:latin typeface="Carlito"/>
                <a:ea typeface="Carlito"/>
                <a:cs typeface="Carlito" pitchFamily="34" charset="-120"/>
              </a:rPr>
              <a:t>RBI Q-SAFE</a:t>
            </a:r>
            <a:endParaRPr lang="en-US" sz="800" dirty="0">
              <a:latin typeface="Carlito"/>
              <a:ea typeface="Carlito"/>
            </a:endParaRPr>
          </a:p>
          <a:p>
            <a:pPr marL="171450" indent="-171450">
              <a:lnSpc>
                <a:spcPts val="816"/>
              </a:lnSpc>
              <a:buFont typeface="Arial" panose="020B0604020202020204" pitchFamily="34" charset="0"/>
              <a:buChar char="•"/>
            </a:pPr>
            <a:r>
              <a:rPr lang="en-US" sz="800" kern="0" spc="45" dirty="0">
                <a:solidFill>
                  <a:srgbClr val="0B2545"/>
                </a:solidFill>
                <a:latin typeface="Carlito"/>
                <a:ea typeface="Carlito"/>
                <a:cs typeface="Carlito" pitchFamily="34" charset="-120"/>
              </a:rPr>
              <a:t>SEBI CSCRF</a:t>
            </a:r>
          </a:p>
          <a:p>
            <a:pPr marL="171450" indent="-171450">
              <a:lnSpc>
                <a:spcPts val="816"/>
              </a:lnSpc>
              <a:buFont typeface="Arial" panose="020B0604020202020204" pitchFamily="34" charset="0"/>
              <a:buChar char="•"/>
            </a:pPr>
            <a:r>
              <a:rPr lang="en-US" sz="800" kern="0" spc="45" dirty="0">
                <a:solidFill>
                  <a:srgbClr val="0B2545"/>
                </a:solidFill>
                <a:latin typeface="Carlito"/>
                <a:ea typeface="Carlito"/>
                <a:cs typeface="Liberation Sans Narrow" pitchFamily="34" charset="-120"/>
              </a:rPr>
              <a:t>US EO 14412</a:t>
            </a:r>
            <a:endParaRPr lang="en-US" sz="800" dirty="0">
              <a:latin typeface="Carlito"/>
              <a:ea typeface="Carlito"/>
            </a:endParaRPr>
          </a:p>
          <a:p>
            <a:pPr marL="171450" indent="-171450">
              <a:lnSpc>
                <a:spcPts val="816"/>
              </a:lnSpc>
              <a:buFont typeface="Arial" panose="020B0604020202020204" pitchFamily="34" charset="0"/>
              <a:buChar char="•"/>
            </a:pPr>
            <a:endParaRPr lang="en-US" sz="800" dirty="0">
              <a:latin typeface="Carlito"/>
              <a:ea typeface="Carlito"/>
            </a:endParaRPr>
          </a:p>
          <a:p>
            <a:pPr marL="171450" indent="-171450">
              <a:lnSpc>
                <a:spcPts val="816"/>
              </a:lnSpc>
              <a:buFont typeface="Arial" panose="020B0604020202020204" pitchFamily="34" charset="0"/>
              <a:buChar char="•"/>
            </a:pPr>
            <a:endParaRPr lang="en-US" sz="800" kern="0" spc="45" dirty="0">
              <a:solidFill>
                <a:srgbClr val="0B2545"/>
              </a:solidFill>
              <a:latin typeface="Carlito"/>
              <a:ea typeface="Carlito"/>
              <a:cs typeface="Liberation Sans Narrow" pitchFamily="34" charset="-120"/>
            </a:endParaRPr>
          </a:p>
          <a:p>
            <a:pPr marL="171450" indent="-171450">
              <a:lnSpc>
                <a:spcPts val="816"/>
              </a:lnSpc>
              <a:buFont typeface="Arial" panose="020B0604020202020204" pitchFamily="34" charset="0"/>
              <a:buChar char="•"/>
            </a:pPr>
            <a:endParaRPr lang="en-US" sz="800" dirty="0">
              <a:latin typeface="Carlito"/>
              <a:ea typeface="Carlito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267065" y="997893"/>
            <a:ext cx="0" cy="2615505"/>
          </a:xfrm>
          <a:prstGeom prst="line">
            <a:avLst/>
          </a:prstGeom>
          <a:noFill/>
          <a:ln w="7144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499236" y="997893"/>
            <a:ext cx="3416052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lnSpc>
                <a:spcPts val="816"/>
              </a:lnSpc>
              <a:buNone/>
            </a:pPr>
            <a:r>
              <a:rPr lang="en-US" sz="900" kern="0" spc="101" dirty="0">
                <a:solidFill>
                  <a:srgbClr val="0B2545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THE THREAT UNFOLDS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502808" y="1176486"/>
            <a:ext cx="3408908" cy="396813"/>
          </a:xfrm>
          <a:prstGeom prst="roundRect">
            <a:avLst>
              <a:gd name="adj" fmla="val 9601"/>
            </a:avLst>
          </a:prstGeom>
          <a:solidFill>
            <a:srgbClr val="0B2545"/>
          </a:solidFill>
          <a:ln w="7144">
            <a:solidFill>
              <a:srgbClr val="0B254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592105" y="1251496"/>
            <a:ext cx="3230314" cy="1172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lnSpc>
                <a:spcPts val="914"/>
              </a:lnSpc>
              <a:buNone/>
            </a:pPr>
            <a:r>
              <a:rPr lang="en-US" sz="900" kern="0" spc="7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Quantum computer arrives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592105" y="1396157"/>
            <a:ext cx="3340042" cy="102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04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Shor’s algorithm breaks RSA / ECDSA / ECDH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99236" y="1657127"/>
            <a:ext cx="341605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2808" y="1855366"/>
            <a:ext cx="3408908" cy="396813"/>
          </a:xfrm>
          <a:prstGeom prst="roundRect">
            <a:avLst>
              <a:gd name="adj" fmla="val 9601"/>
            </a:avLst>
          </a:prstGeom>
          <a:solidFill>
            <a:srgbClr val="FFFFFF"/>
          </a:solidFill>
          <a:ln w="7144">
            <a:solidFill>
              <a:srgbClr val="0B254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592105" y="1930375"/>
            <a:ext cx="3340042" cy="1172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914"/>
              </a:lnSpc>
              <a:buNone/>
            </a:pPr>
            <a:r>
              <a:rPr lang="en-US" sz="900" kern="0" spc="7" dirty="0">
                <a:solidFill>
                  <a:srgbClr val="0B254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Today’s ciphertext is decrypted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92105" y="2075036"/>
            <a:ext cx="3340042" cy="102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04"/>
              </a:lnSpc>
              <a:buNone/>
            </a:pPr>
            <a:r>
              <a:rPr lang="en-US" sz="900" dirty="0">
                <a:solidFill>
                  <a:srgbClr val="0B2545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Harvest-Now, Decrypt-Later (HNDL)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99236" y="2336006"/>
            <a:ext cx="341605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02808" y="2534134"/>
            <a:ext cx="3408908" cy="396813"/>
          </a:xfrm>
          <a:prstGeom prst="roundRect">
            <a:avLst>
              <a:gd name="adj" fmla="val 9601"/>
            </a:avLst>
          </a:prstGeom>
          <a:solidFill>
            <a:srgbClr val="FFFFFF"/>
          </a:solidFill>
          <a:ln w="7144">
            <a:solidFill>
              <a:srgbClr val="0B254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592105" y="2609143"/>
            <a:ext cx="3340042" cy="1172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914"/>
              </a:lnSpc>
              <a:buNone/>
            </a:pPr>
            <a:r>
              <a:rPr lang="en-US" sz="900" kern="0" spc="7" dirty="0">
                <a:solidFill>
                  <a:srgbClr val="0B254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Long-lived data is exposed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92105" y="2753804"/>
            <a:ext cx="3340042" cy="102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04"/>
              </a:lnSpc>
              <a:buNone/>
            </a:pPr>
            <a:r>
              <a:rPr lang="en-US" sz="900" dirty="0">
                <a:solidFill>
                  <a:srgbClr val="0B2545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Financial, medical, identity records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99236" y="3014886"/>
            <a:ext cx="341605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502808" y="3213013"/>
            <a:ext cx="3408908" cy="396813"/>
          </a:xfrm>
          <a:prstGeom prst="roundRect">
            <a:avLst>
              <a:gd name="adj" fmla="val 9601"/>
            </a:avLst>
          </a:prstGeom>
          <a:solidFill>
            <a:srgbClr val="FFFFFF"/>
          </a:solidFill>
          <a:ln w="7144">
            <a:solidFill>
              <a:srgbClr val="0B254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592105" y="3288023"/>
            <a:ext cx="3340042" cy="1172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914"/>
              </a:lnSpc>
              <a:buNone/>
            </a:pPr>
            <a:r>
              <a:rPr lang="en-US" sz="900" kern="0" spc="7" dirty="0">
                <a:solidFill>
                  <a:srgbClr val="0B254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Migration cannot be sequenced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592105" y="3432683"/>
            <a:ext cx="3340042" cy="102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04"/>
              </a:lnSpc>
              <a:buNone/>
            </a:pPr>
            <a:r>
              <a:rPr lang="en-US" sz="900" dirty="0">
                <a:solidFill>
                  <a:srgbClr val="0B2545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Existing scanners report flat lists — no priority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700760" y="4911328"/>
            <a:ext cx="340477" cy="159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600" kern="0" spc="23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10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800" kern="0" spc="101" dirty="0">
                <a:solidFill>
                  <a:srgbClr val="0B2545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46497"/>
            <a:ext cx="8521065" cy="24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463" kern="0" spc="-15" dirty="0">
                <a:solidFill>
                  <a:srgbClr val="0B254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Literature Survey</a:t>
            </a:r>
            <a:endParaRPr lang="en-US" sz="1463" dirty="0"/>
          </a:p>
        </p:txBody>
      </p:sp>
      <p:sp>
        <p:nvSpPr>
          <p:cNvPr id="4" name="Text 2"/>
          <p:cNvSpPr/>
          <p:nvPr/>
        </p:nvSpPr>
        <p:spPr>
          <a:xfrm>
            <a:off x="514350" y="826443"/>
            <a:ext cx="400050" cy="14288"/>
          </a:xfrm>
          <a:prstGeom prst="rect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940743"/>
            <a:ext cx="7143750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900" dirty="0">
                <a:solidFill>
                  <a:srgbClr val="0B2545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Sixteen papers surveyed across ACM Digital Library, IEEE Xplore, IACR ePrint, arXiv and Springer — Jan 2024 to Aug 2026.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82513" y="1184527"/>
            <a:ext cx="66377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16"/>
              </a:lnSpc>
              <a:buNone/>
            </a:pPr>
            <a:r>
              <a:rPr lang="en-US" sz="800" b="1" kern="0" spc="34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SOURCES 5</a:t>
            </a:r>
            <a:endParaRPr lang="en-US" sz="800" b="1" dirty="0"/>
          </a:p>
        </p:txBody>
      </p:sp>
      <p:sp>
        <p:nvSpPr>
          <p:cNvPr id="9" name="Text 7"/>
          <p:cNvSpPr/>
          <p:nvPr/>
        </p:nvSpPr>
        <p:spPr>
          <a:xfrm>
            <a:off x="2459273" y="1182398"/>
            <a:ext cx="66377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16"/>
              </a:lnSpc>
              <a:buNone/>
            </a:pPr>
            <a:r>
              <a:rPr lang="en-US" sz="800" b="1" kern="0" spc="34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PAPERS 16</a:t>
            </a:r>
            <a:endParaRPr lang="en-US" sz="800" b="1" dirty="0"/>
          </a:p>
        </p:txBody>
      </p:sp>
      <p:sp>
        <p:nvSpPr>
          <p:cNvPr id="11" name="Text 9"/>
          <p:cNvSpPr/>
          <p:nvPr/>
        </p:nvSpPr>
        <p:spPr>
          <a:xfrm>
            <a:off x="5402128" y="1165879"/>
            <a:ext cx="123765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16"/>
              </a:lnSpc>
              <a:buNone/>
            </a:pPr>
            <a:r>
              <a:rPr lang="en-US" sz="800" b="1" kern="0" spc="34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SPAN JAN 2024 – AUG 2026</a:t>
            </a:r>
            <a:endParaRPr lang="en-US" sz="800" b="1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5349047"/>
              </p:ext>
            </p:extLst>
          </p:nvPr>
        </p:nvGraphicFramePr>
        <p:xfrm>
          <a:off x="514350" y="1497174"/>
          <a:ext cx="8115301" cy="2974188"/>
        </p:xfrm>
        <a:graphic>
          <a:graphicData uri="http://schemas.openxmlformats.org/drawingml/2006/table">
            <a:tbl>
              <a:tblPr/>
              <a:tblGrid>
                <a:gridCol w="40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3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ID</a:t>
                      </a:r>
                      <a:endParaRPr lang="en-US" sz="10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71438" marT="71438" marB="6429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Authors / Year</a:t>
                      </a:r>
                      <a:endParaRPr lang="en-US" sz="10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71438" marT="71438" marB="6429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Focus</a:t>
                      </a:r>
                      <a:endParaRPr lang="en-US" sz="10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71438" marT="71438" marB="6429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Limitation</a:t>
                      </a:r>
                      <a:endParaRPr lang="en-US" sz="10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71438" marT="71438" marB="6429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P1</a:t>
                      </a:r>
                      <a:endParaRPr lang="en-US" sz="10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71438" marT="71438" marB="714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Näther &amp; Hirsch, 2026</a:t>
                      </a:r>
                      <a:endParaRPr lang="en-US" sz="10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71438" marT="71438" marB="714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214-rule static scanner; CBOM export</a:t>
                      </a:r>
                      <a:endParaRPr lang="en-US" sz="10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71438" marT="71438" marB="714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Real-world precision ≈ 0.30; no dataflow; no prioritisation</a:t>
                      </a:r>
                      <a:endParaRPr lang="en-US" sz="10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71438" marT="71438" marB="714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P2</a:t>
                      </a:r>
                      <a:endParaRPr lang="en-US" sz="10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71438" marT="71438" marB="714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Shaw, 2026</a:t>
                      </a:r>
                      <a:endParaRPr lang="en-US" sz="10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71438" marT="71438" marB="714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Quantum-aware VQE scoring (0–10)</a:t>
                      </a:r>
                      <a:endParaRPr lang="en-US" sz="10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71438" marT="71438" marB="714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Algorithm-intrinsic — every RSA-2048 site scores the same</a:t>
                      </a:r>
                      <a:endParaRPr lang="en-US" sz="10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71438" marT="71438" marB="714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P3</a:t>
                      </a:r>
                      <a:endParaRPr lang="en-US" sz="10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71438" marT="71438" marB="714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Pallarés et al., 2026</a:t>
                      </a:r>
                      <a:endParaRPr lang="en-US" sz="10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71438" marT="71438" marB="714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LLM-based fragment migration</a:t>
                      </a:r>
                      <a:endParaRPr lang="en-US" sz="10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71438" marT="71438" marB="714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Synthetic snippets; round-trip verification can pass on downgrade</a:t>
                      </a:r>
                      <a:endParaRPr lang="en-US" sz="10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71438" marT="71438" marB="714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P5</a:t>
                      </a:r>
                      <a:endParaRPr lang="en-US" sz="10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71438" marT="71438" marB="714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Costa, 2026</a:t>
                      </a:r>
                      <a:endParaRPr lang="en-US" sz="10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71438" marT="71438" marB="714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CARS composite readiness index</a:t>
                      </a:r>
                      <a:endParaRPr lang="en-US" sz="10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71438" marT="71438" marB="714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One score per repo; not actionable for sprints</a:t>
                      </a:r>
                      <a:endParaRPr lang="en-US" sz="10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71438" marT="71438" marB="714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P6</a:t>
                      </a:r>
                      <a:endParaRPr lang="en-US" sz="10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71438" marT="71438" marB="714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IBM Research, 2026</a:t>
                      </a:r>
                      <a:endParaRPr lang="en-US" sz="10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71438" marT="71438" marB="714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CBOM object model (CycloneDX 1.6)</a:t>
                      </a:r>
                      <a:endParaRPr lang="en-US" sz="10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71438" marT="71438" marB="714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No fields for data lifetime, exposure or HNDL risk</a:t>
                      </a:r>
                      <a:endParaRPr lang="en-US" sz="10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71438" marT="71438" marB="714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P13</a:t>
                      </a:r>
                      <a:endParaRPr lang="en-US" sz="10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71438" marT="71438" marB="714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Rahaman et al., 2019</a:t>
                      </a:r>
                      <a:endParaRPr lang="en-US" sz="10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71438" marT="71438" marB="714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CryptoGuard inter-procedural taint</a:t>
                      </a:r>
                      <a:endParaRPr lang="en-US" sz="10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71438" marT="71438" marB="714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Targets classical misuse; no PQC awareness</a:t>
                      </a:r>
                      <a:endParaRPr lang="en-US" sz="10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71438" marT="71438" marB="714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514351" y="4429229"/>
            <a:ext cx="8115300" cy="314221"/>
          </a:xfrm>
          <a:prstGeom prst="rect">
            <a:avLst/>
          </a:prstGeom>
          <a:noFill/>
          <a:ln/>
        </p:spPr>
        <p:txBody>
          <a:bodyPr wrap="square" lIns="0" tIns="100013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0B2545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P1–P16 matrix in report Section 2.2. Citation chasing identified 11 papers from 2025–26, 3 from 2024, 2 foundational baselines (2017, 2019).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700760" y="4911328"/>
            <a:ext cx="340477" cy="159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600" kern="0" spc="23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10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800" kern="0" spc="101" dirty="0">
                <a:solidFill>
                  <a:srgbClr val="0B2545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03 — PART 1 OF 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46497"/>
            <a:ext cx="8629650" cy="240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463" kern="0" spc="-15" dirty="0">
                <a:solidFill>
                  <a:srgbClr val="0B254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Challenges in Current Tooling</a:t>
            </a:r>
            <a:endParaRPr lang="en-US" sz="1463" dirty="0"/>
          </a:p>
        </p:txBody>
      </p:sp>
      <p:sp>
        <p:nvSpPr>
          <p:cNvPr id="4" name="Text 2"/>
          <p:cNvSpPr/>
          <p:nvPr/>
        </p:nvSpPr>
        <p:spPr>
          <a:xfrm>
            <a:off x="514350" y="812155"/>
            <a:ext cx="400050" cy="14288"/>
          </a:xfrm>
          <a:prstGeom prst="rect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955030"/>
            <a:ext cx="8115300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1000" kern="0" spc="14" dirty="0">
                <a:solidFill>
                  <a:srgbClr val="0B2545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Existing cryptographic inventory scanners produce semantically flat output. Five measurable problems follow.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17922" y="1297148"/>
            <a:ext cx="1398724" cy="1679961"/>
          </a:xfrm>
          <a:prstGeom prst="roundRect">
            <a:avLst>
              <a:gd name="adj" fmla="val 2980"/>
            </a:avLst>
          </a:prstGeom>
          <a:solidFill>
            <a:srgbClr val="FFFFFF"/>
          </a:solidFill>
          <a:ln w="7144">
            <a:solidFill>
              <a:srgbClr val="0B254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21506" y="1400733"/>
            <a:ext cx="1191555" cy="129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900" b="1" kern="0" spc="25" dirty="0">
                <a:solidFill>
                  <a:srgbClr val="0B2545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506" y="1557449"/>
            <a:ext cx="1191555" cy="1268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1000" kern="0" spc="7" dirty="0">
                <a:solidFill>
                  <a:srgbClr val="0B254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Findings are noise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506" y="1711709"/>
            <a:ext cx="1263048" cy="7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10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Crypsy achieves real-world actionable precision of only 0.30 — over two-thirds of reported calls are non-security hashing matched by the same heuristic rules.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91655" y="187222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195252" y="1297149"/>
            <a:ext cx="1398836" cy="1679960"/>
          </a:xfrm>
          <a:prstGeom prst="roundRect">
            <a:avLst>
              <a:gd name="adj" fmla="val 2980"/>
            </a:avLst>
          </a:prstGeom>
          <a:solidFill>
            <a:srgbClr val="FFFFFF"/>
          </a:solidFill>
          <a:ln w="7144">
            <a:solidFill>
              <a:srgbClr val="0B254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298836" y="1400733"/>
            <a:ext cx="1191667" cy="129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900" b="1" kern="0" spc="25" dirty="0">
                <a:solidFill>
                  <a:srgbClr val="0B2545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98836" y="1557449"/>
            <a:ext cx="1191667" cy="1268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1000" kern="0" spc="7" dirty="0">
                <a:solidFill>
                  <a:srgbClr val="0B254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Flat scoring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98836" y="1711709"/>
            <a:ext cx="1263167" cy="1148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10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risk scores exist they depend only on the algorithm. Every RSA-2048 site receives an identical value, giving no signal for sequencing.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69097" y="187222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872694" y="1297148"/>
            <a:ext cx="1398724" cy="1679961"/>
          </a:xfrm>
          <a:prstGeom prst="roundRect">
            <a:avLst>
              <a:gd name="adj" fmla="val 2980"/>
            </a:avLst>
          </a:prstGeom>
          <a:solidFill>
            <a:srgbClr val="FFFFFF"/>
          </a:solidFill>
          <a:ln w="7144">
            <a:solidFill>
              <a:srgbClr val="0B254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76278" y="1400733"/>
            <a:ext cx="1191555" cy="129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900" b="1" kern="0" spc="25" dirty="0">
                <a:solidFill>
                  <a:srgbClr val="0B2545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976278" y="1557449"/>
            <a:ext cx="1191555" cy="1268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1000" kern="0" spc="7" dirty="0">
                <a:solidFill>
                  <a:srgbClr val="0B254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No dataflow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976278" y="1711709"/>
            <a:ext cx="1263048" cy="94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10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Scanners report RSA-2048 call sites with no notion of what data is being protected or for how long.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46427" y="187222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550024" y="1297148"/>
            <a:ext cx="1398724" cy="1679961"/>
          </a:xfrm>
          <a:prstGeom prst="roundRect">
            <a:avLst>
              <a:gd name="adj" fmla="val 2980"/>
            </a:avLst>
          </a:prstGeom>
          <a:solidFill>
            <a:srgbClr val="FFFFFF"/>
          </a:solidFill>
          <a:ln w="7144">
            <a:solidFill>
              <a:srgbClr val="0B254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653608" y="1400733"/>
            <a:ext cx="1191555" cy="129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900" b="1" kern="0" spc="25" dirty="0">
                <a:solidFill>
                  <a:srgbClr val="0B2545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53608" y="1557449"/>
            <a:ext cx="1191555" cy="1268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1000" kern="0" spc="7" dirty="0">
                <a:solidFill>
                  <a:srgbClr val="0B254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Runtime-arg blindness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53608" y="1711708"/>
            <a:ext cx="1263048" cy="1148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10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Arguments computed at runtime cannot be resolved. Crypsy recall is 0.66 — roughly one-third of assets are missed.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23757" y="187222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227354" y="1297149"/>
            <a:ext cx="1398724" cy="1679960"/>
          </a:xfrm>
          <a:prstGeom prst="roundRect">
            <a:avLst>
              <a:gd name="adj" fmla="val 2980"/>
            </a:avLst>
          </a:prstGeom>
          <a:solidFill>
            <a:srgbClr val="0B2545"/>
          </a:solidFill>
          <a:ln w="7144">
            <a:solidFill>
              <a:srgbClr val="0B254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330939" y="1400733"/>
            <a:ext cx="1191555" cy="129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900" b="1" kern="0" spc="25" dirty="0">
                <a:solidFill>
                  <a:srgbClr val="0B2545">
                    <a:alpha val="7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30939" y="1557449"/>
            <a:ext cx="1191555" cy="1268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1000" kern="0" spc="7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No migration order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30939" y="1781675"/>
            <a:ext cx="1263048" cy="94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1000" dirty="0">
                <a:solidFill>
                  <a:srgbClr val="FFFFFF">
                    <a:alpha val="9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teams receive hundreds of unordered findings with no defensible priority order and no path to a multi-year roadmap.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05" y="3186919"/>
            <a:ext cx="8115300" cy="0"/>
          </a:xfrm>
          <a:prstGeom prst="line">
            <a:avLst/>
          </a:prstGeom>
          <a:noFill/>
          <a:ln w="7144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52177" y="3245163"/>
            <a:ext cx="8115300" cy="291201"/>
          </a:xfrm>
          <a:prstGeom prst="rect">
            <a:avLst/>
          </a:prstGeom>
          <a:noFill/>
          <a:ln/>
        </p:spPr>
        <p:txBody>
          <a:bodyPr wrap="square" lIns="0" tIns="100013" rIns="0" bIns="0" rtlCol="0" anchor="t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1050" kern="0" spc="7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Net effect — an organisation cannot migrate what it cannot locate, and cannot sequence what it cannot score.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05" y="3661978"/>
            <a:ext cx="8115300" cy="0"/>
          </a:xfrm>
          <a:prstGeom prst="line">
            <a:avLst/>
          </a:prstGeom>
          <a:noFill/>
          <a:ln w="7144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48605" y="3822712"/>
            <a:ext cx="2931795" cy="215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575" b="1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≈ 0.30</a:t>
            </a:r>
            <a:endParaRPr lang="en-US" sz="1575" dirty="0"/>
          </a:p>
        </p:txBody>
      </p:sp>
      <p:sp>
        <p:nvSpPr>
          <p:cNvPr id="34" name="Text 32"/>
          <p:cNvSpPr/>
          <p:nvPr/>
        </p:nvSpPr>
        <p:spPr>
          <a:xfrm>
            <a:off x="548605" y="4065600"/>
            <a:ext cx="2571750" cy="1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35"/>
              </a:lnSpc>
              <a:buNone/>
            </a:pPr>
            <a:r>
              <a:rPr lang="en-US" sz="900" dirty="0">
                <a:solidFill>
                  <a:srgbClr val="0B2545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Real-world actionable precision of current scanners (Crypsy baseline)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960335" y="3822712"/>
            <a:ext cx="3291840" cy="215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575" b="1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≈ 0.66</a:t>
            </a:r>
            <a:endParaRPr lang="en-US" sz="1575" dirty="0"/>
          </a:p>
        </p:txBody>
      </p:sp>
      <p:sp>
        <p:nvSpPr>
          <p:cNvPr id="36" name="Text 34"/>
          <p:cNvSpPr/>
          <p:nvPr/>
        </p:nvSpPr>
        <p:spPr>
          <a:xfrm>
            <a:off x="3320380" y="4065600"/>
            <a:ext cx="2571750" cy="1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35"/>
              </a:lnSpc>
              <a:buNone/>
            </a:pPr>
            <a:r>
              <a:rPr lang="en-US" sz="900" dirty="0">
                <a:solidFill>
                  <a:srgbClr val="0B2545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Recall ceiling — one-third of cryptographic assets are missed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49105" y="3822712"/>
            <a:ext cx="4114800" cy="215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575" b="1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endParaRPr lang="en-US" sz="1575" dirty="0"/>
          </a:p>
        </p:txBody>
      </p:sp>
      <p:sp>
        <p:nvSpPr>
          <p:cNvPr id="38" name="Text 36"/>
          <p:cNvSpPr/>
          <p:nvPr/>
        </p:nvSpPr>
        <p:spPr>
          <a:xfrm>
            <a:off x="6092155" y="4065600"/>
            <a:ext cx="2571750" cy="1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35"/>
              </a:lnSpc>
              <a:buNone/>
            </a:pPr>
            <a:r>
              <a:rPr lang="en-US" sz="900" dirty="0">
                <a:solidFill>
                  <a:srgbClr val="0B2545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Tools today that score data paths by retention and exposure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700760" y="4911328"/>
            <a:ext cx="340477" cy="159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600" kern="0" spc="23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10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800" kern="0" spc="101" dirty="0">
                <a:solidFill>
                  <a:srgbClr val="0B2545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03 — PART 2 OF 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46497"/>
            <a:ext cx="8629650" cy="240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463" kern="0" spc="-15" dirty="0">
                <a:solidFill>
                  <a:srgbClr val="0B254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Research Gap &amp; Five Pillars of Novelty</a:t>
            </a:r>
            <a:endParaRPr lang="en-US" sz="1463" dirty="0"/>
          </a:p>
        </p:txBody>
      </p:sp>
      <p:sp>
        <p:nvSpPr>
          <p:cNvPr id="4" name="Text 2"/>
          <p:cNvSpPr/>
          <p:nvPr/>
        </p:nvSpPr>
        <p:spPr>
          <a:xfrm>
            <a:off x="514350" y="812155"/>
            <a:ext cx="400050" cy="14288"/>
          </a:xfrm>
          <a:prstGeom prst="rect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955030"/>
            <a:ext cx="8115300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900" kern="0" spc="14" dirty="0">
                <a:solidFill>
                  <a:srgbClr val="0B2545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prior tool combines dataflow-aware scoring with verified hybrid patch synthesis. We identify five unresolved gaps (N1–N5).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176907"/>
              </p:ext>
            </p:extLst>
          </p:nvPr>
        </p:nvGraphicFramePr>
        <p:xfrm>
          <a:off x="514350" y="1207852"/>
          <a:ext cx="4463395" cy="2516033"/>
        </p:xfrm>
        <a:graphic>
          <a:graphicData uri="http://schemas.openxmlformats.org/drawingml/2006/table">
            <a:tbl>
              <a:tblPr/>
              <a:tblGrid>
                <a:gridCol w="2407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8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6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86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122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Capability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57150" marT="57150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P1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57150" marT="57150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P2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57150" marT="57150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P3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57150" marT="57150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P5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57150" marT="57150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P6/P7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57150" marT="57150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Ours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57150" marT="57150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Multi-language discovery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✔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◐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✘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◐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✘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✔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CycloneDX 1.6 CBOM output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✔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✘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✘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✘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✔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✔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Dataflow to protected data (N1)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✘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✘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✘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✘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✘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✔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Retention-lifetime inference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✘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✘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✘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✘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✘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✔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Call-site-varying risk (N2)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✘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✘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✘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✘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✘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✔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Ranking eval nDCG / τ (N2)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✘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✘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✘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✘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✘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✔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Context noise suppression (N3)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✘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◐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✘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✘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◐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✔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Verified hybrid patches (N4)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✘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✘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✘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✘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✘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✔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Public annotated benchmark (N5)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✘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✘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✘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✘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✘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✔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69900" y="3910246"/>
            <a:ext cx="4820464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800" kern="0" spc="11" dirty="0">
                <a:solidFill>
                  <a:srgbClr val="0B2545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✔ fully present · ◐ partial / limited · ✘ absent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234918" y="1188660"/>
            <a:ext cx="3909082" cy="159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800" b="1" kern="0" spc="90" dirty="0">
                <a:solidFill>
                  <a:srgbClr val="0B2545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PILLARS OF NOVELTY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234918" y="1411449"/>
            <a:ext cx="257175" cy="171450"/>
          </a:xfrm>
          <a:prstGeom prst="roundRect">
            <a:avLst>
              <a:gd name="adj" fmla="val 22222"/>
            </a:avLst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234918" y="1411449"/>
            <a:ext cx="2571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79"/>
              </a:lnSpc>
              <a:buNone/>
            </a:pPr>
            <a:r>
              <a:rPr lang="en-US" sz="800" b="1" kern="0" spc="27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620680" y="1411449"/>
            <a:ext cx="3523320" cy="121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49"/>
              </a:lnSpc>
              <a:buNone/>
            </a:pPr>
            <a:r>
              <a:rPr lang="en-US" sz="800" kern="0" spc="8" dirty="0">
                <a:solidFill>
                  <a:srgbClr val="0B254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Retention-aware dataflow binding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620680" y="1560575"/>
            <a:ext cx="3266033" cy="318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38"/>
              </a:lnSpc>
              <a:buNone/>
            </a:pPr>
            <a:r>
              <a:rPr lang="en-US" sz="800" dirty="0">
                <a:solidFill>
                  <a:srgbClr val="0B2545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First framework to bind cryptographic call sites to data-confidentiality lifetimes extracted from declarative configuration.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234918" y="1898786"/>
            <a:ext cx="257175" cy="171450"/>
          </a:xfrm>
          <a:prstGeom prst="roundRect">
            <a:avLst>
              <a:gd name="adj" fmla="val 22222"/>
            </a:avLst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234918" y="1898786"/>
            <a:ext cx="2571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79"/>
              </a:lnSpc>
              <a:buNone/>
            </a:pPr>
            <a:r>
              <a:rPr lang="en-US" sz="800" b="1" kern="0" spc="27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N2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620680" y="1898786"/>
            <a:ext cx="3523320" cy="121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49"/>
              </a:lnSpc>
              <a:buNone/>
            </a:pPr>
            <a:r>
              <a:rPr lang="en-US" sz="800" kern="0" spc="8" dirty="0">
                <a:solidFill>
                  <a:srgbClr val="0B254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Call-site-discriminating risk score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620680" y="2047912"/>
            <a:ext cx="3266033" cy="318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38"/>
              </a:lnSpc>
              <a:buNone/>
            </a:pPr>
            <a:r>
              <a:rPr lang="en-US" sz="800" dirty="0">
                <a:solidFill>
                  <a:srgbClr val="0B2545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Scores data paths rather than algorithms; evaluated against expert priority order with nDCG@20 and Kendall-τ.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234918" y="2386124"/>
            <a:ext cx="257175" cy="171450"/>
          </a:xfrm>
          <a:prstGeom prst="roundRect">
            <a:avLst>
              <a:gd name="adj" fmla="val 22222"/>
            </a:avLst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234918" y="2386124"/>
            <a:ext cx="2571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79"/>
              </a:lnSpc>
              <a:buNone/>
            </a:pPr>
            <a:r>
              <a:rPr lang="en-US" sz="800" b="1" kern="0" spc="27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N3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620680" y="2386124"/>
            <a:ext cx="3523320" cy="121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49"/>
              </a:lnSpc>
              <a:buNone/>
            </a:pPr>
            <a:r>
              <a:rPr lang="en-US" sz="800" kern="0" spc="8" dirty="0">
                <a:solidFill>
                  <a:srgbClr val="0B254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Dataflow-conditioned noise suppression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620680" y="2535250"/>
            <a:ext cx="3266033" cy="318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38"/>
              </a:lnSpc>
              <a:buNone/>
            </a:pPr>
            <a:r>
              <a:rPr lang="en-US" sz="800" dirty="0">
                <a:solidFill>
                  <a:srgbClr val="0B2545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Reclassifies non-security hashes (cache keys, ETags, checksums) from source/sink provenance without manual triage.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234918" y="2873462"/>
            <a:ext cx="257175" cy="171450"/>
          </a:xfrm>
          <a:prstGeom prst="roundRect">
            <a:avLst>
              <a:gd name="adj" fmla="val 22222"/>
            </a:avLst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234918" y="2873462"/>
            <a:ext cx="2571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79"/>
              </a:lnSpc>
              <a:buNone/>
            </a:pPr>
            <a:r>
              <a:rPr lang="en-US" sz="800" b="1" kern="0" spc="27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N4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620680" y="2873462"/>
            <a:ext cx="3523320" cy="121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49"/>
              </a:lnSpc>
              <a:buNone/>
            </a:pPr>
            <a:r>
              <a:rPr lang="en-US" sz="800" kern="0" spc="8" dirty="0">
                <a:solidFill>
                  <a:srgbClr val="0B254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Differentially verified hybrid patches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620680" y="3022588"/>
            <a:ext cx="3266033" cy="159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38"/>
              </a:lnSpc>
              <a:buNone/>
            </a:pPr>
            <a:r>
              <a:rPr lang="en-US" sz="647" dirty="0">
                <a:solidFill>
                  <a:srgbClr val="0B2545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Three-gate harness: differential testing, property tests, downgrade-resistance checks.</a:t>
            </a:r>
            <a:endParaRPr lang="en-US" sz="647" dirty="0"/>
          </a:p>
        </p:txBody>
      </p:sp>
      <p:sp>
        <p:nvSpPr>
          <p:cNvPr id="25" name="Text 22"/>
          <p:cNvSpPr/>
          <p:nvPr/>
        </p:nvSpPr>
        <p:spPr>
          <a:xfrm>
            <a:off x="5234918" y="3241700"/>
            <a:ext cx="257175" cy="171450"/>
          </a:xfrm>
          <a:prstGeom prst="roundRect">
            <a:avLst>
              <a:gd name="adj" fmla="val 22222"/>
            </a:avLst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234918" y="3241700"/>
            <a:ext cx="2571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79"/>
              </a:lnSpc>
              <a:buNone/>
            </a:pPr>
            <a:r>
              <a:rPr lang="en-US" sz="800" b="1" kern="0" spc="27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N5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620680" y="3241700"/>
            <a:ext cx="3523320" cy="121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49"/>
              </a:lnSpc>
              <a:buNone/>
            </a:pPr>
            <a:r>
              <a:rPr lang="en-US" sz="800" kern="0" spc="8" dirty="0">
                <a:solidFill>
                  <a:srgbClr val="0B254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Public retention-annotated benchmark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620680" y="3390826"/>
            <a:ext cx="3266033" cy="318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38"/>
              </a:lnSpc>
              <a:buNone/>
            </a:pPr>
            <a:r>
              <a:rPr lang="en-US" sz="800" dirty="0">
                <a:solidFill>
                  <a:srgbClr val="0B2545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First open dataset pairing real cryptographic call sites with retention ground truth and expert priority rankings.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8700760" y="4911328"/>
            <a:ext cx="340477" cy="159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600" kern="0" spc="23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10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800" kern="0" spc="101" dirty="0">
                <a:solidFill>
                  <a:srgbClr val="0B2545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46497"/>
            <a:ext cx="8521065" cy="24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463" kern="0" spc="-15" dirty="0">
                <a:solidFill>
                  <a:srgbClr val="0B254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Project Objectives</a:t>
            </a:r>
            <a:endParaRPr lang="en-US" sz="1463" dirty="0"/>
          </a:p>
        </p:txBody>
      </p:sp>
      <p:sp>
        <p:nvSpPr>
          <p:cNvPr id="4" name="Text 2"/>
          <p:cNvSpPr/>
          <p:nvPr/>
        </p:nvSpPr>
        <p:spPr>
          <a:xfrm>
            <a:off x="514350" y="812155"/>
            <a:ext cx="400050" cy="14288"/>
          </a:xfrm>
          <a:prstGeom prst="rect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958329"/>
            <a:ext cx="1946672" cy="1193006"/>
          </a:xfrm>
          <a:prstGeom prst="roundRect">
            <a:avLst>
              <a:gd name="adj" fmla="val 3194"/>
            </a:avLst>
          </a:prstGeom>
          <a:solidFill>
            <a:srgbClr val="FFFFFF"/>
          </a:solidFill>
          <a:ln w="7144">
            <a:solidFill>
              <a:srgbClr val="0B254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06961" y="1039783"/>
            <a:ext cx="247420" cy="146393"/>
          </a:xfrm>
          <a:prstGeom prst="roundRect">
            <a:avLst>
              <a:gd name="adj" fmla="val 26026"/>
            </a:avLst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17934" y="1047626"/>
            <a:ext cx="225475" cy="1307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04"/>
              </a:lnSpc>
              <a:buNone/>
            </a:pPr>
            <a:r>
              <a:rPr lang="en-US" sz="1000" b="1" kern="0" spc="25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74912" y="1066378"/>
            <a:ext cx="416905" cy="159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34"/>
              </a:lnSpc>
              <a:buNone/>
            </a:pPr>
            <a:r>
              <a:rPr lang="en-US" sz="800" kern="0" spc="61" dirty="0">
                <a:solidFill>
                  <a:srgbClr val="0B254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PRIMARY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17934" y="1249771"/>
            <a:ext cx="1843873" cy="1270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1000" dirty="0">
                <a:solidFill>
                  <a:srgbClr val="0B254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Multi-language discovery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7934" y="1469776"/>
            <a:ext cx="1739503" cy="38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1000" dirty="0">
                <a:solidFill>
                  <a:srgbClr val="0B2545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AST-based discovery engine emitting standard CycloneDX 1.6 CBOM for Python and Java.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7934" y="1924074"/>
            <a:ext cx="1739503" cy="0"/>
          </a:xfrm>
          <a:prstGeom prst="line">
            <a:avLst/>
          </a:prstGeom>
          <a:noFill/>
          <a:ln w="7144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3" name="Text 11"/>
          <p:cNvSpPr/>
          <p:nvPr/>
        </p:nvSpPr>
        <p:spPr>
          <a:xfrm>
            <a:off x="617934" y="1920503"/>
            <a:ext cx="1843873" cy="141536"/>
          </a:xfrm>
          <a:prstGeom prst="rect">
            <a:avLst/>
          </a:prstGeom>
          <a:noFill/>
          <a:ln/>
        </p:spPr>
        <p:txBody>
          <a:bodyPr wrap="square" lIns="0" tIns="42863" rIns="0" bIns="0" rtlCol="0" anchor="t"/>
          <a:lstStyle/>
          <a:p>
            <a:pPr marL="0" indent="0" algn="l">
              <a:lnSpc>
                <a:spcPts val="721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Target: F₁ ≥ 0.85 (Crypsy 0.75; CBOMkit 0.66)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568178" y="958329"/>
            <a:ext cx="1946672" cy="1193006"/>
          </a:xfrm>
          <a:prstGeom prst="roundRect">
            <a:avLst>
              <a:gd name="adj" fmla="val 3194"/>
            </a:avLst>
          </a:prstGeom>
          <a:solidFill>
            <a:srgbClr val="FFFFFF"/>
          </a:solidFill>
          <a:ln w="7144">
            <a:solidFill>
              <a:srgbClr val="0B254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660790" y="1039783"/>
            <a:ext cx="247420" cy="146393"/>
          </a:xfrm>
          <a:prstGeom prst="roundRect">
            <a:avLst>
              <a:gd name="adj" fmla="val 26026"/>
            </a:avLst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671762" y="1047626"/>
            <a:ext cx="225475" cy="1307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04"/>
              </a:lnSpc>
              <a:buNone/>
            </a:pPr>
            <a:r>
              <a:rPr lang="en-US" sz="1000" b="1" kern="0" spc="25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028740" y="1066378"/>
            <a:ext cx="416905" cy="159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34"/>
              </a:lnSpc>
              <a:buNone/>
            </a:pPr>
            <a:r>
              <a:rPr lang="en-US" sz="800" kern="0" spc="61" dirty="0">
                <a:solidFill>
                  <a:srgbClr val="0B254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PRIMARY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671762" y="1249771"/>
            <a:ext cx="1843873" cy="1270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1000" dirty="0">
                <a:solidFill>
                  <a:srgbClr val="0B254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Semantic dataflow binding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71762" y="1404255"/>
            <a:ext cx="1773883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1000" dirty="0">
                <a:solidFill>
                  <a:srgbClr val="0B2545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Inter-procedural analysis binding each call site to plaintext source, sink and retention evidence.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671762" y="1832545"/>
            <a:ext cx="1739503" cy="0"/>
          </a:xfrm>
          <a:prstGeom prst="line">
            <a:avLst/>
          </a:prstGeom>
          <a:noFill/>
          <a:ln w="7144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1" name="Text 19"/>
          <p:cNvSpPr/>
          <p:nvPr/>
        </p:nvSpPr>
        <p:spPr>
          <a:xfrm>
            <a:off x="2671762" y="1828973"/>
            <a:ext cx="1739503" cy="233065"/>
          </a:xfrm>
          <a:prstGeom prst="rect">
            <a:avLst/>
          </a:prstGeom>
          <a:noFill/>
          <a:ln/>
        </p:spPr>
        <p:txBody>
          <a:bodyPr wrap="square" lIns="0" tIns="42863" rIns="0" bIns="0" rtlCol="0" anchor="t"/>
          <a:lstStyle/>
          <a:p>
            <a:pPr marL="0" indent="0" algn="l">
              <a:lnSpc>
                <a:spcPts val="721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Target: ≥ 70% call-site binding; ≥ 50% retention extraction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22006" y="958329"/>
            <a:ext cx="1946672" cy="1193006"/>
          </a:xfrm>
          <a:prstGeom prst="roundRect">
            <a:avLst>
              <a:gd name="adj" fmla="val 3194"/>
            </a:avLst>
          </a:prstGeom>
          <a:solidFill>
            <a:srgbClr val="FFFFFF"/>
          </a:solidFill>
          <a:ln w="7144">
            <a:solidFill>
              <a:srgbClr val="0B254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714618" y="1039783"/>
            <a:ext cx="247420" cy="146393"/>
          </a:xfrm>
          <a:prstGeom prst="roundRect">
            <a:avLst>
              <a:gd name="adj" fmla="val 26026"/>
            </a:avLst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725591" y="1047626"/>
            <a:ext cx="225475" cy="1307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04"/>
              </a:lnSpc>
              <a:buNone/>
            </a:pPr>
            <a:r>
              <a:rPr lang="en-US" sz="1000" b="1" kern="0" spc="25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82568" y="1066378"/>
            <a:ext cx="416905" cy="159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34"/>
              </a:lnSpc>
              <a:buNone/>
            </a:pPr>
            <a:r>
              <a:rPr lang="en-US" sz="800" kern="0" spc="61" dirty="0">
                <a:solidFill>
                  <a:srgbClr val="0B254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PRIMARY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25591" y="1249771"/>
            <a:ext cx="1739503" cy="127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1000" dirty="0">
                <a:solidFill>
                  <a:srgbClr val="0B254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HNDL exposure scoring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25591" y="1404255"/>
            <a:ext cx="1739503" cy="409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1000" dirty="0">
                <a:solidFill>
                  <a:srgbClr val="0B2545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Data-path-dependent score operationalising Mosca’s inequality for prioritisation.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25591" y="1924074"/>
            <a:ext cx="1739503" cy="0"/>
          </a:xfrm>
          <a:prstGeom prst="line">
            <a:avLst/>
          </a:prstGeom>
          <a:noFill/>
          <a:ln w="7144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9" name="Text 27"/>
          <p:cNvSpPr/>
          <p:nvPr/>
        </p:nvSpPr>
        <p:spPr>
          <a:xfrm>
            <a:off x="4725591" y="1920503"/>
            <a:ext cx="1843873" cy="141536"/>
          </a:xfrm>
          <a:prstGeom prst="rect">
            <a:avLst/>
          </a:prstGeom>
          <a:noFill/>
          <a:ln/>
        </p:spPr>
        <p:txBody>
          <a:bodyPr wrap="square" lIns="0" tIns="42863" rIns="0" bIns="0" rtlCol="0" anchor="t"/>
          <a:lstStyle/>
          <a:p>
            <a:pPr marL="0" indent="0" algn="l">
              <a:lnSpc>
                <a:spcPts val="721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Target: nDCG@20 ≥ 0.80; Kendall-τ ≥ 0.60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675834" y="958329"/>
            <a:ext cx="1946672" cy="1193006"/>
          </a:xfrm>
          <a:prstGeom prst="roundRect">
            <a:avLst>
              <a:gd name="adj" fmla="val 3194"/>
            </a:avLst>
          </a:prstGeom>
          <a:solidFill>
            <a:srgbClr val="FFFFFF"/>
          </a:solidFill>
          <a:ln w="7144">
            <a:solidFill>
              <a:srgbClr val="0B254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768446" y="1039783"/>
            <a:ext cx="247420" cy="146393"/>
          </a:xfrm>
          <a:prstGeom prst="roundRect">
            <a:avLst>
              <a:gd name="adj" fmla="val 26026"/>
            </a:avLst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779419" y="1047626"/>
            <a:ext cx="225475" cy="1307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04"/>
              </a:lnSpc>
              <a:buNone/>
            </a:pPr>
            <a:r>
              <a:rPr lang="en-US" sz="1000" b="1" kern="0" spc="25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136396" y="1066378"/>
            <a:ext cx="416905" cy="159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34"/>
              </a:lnSpc>
              <a:buNone/>
            </a:pPr>
            <a:r>
              <a:rPr lang="en-US" sz="800" kern="0" spc="61" dirty="0">
                <a:solidFill>
                  <a:srgbClr val="0B254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PRIMARY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79419" y="1249771"/>
            <a:ext cx="1739503" cy="127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1000" dirty="0">
                <a:solidFill>
                  <a:srgbClr val="0B254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Noise suppression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779419" y="1404255"/>
            <a:ext cx="1739503" cy="378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1000" dirty="0">
                <a:solidFill>
                  <a:srgbClr val="0B2545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Filter non-security cryptographic operations using dataflow context.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779419" y="1924074"/>
            <a:ext cx="1739503" cy="0"/>
          </a:xfrm>
          <a:prstGeom prst="line">
            <a:avLst/>
          </a:prstGeom>
          <a:noFill/>
          <a:ln w="7144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7" name="Text 35"/>
          <p:cNvSpPr/>
          <p:nvPr/>
        </p:nvSpPr>
        <p:spPr>
          <a:xfrm>
            <a:off x="6779419" y="1920503"/>
            <a:ext cx="1739503" cy="141536"/>
          </a:xfrm>
          <a:prstGeom prst="rect">
            <a:avLst/>
          </a:prstGeom>
          <a:noFill/>
          <a:ln/>
        </p:spPr>
        <p:txBody>
          <a:bodyPr wrap="square" lIns="0" tIns="42863" rIns="0" bIns="0" rtlCol="0" anchor="t"/>
          <a:lstStyle/>
          <a:p>
            <a:pPr marL="0" indent="0" algn="l">
              <a:lnSpc>
                <a:spcPts val="721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Target: actionable precision ≥ 0.70 (baseline ≈ 0.30)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14350" y="2258491"/>
            <a:ext cx="1946672" cy="1193006"/>
          </a:xfrm>
          <a:prstGeom prst="roundRect">
            <a:avLst>
              <a:gd name="adj" fmla="val 3194"/>
            </a:avLst>
          </a:prstGeom>
          <a:solidFill>
            <a:srgbClr val="FFFFFF"/>
          </a:solidFill>
          <a:ln w="7144">
            <a:solidFill>
              <a:srgbClr val="0B254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606961" y="2339946"/>
            <a:ext cx="247420" cy="146393"/>
          </a:xfrm>
          <a:prstGeom prst="roundRect">
            <a:avLst>
              <a:gd name="adj" fmla="val 26026"/>
            </a:avLst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628906" y="2339946"/>
            <a:ext cx="225475" cy="1307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04"/>
              </a:lnSpc>
              <a:buNone/>
            </a:pPr>
            <a:r>
              <a:rPr lang="en-US" sz="1000" b="1" kern="0" spc="25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974912" y="2366540"/>
            <a:ext cx="416905" cy="159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34"/>
              </a:lnSpc>
              <a:buNone/>
            </a:pPr>
            <a:r>
              <a:rPr lang="en-US" sz="800" kern="0" spc="61" dirty="0">
                <a:solidFill>
                  <a:srgbClr val="0B254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PRIMARY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17934" y="2549934"/>
            <a:ext cx="1843873" cy="1270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1000" dirty="0">
                <a:solidFill>
                  <a:srgbClr val="0B254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Verified hybrid patch synthesis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17934" y="2769939"/>
            <a:ext cx="1773883" cy="394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1000" dirty="0">
                <a:solidFill>
                  <a:srgbClr val="0B2545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Hybrid PQC patches (X25519 + ML-KEM) verified by differential testing before PR emission.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7934" y="3224237"/>
            <a:ext cx="1739503" cy="0"/>
          </a:xfrm>
          <a:prstGeom prst="line">
            <a:avLst/>
          </a:prstGeom>
          <a:noFill/>
          <a:ln w="7144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45" name="Text 43"/>
          <p:cNvSpPr/>
          <p:nvPr/>
        </p:nvSpPr>
        <p:spPr>
          <a:xfrm>
            <a:off x="617934" y="3220665"/>
            <a:ext cx="1843873" cy="141536"/>
          </a:xfrm>
          <a:prstGeom prst="rect">
            <a:avLst/>
          </a:prstGeom>
          <a:noFill/>
          <a:ln/>
        </p:spPr>
        <p:txBody>
          <a:bodyPr wrap="square" lIns="0" tIns="42863" rIns="0" bIns="0" rtlCol="0" anchor="t"/>
          <a:lstStyle/>
          <a:p>
            <a:pPr marL="0" indent="0" algn="l">
              <a:lnSpc>
                <a:spcPts val="721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Target: ≥ 80% pass rate on real multi-file repos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568178" y="2282862"/>
            <a:ext cx="1946672" cy="1193006"/>
          </a:xfrm>
          <a:prstGeom prst="roundRect">
            <a:avLst>
              <a:gd name="adj" fmla="val 3194"/>
            </a:avLst>
          </a:prstGeom>
          <a:solidFill>
            <a:srgbClr val="FFFFFF"/>
          </a:solidFill>
          <a:ln w="7144">
            <a:solidFill>
              <a:srgbClr val="0B254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2660790" y="2339946"/>
            <a:ext cx="247420" cy="146393"/>
          </a:xfrm>
          <a:prstGeom prst="roundRect">
            <a:avLst>
              <a:gd name="adj" fmla="val 26026"/>
            </a:avLst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48" name="Text 46"/>
          <p:cNvSpPr/>
          <p:nvPr/>
        </p:nvSpPr>
        <p:spPr>
          <a:xfrm>
            <a:off x="2671762" y="2347788"/>
            <a:ext cx="225475" cy="1307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04"/>
              </a:lnSpc>
              <a:buNone/>
            </a:pPr>
            <a:r>
              <a:rPr lang="en-US" sz="1000" b="1" kern="0" spc="25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O6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908084" y="2366540"/>
            <a:ext cx="528401" cy="159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34"/>
              </a:lnSpc>
              <a:buNone/>
            </a:pPr>
            <a:r>
              <a:rPr lang="en-US" sz="800" kern="0" spc="61" dirty="0">
                <a:solidFill>
                  <a:srgbClr val="0B254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SECONDARY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671762" y="2549934"/>
            <a:ext cx="1739503" cy="127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1000" dirty="0">
                <a:solidFill>
                  <a:srgbClr val="0B254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Public benchmark release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671762" y="2743533"/>
            <a:ext cx="1739503" cy="378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1000" dirty="0">
                <a:solidFill>
                  <a:srgbClr val="0B2545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Retention-annotated cryptographic benchmark with expert priority orders.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671762" y="3224237"/>
            <a:ext cx="1739503" cy="0"/>
          </a:xfrm>
          <a:prstGeom prst="line">
            <a:avLst/>
          </a:prstGeom>
          <a:noFill/>
          <a:ln w="7144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53" name="Text 51"/>
          <p:cNvSpPr/>
          <p:nvPr/>
        </p:nvSpPr>
        <p:spPr>
          <a:xfrm>
            <a:off x="2671762" y="3220665"/>
            <a:ext cx="1843873" cy="141536"/>
          </a:xfrm>
          <a:prstGeom prst="rect">
            <a:avLst/>
          </a:prstGeom>
          <a:noFill/>
          <a:ln/>
        </p:spPr>
        <p:txBody>
          <a:bodyPr wrap="square" lIns="0" tIns="42863" rIns="0" bIns="0" rtlCol="0" anchor="t"/>
          <a:lstStyle/>
          <a:p>
            <a:pPr marL="0" indent="0" algn="l">
              <a:lnSpc>
                <a:spcPts val="721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Target: 15–20 real-world repositories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622006" y="2258491"/>
            <a:ext cx="1946672" cy="1193006"/>
          </a:xfrm>
          <a:prstGeom prst="roundRect">
            <a:avLst>
              <a:gd name="adj" fmla="val 3194"/>
            </a:avLst>
          </a:prstGeom>
          <a:solidFill>
            <a:srgbClr val="FFFFFF"/>
          </a:solidFill>
          <a:ln w="7144">
            <a:solidFill>
              <a:srgbClr val="0B254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55" name="Text 53"/>
          <p:cNvSpPr/>
          <p:nvPr/>
        </p:nvSpPr>
        <p:spPr>
          <a:xfrm>
            <a:off x="4714618" y="2339946"/>
            <a:ext cx="247420" cy="146393"/>
          </a:xfrm>
          <a:prstGeom prst="roundRect">
            <a:avLst>
              <a:gd name="adj" fmla="val 26026"/>
            </a:avLst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56" name="Text 54"/>
          <p:cNvSpPr/>
          <p:nvPr/>
        </p:nvSpPr>
        <p:spPr>
          <a:xfrm>
            <a:off x="4725591" y="2347788"/>
            <a:ext cx="225475" cy="1307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04"/>
              </a:lnSpc>
              <a:buNone/>
            </a:pPr>
            <a:r>
              <a:rPr lang="en-US" sz="1000" b="1" kern="0" spc="25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O7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961912" y="2366540"/>
            <a:ext cx="528401" cy="159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34"/>
              </a:lnSpc>
              <a:buNone/>
            </a:pPr>
            <a:r>
              <a:rPr lang="en-US" sz="800" kern="0" spc="61" dirty="0">
                <a:solidFill>
                  <a:srgbClr val="0B254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SECONDARY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725591" y="2549934"/>
            <a:ext cx="1739503" cy="127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79"/>
              </a:lnSpc>
              <a:buNone/>
            </a:pPr>
            <a:r>
              <a:rPr lang="en-US" sz="1000" dirty="0">
                <a:solidFill>
                  <a:srgbClr val="0B254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Evaluation methodology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725591" y="2704418"/>
            <a:ext cx="1739503" cy="409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1000" dirty="0">
                <a:solidFill>
                  <a:srgbClr val="0B2545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Standardise the ranking-evaluation protocol for migration tooling.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725591" y="3224237"/>
            <a:ext cx="1739503" cy="0"/>
          </a:xfrm>
          <a:prstGeom prst="line">
            <a:avLst/>
          </a:prstGeom>
          <a:noFill/>
          <a:ln w="7144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61" name="Text 59"/>
          <p:cNvSpPr/>
          <p:nvPr/>
        </p:nvSpPr>
        <p:spPr>
          <a:xfrm>
            <a:off x="4725591" y="3220665"/>
            <a:ext cx="1843873" cy="141536"/>
          </a:xfrm>
          <a:prstGeom prst="rect">
            <a:avLst/>
          </a:prstGeom>
          <a:noFill/>
          <a:ln/>
        </p:spPr>
        <p:txBody>
          <a:bodyPr wrap="square" lIns="0" tIns="42863" rIns="0" bIns="0" rtlCol="0" anchor="t"/>
          <a:lstStyle/>
          <a:p>
            <a:pPr marL="0" indent="0" algn="l">
              <a:lnSpc>
                <a:spcPts val="721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Target: documented, reproducible protocol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750516" y="2258491"/>
            <a:ext cx="1946672" cy="1193006"/>
          </a:xfrm>
          <a:prstGeom prst="roundRect">
            <a:avLst>
              <a:gd name="adj" fmla="val 3194"/>
            </a:avLst>
          </a:prstGeom>
          <a:solidFill>
            <a:srgbClr val="0B2545"/>
          </a:solidFill>
          <a:ln w="7144">
            <a:solidFill>
              <a:srgbClr val="0B254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63" name="Text 61"/>
          <p:cNvSpPr/>
          <p:nvPr/>
        </p:nvSpPr>
        <p:spPr>
          <a:xfrm>
            <a:off x="6779419" y="2362076"/>
            <a:ext cx="1739503" cy="1086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734"/>
              </a:lnSpc>
              <a:buNone/>
            </a:pPr>
            <a:r>
              <a:rPr lang="en-US" sz="1000" b="1" kern="0" spc="71" dirty="0">
                <a:solidFill>
                  <a:srgbClr val="FFFFFF">
                    <a:alpha val="8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SCOPE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779419" y="2498142"/>
            <a:ext cx="184387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4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From discovery to verified hybrid patches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779419" y="2784068"/>
            <a:ext cx="1739503" cy="477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6"/>
              </a:lnSpc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Seven objectives trace to five novelty pillars (N1–N5) and deliver a complete, auditable post-quantum migration pipeline.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8700760" y="4911328"/>
            <a:ext cx="340477" cy="159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600" kern="0" spc="23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10</a:t>
            </a:r>
            <a:endParaRPr lang="en-US" sz="600" dirty="0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90990605-7414-6717-530A-3AFB44160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4364" y="3874467"/>
            <a:ext cx="3871748" cy="381185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B6372DE9-7C73-2ABD-D0E2-810ACACE7A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8541" y="4473479"/>
            <a:ext cx="4680137" cy="3155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800" kern="0" spc="101" dirty="0">
                <a:solidFill>
                  <a:srgbClr val="0B2545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05 — PART 1 OF 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46497"/>
            <a:ext cx="8521065" cy="24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463" kern="0" spc="-15" dirty="0">
                <a:solidFill>
                  <a:srgbClr val="0B254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Proposed Methodology</a:t>
            </a:r>
            <a:endParaRPr lang="en-US" sz="1463" dirty="0"/>
          </a:p>
        </p:txBody>
      </p:sp>
      <p:sp>
        <p:nvSpPr>
          <p:cNvPr id="4" name="Text 2"/>
          <p:cNvSpPr/>
          <p:nvPr/>
        </p:nvSpPr>
        <p:spPr>
          <a:xfrm>
            <a:off x="514350" y="812155"/>
            <a:ext cx="400050" cy="14288"/>
          </a:xfrm>
          <a:prstGeom prst="rect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955030"/>
            <a:ext cx="8115300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900" kern="0" spc="14" dirty="0">
                <a:solidFill>
                  <a:srgbClr val="0B2545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four-stage pipeline. Each stage consumes the structured output of the previous stage and can be evaluated independently.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4707" y="1318930"/>
            <a:ext cx="1793081" cy="2211479"/>
          </a:xfrm>
          <a:prstGeom prst="roundRect">
            <a:avLst>
              <a:gd name="adj" fmla="val 2232"/>
            </a:avLst>
          </a:prstGeom>
          <a:solidFill>
            <a:srgbClr val="FFFFFF"/>
          </a:solidFill>
          <a:ln w="7144">
            <a:solidFill>
              <a:srgbClr val="0B254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98634" y="1160132"/>
            <a:ext cx="1796653" cy="184149"/>
          </a:xfrm>
          <a:prstGeom prst="rect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21494" y="1172133"/>
            <a:ext cx="1785938" cy="172593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t">
            <a:noAutofit/>
          </a:bodyPr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600" b="1" kern="0" spc="99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01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521494" y="1372158"/>
            <a:ext cx="1785938" cy="322612"/>
          </a:xfrm>
          <a:prstGeom prst="rect">
            <a:avLst/>
          </a:prstGeom>
          <a:noFill/>
          <a:ln/>
        </p:spPr>
        <p:txBody>
          <a:bodyPr wrap="square" lIns="85725" tIns="71438" rIns="85725" bIns="28575" rtlCol="0" anchor="t">
            <a:noAutofit/>
          </a:bodyPr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900" dirty="0">
                <a:solidFill>
                  <a:srgbClr val="0B254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Multi-Language Cryptographic Discovery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21494" y="1722202"/>
            <a:ext cx="1785938" cy="904827"/>
          </a:xfrm>
          <a:prstGeom prst="rect">
            <a:avLst/>
          </a:prstGeom>
          <a:noFill/>
          <a:ln/>
        </p:spPr>
        <p:txBody>
          <a:bodyPr wrap="square" lIns="85725" tIns="28575" rIns="85725" bIns="0" rtlCol="0" anchor="t">
            <a:noAutofit/>
          </a:bodyPr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10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Tree-sitter + Python ast parsers</a:t>
            </a:r>
            <a:endParaRPr lang="en-US" sz="1000" dirty="0"/>
          </a:p>
          <a:p>
            <a:pPr marL="0" indent="0" algn="l">
              <a:lnSpc>
                <a:spcPts val="959"/>
              </a:lnSpc>
              <a:buNone/>
            </a:pPr>
            <a:r>
              <a:rPr lang="en-US" sz="10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Rule corpus (cryptography.hazmat, hashlib, PyCryptodome, JCA, Bouncy Castle)</a:t>
            </a:r>
            <a:endParaRPr lang="en-US" sz="1000" dirty="0"/>
          </a:p>
          <a:p>
            <a:pPr marL="0" indent="0" algn="l">
              <a:lnSpc>
                <a:spcPts val="959"/>
              </a:lnSpc>
              <a:buNone/>
            </a:pPr>
            <a:r>
              <a:rPr lang="en-US" sz="10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Constant propagation for runtime‑resolved algorithms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4707" y="3032470"/>
            <a:ext cx="1785938" cy="217884"/>
          </a:xfrm>
          <a:prstGeom prst="rect">
            <a:avLst/>
          </a:prstGeom>
          <a:noFill/>
          <a:ln/>
        </p:spPr>
        <p:txBody>
          <a:bodyPr wrap="square" lIns="85725" tIns="42863" rIns="85725" bIns="64294" rtlCol="0" anchor="t"/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800" kern="0" spc="11" dirty="0">
                <a:solidFill>
                  <a:srgbClr val="0B2545">
                    <a:alpha val="7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OUTPUT → cryptoProperties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336006" y="1943658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38" b="1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38" dirty="0"/>
          </a:p>
        </p:txBody>
      </p:sp>
      <p:sp>
        <p:nvSpPr>
          <p:cNvPr id="14" name="Text 12"/>
          <p:cNvSpPr/>
          <p:nvPr/>
        </p:nvSpPr>
        <p:spPr>
          <a:xfrm>
            <a:off x="2509599" y="1250492"/>
            <a:ext cx="1793081" cy="2279918"/>
          </a:xfrm>
          <a:prstGeom prst="roundRect">
            <a:avLst>
              <a:gd name="adj" fmla="val 2232"/>
            </a:avLst>
          </a:prstGeom>
          <a:solidFill>
            <a:srgbClr val="FFFFFF"/>
          </a:solidFill>
          <a:ln w="7144">
            <a:solidFill>
              <a:srgbClr val="0B254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498884" y="1160132"/>
            <a:ext cx="1831657" cy="224028"/>
          </a:xfrm>
          <a:prstGeom prst="rect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521744" y="1172133"/>
            <a:ext cx="1785938" cy="172593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t">
            <a:noAutofit/>
          </a:bodyPr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600" b="1" kern="0" spc="99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02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2521744" y="1372158"/>
            <a:ext cx="1785938" cy="322612"/>
          </a:xfrm>
          <a:prstGeom prst="rect">
            <a:avLst/>
          </a:prstGeom>
          <a:noFill/>
          <a:ln/>
        </p:spPr>
        <p:txBody>
          <a:bodyPr wrap="square" lIns="85725" tIns="71438" rIns="85725" bIns="28575" rtlCol="0" anchor="t">
            <a:noAutofit/>
          </a:bodyPr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900" dirty="0">
                <a:solidFill>
                  <a:srgbClr val="0B254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Inter-Procedural Dataflow &amp; Retention Engine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21744" y="1722202"/>
            <a:ext cx="1785938" cy="904827"/>
          </a:xfrm>
          <a:prstGeom prst="rect">
            <a:avLst/>
          </a:prstGeom>
          <a:noFill/>
          <a:ln/>
        </p:spPr>
        <p:txBody>
          <a:bodyPr wrap="square" lIns="85725" tIns="28575" rIns="85725" bIns="0" rtlCol="0" anchor="t">
            <a:noAutofit/>
          </a:bodyPr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10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Backward taint: arg → source (DB, file, RNG)</a:t>
            </a:r>
            <a:endParaRPr lang="en-US" sz="1000" dirty="0"/>
          </a:p>
          <a:p>
            <a:pPr marL="0" indent="0" algn="l">
              <a:lnSpc>
                <a:spcPts val="959"/>
              </a:lnSpc>
              <a:buNone/>
            </a:pPr>
            <a:r>
              <a:rPr lang="en-US" sz="10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Forward taint: output → sink (S3, Redis, socket)</a:t>
            </a:r>
            <a:endParaRPr lang="en-US" sz="1000" dirty="0"/>
          </a:p>
          <a:p>
            <a:pPr marL="0" indent="0" algn="l">
              <a:lnSpc>
                <a:spcPts val="959"/>
              </a:lnSpc>
              <a:buNone/>
            </a:pPr>
            <a:r>
              <a:rPr lang="en-US" sz="10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Declarative retention extractor (S3 lifecycle, cache TTL, ORM)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29244" y="3043057"/>
            <a:ext cx="1785938" cy="357234"/>
          </a:xfrm>
          <a:prstGeom prst="rect">
            <a:avLst/>
          </a:prstGeom>
          <a:noFill/>
          <a:ln/>
        </p:spPr>
        <p:txBody>
          <a:bodyPr wrap="square" lIns="85725" tIns="42863" rIns="85725" bIns="64294" rtlCol="0" anchor="t"/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800" kern="0" spc="11" dirty="0">
                <a:solidFill>
                  <a:srgbClr val="0B2545">
                    <a:alpha val="7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OUTPUT → dataflowProperties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336256" y="1943658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38" b="1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38" dirty="0"/>
          </a:p>
        </p:txBody>
      </p:sp>
      <p:sp>
        <p:nvSpPr>
          <p:cNvPr id="22" name="Text 20"/>
          <p:cNvSpPr/>
          <p:nvPr/>
        </p:nvSpPr>
        <p:spPr>
          <a:xfrm>
            <a:off x="4518422" y="1168560"/>
            <a:ext cx="1793081" cy="2348171"/>
          </a:xfrm>
          <a:prstGeom prst="roundRect">
            <a:avLst>
              <a:gd name="adj" fmla="val 2232"/>
            </a:avLst>
          </a:prstGeom>
          <a:solidFill>
            <a:srgbClr val="FFFFFF"/>
          </a:solidFill>
          <a:ln w="7144">
            <a:solidFill>
              <a:srgbClr val="0B254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499134" y="1160132"/>
            <a:ext cx="1831657" cy="224028"/>
          </a:xfrm>
          <a:prstGeom prst="rect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521994" y="1172133"/>
            <a:ext cx="1785938" cy="172593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t">
            <a:noAutofit/>
          </a:bodyPr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600" b="1" kern="0" spc="99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03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4521994" y="1372158"/>
            <a:ext cx="1785938" cy="197596"/>
          </a:xfrm>
          <a:prstGeom prst="rect">
            <a:avLst/>
          </a:prstGeom>
          <a:noFill/>
          <a:ln/>
        </p:spPr>
        <p:txBody>
          <a:bodyPr wrap="square" lIns="85725" tIns="71438" rIns="85725" bIns="28575" rtlCol="0" anchor="t">
            <a:noAutofit/>
          </a:bodyPr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900" dirty="0">
                <a:solidFill>
                  <a:srgbClr val="0B254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HNDL Scoring &amp; Noise Suppression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09584" y="1763891"/>
            <a:ext cx="1785938" cy="1029843"/>
          </a:xfrm>
          <a:prstGeom prst="rect">
            <a:avLst/>
          </a:prstGeom>
          <a:noFill/>
          <a:ln/>
        </p:spPr>
        <p:txBody>
          <a:bodyPr wrap="square" lIns="85725" tIns="28575" rIns="85725" bIns="0" rtlCol="0" anchor="t">
            <a:normAutofit/>
          </a:bodyPr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10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Exposure(p) = wᵣ·R × wₑ·E × wₐ·A × wₖ·K</a:t>
            </a:r>
            <a:endParaRPr lang="en-US" sz="1000" dirty="0"/>
          </a:p>
          <a:p>
            <a:pPr marL="0" indent="0" algn="l">
              <a:lnSpc>
                <a:spcPts val="959"/>
              </a:lnSpc>
              <a:buNone/>
            </a:pPr>
            <a:r>
              <a:rPr lang="en-US" sz="10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Mosca breach: x + y &gt; z</a:t>
            </a:r>
            <a:endParaRPr lang="en-US" sz="1000" dirty="0"/>
          </a:p>
          <a:p>
            <a:pPr marL="0" indent="0" algn="l">
              <a:lnSpc>
                <a:spcPts val="959"/>
              </a:lnSpc>
              <a:buNone/>
            </a:pPr>
            <a:r>
              <a:rPr lang="en-US" sz="10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Reclassify non-security hashing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50568" y="3029621"/>
            <a:ext cx="1785938" cy="296419"/>
          </a:xfrm>
          <a:prstGeom prst="rect">
            <a:avLst/>
          </a:prstGeom>
          <a:noFill/>
          <a:ln/>
        </p:spPr>
        <p:txBody>
          <a:bodyPr wrap="square" lIns="85725" tIns="42863" rIns="85725" bIns="64294" rtlCol="0" anchor="t"/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800" kern="0" spc="11" dirty="0">
                <a:solidFill>
                  <a:srgbClr val="0B2545">
                    <a:alpha val="7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OUTPUT → ranked risk backlog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336506" y="1943658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38" b="1" dirty="0">
                <a:solidFill>
                  <a:srgbClr val="0B254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38" dirty="0"/>
          </a:p>
        </p:txBody>
      </p:sp>
      <p:sp>
        <p:nvSpPr>
          <p:cNvPr id="30" name="Text 28"/>
          <p:cNvSpPr/>
          <p:nvPr/>
        </p:nvSpPr>
        <p:spPr>
          <a:xfrm>
            <a:off x="6511264" y="1182239"/>
            <a:ext cx="1793081" cy="2348170"/>
          </a:xfrm>
          <a:prstGeom prst="roundRect">
            <a:avLst>
              <a:gd name="adj" fmla="val 2232"/>
            </a:avLst>
          </a:prstGeom>
          <a:solidFill>
            <a:srgbClr val="0B2545"/>
          </a:solidFill>
          <a:ln w="7144">
            <a:solidFill>
              <a:srgbClr val="0B254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499384" y="1160132"/>
            <a:ext cx="1831657" cy="224028"/>
          </a:xfrm>
          <a:prstGeom prst="rect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6522244" y="1368586"/>
            <a:ext cx="1785938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522244" y="1172133"/>
            <a:ext cx="1785938" cy="172593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t">
            <a:noAutofit/>
          </a:bodyPr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600" b="1" kern="0" spc="99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04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6522244" y="1372158"/>
            <a:ext cx="1785938" cy="322612"/>
          </a:xfrm>
          <a:prstGeom prst="rect">
            <a:avLst/>
          </a:prstGeom>
          <a:noFill/>
          <a:ln/>
        </p:spPr>
        <p:txBody>
          <a:bodyPr wrap="square" lIns="85725" tIns="71438" rIns="85725" bIns="28575" rtlCol="0" anchor="t">
            <a:noAutofit/>
          </a:bodyPr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Hybrid Patch Synthesis &amp; Verification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522244" y="1722202"/>
            <a:ext cx="1785938" cy="904827"/>
          </a:xfrm>
          <a:prstGeom prst="rect">
            <a:avLst/>
          </a:prstGeom>
          <a:noFill/>
          <a:ln/>
        </p:spPr>
        <p:txBody>
          <a:bodyPr wrap="square" lIns="85725" tIns="28575" rIns="85725" bIns="0" rtlCol="0" anchor="t">
            <a:normAutofit/>
          </a:bodyPr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• X25519 + ML-KEM-768 via liboqs</a:t>
            </a:r>
            <a:endParaRPr lang="en-US" sz="800" dirty="0"/>
          </a:p>
          <a:p>
            <a:pPr marL="0" indent="0" algn="l">
              <a:lnSpc>
                <a:spcPts val="959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• Gate 1: differential equivalence</a:t>
            </a:r>
            <a:endParaRPr lang="en-US" sz="800" dirty="0"/>
          </a:p>
          <a:p>
            <a:pPr marL="0" indent="0" algn="l">
              <a:lnSpc>
                <a:spcPts val="959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• Gate 2: property tests</a:t>
            </a:r>
            <a:endParaRPr lang="en-US" sz="800" dirty="0"/>
          </a:p>
          <a:p>
            <a:pPr marL="0" indent="0" algn="l">
              <a:lnSpc>
                <a:spcPts val="959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• Gate 3: downgrade resistance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545103" y="3018710"/>
            <a:ext cx="1785938" cy="423337"/>
          </a:xfrm>
          <a:prstGeom prst="rect">
            <a:avLst/>
          </a:prstGeom>
          <a:noFill/>
          <a:ln/>
        </p:spPr>
        <p:txBody>
          <a:bodyPr wrap="square" lIns="85725" tIns="42863" rIns="85725" bIns="64294" rtlCol="0" anchor="t"/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800" kern="0" spc="11" dirty="0">
                <a:solidFill>
                  <a:srgbClr val="FFFFFF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OUTPUT → verified hybrid PRs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21494" y="3706974"/>
            <a:ext cx="8115300" cy="0"/>
          </a:xfrm>
          <a:prstGeom prst="line">
            <a:avLst/>
          </a:prstGeom>
          <a:noFill/>
          <a:ln w="7144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47151" y="3897217"/>
            <a:ext cx="16831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1000" kern="0" spc="1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Design principle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350154" y="3897217"/>
            <a:ext cx="641229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900" dirty="0">
                <a:solidFill>
                  <a:srgbClr val="0B2545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stage is independently useful — discovery, binding and prioritisation remain valuable even if patch synthesis slips.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700760" y="4911328"/>
            <a:ext cx="340477" cy="159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600" kern="0" spc="23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10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800" kern="0" spc="101" dirty="0">
                <a:solidFill>
                  <a:srgbClr val="0B2545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05 — PART 2 OF 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46497"/>
            <a:ext cx="8521065" cy="24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463" kern="0" spc="-15" dirty="0">
                <a:solidFill>
                  <a:srgbClr val="0B254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System Architecture</a:t>
            </a:r>
            <a:endParaRPr lang="en-US" sz="1463" dirty="0"/>
          </a:p>
        </p:txBody>
      </p:sp>
      <p:sp>
        <p:nvSpPr>
          <p:cNvPr id="4" name="Text 2"/>
          <p:cNvSpPr/>
          <p:nvPr/>
        </p:nvSpPr>
        <p:spPr>
          <a:xfrm>
            <a:off x="514350" y="812155"/>
            <a:ext cx="400050" cy="14288"/>
          </a:xfrm>
          <a:prstGeom prst="rect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164833" y="1182849"/>
            <a:ext cx="2589721" cy="3151956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7144">
            <a:solidFill>
              <a:srgbClr val="0B254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296992" y="1300721"/>
            <a:ext cx="2325402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800" b="1" kern="0" spc="9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CBOM EXTENSION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296992" y="1447167"/>
            <a:ext cx="24351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00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CycloneDX 1.6 + dataflowProperties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296992" y="1661480"/>
            <a:ext cx="2325402" cy="0"/>
          </a:xfrm>
          <a:prstGeom prst="line">
            <a:avLst/>
          </a:prstGeom>
          <a:noFill/>
          <a:ln w="7144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296992" y="1722202"/>
            <a:ext cx="2325402" cy="132159"/>
          </a:xfrm>
          <a:prstGeom prst="roundRect">
            <a:avLst>
              <a:gd name="adj" fmla="val 7200020"/>
            </a:avLst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296992" y="1722202"/>
            <a:ext cx="2325402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16"/>
              </a:lnSpc>
              <a:buNone/>
            </a:pPr>
            <a:r>
              <a:rPr lang="en-US" sz="800" kern="0" spc="3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cryptoproperties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296992" y="1897224"/>
            <a:ext cx="2325402" cy="308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0B2545">
                    <a:alpha val="9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Standard algorithm attributes, key sizes, classical security level and NIST quantum security level.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296992" y="2232980"/>
            <a:ext cx="2325402" cy="132159"/>
          </a:xfrm>
          <a:prstGeom prst="roundRect">
            <a:avLst>
              <a:gd name="adj" fmla="val 7200020"/>
            </a:avLst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6296992" y="2232980"/>
            <a:ext cx="2325402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16"/>
              </a:lnSpc>
              <a:buNone/>
            </a:pPr>
            <a:r>
              <a:rPr lang="en-US" sz="800" kern="0" spc="3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dataflowproperties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296992" y="2408002"/>
            <a:ext cx="2325402" cy="4261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0B2545">
                    <a:alpha val="9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Plaintext source, ciphertext sink, retention evidence (years, type, observed flag), exposure surface and HNDL risk assessment (score, urgency tier, Mosca-breach flag).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296992" y="2861630"/>
            <a:ext cx="2325402" cy="132159"/>
          </a:xfrm>
          <a:prstGeom prst="roundRect">
            <a:avLst>
              <a:gd name="adj" fmla="val 7200020"/>
            </a:avLst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6296992" y="2861630"/>
            <a:ext cx="2325402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16"/>
              </a:lnSpc>
              <a:buNone/>
            </a:pPr>
            <a:r>
              <a:rPr lang="en-US" sz="800" kern="0" spc="3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auditproperties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296992" y="3036652"/>
            <a:ext cx="23254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0B2545">
                    <a:alpha val="9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Provenance flag (observed vs inferred), scan timestamp, tool version and insufficient-context bucket for unresolved dataflow paths.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296992" y="3956186"/>
            <a:ext cx="2325402" cy="0"/>
          </a:xfrm>
          <a:prstGeom prst="line">
            <a:avLst/>
          </a:prstGeom>
          <a:noFill/>
          <a:ln w="7144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6296992" y="3952615"/>
            <a:ext cx="2325402" cy="264319"/>
          </a:xfrm>
          <a:prstGeom prst="rect">
            <a:avLst/>
          </a:prstGeom>
          <a:noFill/>
          <a:ln/>
        </p:spPr>
        <p:txBody>
          <a:bodyPr wrap="square" lIns="0" tIns="57150" rIns="0" bIns="0" rtlCol="0" anchor="t"/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800" dirty="0">
                <a:solidFill>
                  <a:srgbClr val="0B2545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Schema-conformant JSON / XML. Compatible with OWASP CycloneDX 1.6 validators.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8700760" y="4911328"/>
            <a:ext cx="340477" cy="159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600" kern="0" spc="23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10</a:t>
            </a:r>
            <a:endParaRPr lang="en-US" sz="600" dirty="0"/>
          </a:p>
        </p:txBody>
      </p:sp>
      <p:pic>
        <p:nvPicPr>
          <p:cNvPr id="64" name="figure" descr="figure" title="figure">
            <a:extLst>
              <a:ext uri="{FF2B5EF4-FFF2-40B4-BE49-F238E27FC236}">
                <a16:creationId xmlns:a16="http://schemas.microsoft.com/office/drawing/2014/main" id="{461C98A6-1828-E048-911C-93A9B54394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97001" y="826443"/>
            <a:ext cx="3651249" cy="40975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800" kern="0" spc="101" dirty="0">
                <a:solidFill>
                  <a:srgbClr val="0B2545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46497"/>
            <a:ext cx="8629650" cy="240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463" kern="0" spc="-15" dirty="0">
                <a:solidFill>
                  <a:srgbClr val="0B254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Results — Initial Implementation</a:t>
            </a:r>
            <a:endParaRPr lang="en-US" sz="1463" dirty="0"/>
          </a:p>
        </p:txBody>
      </p:sp>
      <p:sp>
        <p:nvSpPr>
          <p:cNvPr id="4" name="Text 2"/>
          <p:cNvSpPr/>
          <p:nvPr/>
        </p:nvSpPr>
        <p:spPr>
          <a:xfrm>
            <a:off x="514350" y="812155"/>
            <a:ext cx="400050" cy="14288"/>
          </a:xfrm>
          <a:prstGeom prst="rect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955030"/>
            <a:ext cx="8115300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900" kern="0" spc="14" dirty="0">
                <a:solidFill>
                  <a:srgbClr val="0B2545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TRL 3 proof-of-concept (≈ 20% implementation). Working Stage 1–3 pipeline, CLI, REST API, web dashboard and CycloneDX 1.6 CBOM generator.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7922" y="1239999"/>
            <a:ext cx="2631244" cy="755675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 w="7144">
            <a:solidFill>
              <a:srgbClr val="0B254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4369" y="1427076"/>
            <a:ext cx="1015127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688" b="1" kern="0" spc="-17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 / 8</a:t>
            </a:r>
            <a:endParaRPr lang="en-US" sz="1688" dirty="0"/>
          </a:p>
        </p:txBody>
      </p:sp>
      <p:sp>
        <p:nvSpPr>
          <p:cNvPr id="8" name="Text 6"/>
          <p:cNvSpPr/>
          <p:nvPr/>
        </p:nvSpPr>
        <p:spPr>
          <a:xfrm>
            <a:off x="664369" y="1698538"/>
            <a:ext cx="1641661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700" dirty="0">
                <a:solidFill>
                  <a:srgbClr val="0B2545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Unit tests passing across all pipeline stages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256322" y="1239999"/>
            <a:ext cx="2631244" cy="755675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 w="7144">
            <a:solidFill>
              <a:srgbClr val="0B254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02769" y="1372158"/>
            <a:ext cx="1015127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688" b="1" kern="0" spc="-17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33.33</a:t>
            </a:r>
            <a:endParaRPr lang="en-US" sz="1688" dirty="0"/>
          </a:p>
        </p:txBody>
      </p:sp>
      <p:sp>
        <p:nvSpPr>
          <p:cNvPr id="11" name="Text 9"/>
          <p:cNvSpPr/>
          <p:nvPr/>
        </p:nvSpPr>
        <p:spPr>
          <a:xfrm>
            <a:off x="3402769" y="1643621"/>
            <a:ext cx="2000250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900" dirty="0">
                <a:solidFill>
                  <a:srgbClr val="0B2545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HNDL score — archive.py (CRITICAL_IMMEDIATE, Mosca breach)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94722" y="1239999"/>
            <a:ext cx="2631356" cy="755675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 w="7144">
            <a:solidFill>
              <a:srgbClr val="0B254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141169" y="1372158"/>
            <a:ext cx="1015127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688" b="1" kern="0" spc="-17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33.3%</a:t>
            </a:r>
            <a:endParaRPr lang="en-US" sz="1688" dirty="0"/>
          </a:p>
        </p:txBody>
      </p:sp>
      <p:sp>
        <p:nvSpPr>
          <p:cNvPr id="14" name="Text 12"/>
          <p:cNvSpPr/>
          <p:nvPr/>
        </p:nvSpPr>
        <p:spPr>
          <a:xfrm>
            <a:off x="6141169" y="1643621"/>
            <a:ext cx="2000250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900" dirty="0">
                <a:solidFill>
                  <a:srgbClr val="0B2545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Noise filtered — non-security SHA-256 correctly suppressed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14350" y="2156408"/>
            <a:ext cx="3168650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800" b="1" kern="0" spc="74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BENCHMARK PROJECT — EXAMPLES/SAMPLE_PROJECT/</a:t>
            </a:r>
            <a:endParaRPr lang="en-US" sz="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4350" y="2426977"/>
          <a:ext cx="8115300" cy="1016795"/>
        </p:xfrm>
        <a:graphic>
          <a:graphicData uri="http://schemas.openxmlformats.org/drawingml/2006/table">
            <a:tbl>
              <a:tblPr/>
              <a:tblGrid>
                <a:gridCol w="568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06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52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14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537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Rank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57150" marT="57150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Call site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57150" marT="57150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Algorithm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57150" marT="57150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Retention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57150" marT="57150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Score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57150" marT="57150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Urgency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57150" marT="57150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archive.py:11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RSA-OAEP 2048-bit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10.0 y (S3 lifecycle)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33.33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CRITICAL_IMMEDIATE (Mosca breach: 10 + 2 &gt; 7)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session.py:11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RSA-OAEP 2048-bit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≈ 0.00003 y (Redis TTL)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0.00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LOW (no breach)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3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etags.py:9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SHA-256 256-bit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≈ 0.00011 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0.00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SUPPRESSED (non-security hash)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57150" marT="57150" marB="42863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517922" y="3505200"/>
            <a:ext cx="8115300" cy="204493"/>
          </a:xfrm>
          <a:prstGeom prst="rect">
            <a:avLst/>
          </a:prstGeom>
          <a:noFill/>
          <a:ln/>
        </p:spPr>
        <p:txBody>
          <a:bodyPr wrap="square" lIns="0" tIns="0" rIns="0" bIns="28575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0B2545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Two identical RSA-2048 call sites separated by 33.33 score points — the behaviour claimed as N1, N2 and N3.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514350" y="3658046"/>
            <a:ext cx="8115300" cy="0"/>
          </a:xfrm>
          <a:prstGeom prst="line">
            <a:avLst/>
          </a:prstGeom>
          <a:noFill/>
          <a:ln w="7144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514350" y="3790206"/>
            <a:ext cx="4364028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800" b="1" kern="0" spc="68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IMPLEMENTED MODULES (1,335 LOC)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14350" y="3956059"/>
            <a:ext cx="614028" cy="171146"/>
          </a:xfrm>
          <a:prstGeom prst="roundRect">
            <a:avLst>
              <a:gd name="adj" fmla="val 5559858"/>
            </a:avLst>
          </a:prstGeom>
          <a:solidFill>
            <a:srgbClr val="FFFFFF"/>
          </a:solidFill>
          <a:ln w="7144">
            <a:solidFill>
              <a:srgbClr val="0B254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14350" y="3965228"/>
            <a:ext cx="614028" cy="1528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641"/>
              </a:lnSpc>
              <a:buNone/>
            </a:pPr>
            <a:r>
              <a:rPr lang="en-US" sz="800" kern="0" spc="2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discovery.py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171240" y="3956059"/>
            <a:ext cx="572170" cy="171146"/>
          </a:xfrm>
          <a:prstGeom prst="roundRect">
            <a:avLst>
              <a:gd name="adj" fmla="val 5559858"/>
            </a:avLst>
          </a:prstGeom>
          <a:solidFill>
            <a:srgbClr val="FFFFFF"/>
          </a:solidFill>
          <a:ln w="7144">
            <a:solidFill>
              <a:srgbClr val="0B254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1171240" y="3965228"/>
            <a:ext cx="572170" cy="1528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641"/>
              </a:lnSpc>
              <a:buNone/>
            </a:pPr>
            <a:r>
              <a:rPr lang="en-US" sz="800" kern="0" spc="2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dataflow.py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786272" y="3956059"/>
            <a:ext cx="497718" cy="171146"/>
          </a:xfrm>
          <a:prstGeom prst="roundRect">
            <a:avLst>
              <a:gd name="adj" fmla="val 5559858"/>
            </a:avLst>
          </a:prstGeom>
          <a:solidFill>
            <a:srgbClr val="FFFFFF"/>
          </a:solidFill>
          <a:ln w="7144">
            <a:solidFill>
              <a:srgbClr val="0B254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1786272" y="3965228"/>
            <a:ext cx="497718" cy="1528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641"/>
              </a:lnSpc>
              <a:buNone/>
            </a:pPr>
            <a:r>
              <a:rPr lang="en-US" sz="800" kern="0" spc="2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scorer.py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2326853" y="3956059"/>
            <a:ext cx="469590" cy="171146"/>
          </a:xfrm>
          <a:prstGeom prst="roundRect">
            <a:avLst>
              <a:gd name="adj" fmla="val 5559858"/>
            </a:avLst>
          </a:prstGeom>
          <a:solidFill>
            <a:srgbClr val="FFFFFF"/>
          </a:solidFill>
          <a:ln w="7144">
            <a:solidFill>
              <a:srgbClr val="0B254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2326853" y="3965228"/>
            <a:ext cx="469590" cy="1528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641"/>
              </a:lnSpc>
              <a:buNone/>
            </a:pPr>
            <a:r>
              <a:rPr lang="en-US" sz="800" kern="0" spc="2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cbom.py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2839306" y="3956059"/>
            <a:ext cx="361317" cy="171146"/>
          </a:xfrm>
          <a:prstGeom prst="roundRect">
            <a:avLst>
              <a:gd name="adj" fmla="val 5559858"/>
            </a:avLst>
          </a:prstGeom>
          <a:solidFill>
            <a:srgbClr val="FFFFFF"/>
          </a:solidFill>
          <a:ln w="7144">
            <a:solidFill>
              <a:srgbClr val="0B254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2839306" y="3965228"/>
            <a:ext cx="361317" cy="1528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641"/>
              </a:lnSpc>
              <a:buNone/>
            </a:pPr>
            <a:r>
              <a:rPr lang="en-US" sz="800" kern="0" spc="2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cli.py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3243486" y="3956059"/>
            <a:ext cx="494035" cy="171146"/>
          </a:xfrm>
          <a:prstGeom prst="roundRect">
            <a:avLst>
              <a:gd name="adj" fmla="val 5559858"/>
            </a:avLst>
          </a:prstGeom>
          <a:solidFill>
            <a:srgbClr val="FFFFFF"/>
          </a:solidFill>
          <a:ln w="7144">
            <a:solidFill>
              <a:srgbClr val="0B254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3243486" y="3965228"/>
            <a:ext cx="494035" cy="1528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641"/>
              </a:lnSpc>
              <a:buNone/>
            </a:pPr>
            <a:r>
              <a:rPr lang="en-US" sz="800" kern="0" spc="2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server.py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3780383" y="3956059"/>
            <a:ext cx="333189" cy="171146"/>
          </a:xfrm>
          <a:prstGeom prst="roundRect">
            <a:avLst>
              <a:gd name="adj" fmla="val 5559858"/>
            </a:avLst>
          </a:prstGeom>
          <a:solidFill>
            <a:srgbClr val="FFFFFF"/>
          </a:solidFill>
          <a:ln w="7144">
            <a:solidFill>
              <a:srgbClr val="0B254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3780383" y="3965228"/>
            <a:ext cx="333189" cy="1528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641"/>
              </a:lnSpc>
              <a:buNone/>
            </a:pPr>
            <a:r>
              <a:rPr lang="en-US" sz="800" kern="0" spc="2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web/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99745" y="4151731"/>
            <a:ext cx="394322" cy="171146"/>
          </a:xfrm>
          <a:prstGeom prst="roundRect">
            <a:avLst>
              <a:gd name="adj" fmla="val 5559858"/>
            </a:avLst>
          </a:prstGeom>
          <a:solidFill>
            <a:srgbClr val="FFFFFF"/>
          </a:solidFill>
          <a:ln w="7144">
            <a:solidFill>
              <a:srgbClr val="0B254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514350" y="4160900"/>
            <a:ext cx="365113" cy="1528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641"/>
              </a:lnSpc>
              <a:buNone/>
            </a:pPr>
            <a:r>
              <a:rPr lang="en-US" sz="800" kern="0" spc="2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tests/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4657725" y="3790206"/>
            <a:ext cx="4081653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800" b="1" kern="0" spc="68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NEXT MILESTONES (REVIEW III – IV)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594355" y="3930367"/>
            <a:ext cx="689899" cy="196838"/>
          </a:xfrm>
          <a:prstGeom prst="roundRect">
            <a:avLst>
              <a:gd name="adj" fmla="val 5559858"/>
            </a:avLst>
          </a:prstGeom>
          <a:solidFill>
            <a:srgbClr val="0B2545"/>
          </a:solidFill>
          <a:ln w="7144">
            <a:solidFill>
              <a:srgbClr val="0B254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4657725" y="3965228"/>
            <a:ext cx="626529" cy="1528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641"/>
              </a:lnSpc>
              <a:buNone/>
            </a:pPr>
            <a:r>
              <a:rPr lang="en-US" sz="800" kern="0" spc="2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Java support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327117" y="3956058"/>
            <a:ext cx="881582" cy="171147"/>
          </a:xfrm>
          <a:prstGeom prst="roundRect">
            <a:avLst>
              <a:gd name="adj" fmla="val 5559858"/>
            </a:avLst>
          </a:prstGeom>
          <a:solidFill>
            <a:srgbClr val="0B2545"/>
          </a:solidFill>
          <a:ln w="7144">
            <a:solidFill>
              <a:srgbClr val="0B254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5382442" y="3988934"/>
            <a:ext cx="838721" cy="1528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641"/>
              </a:lnSpc>
              <a:buNone/>
            </a:pPr>
            <a:r>
              <a:rPr lang="en-US" sz="800" kern="0" spc="2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Cross-module taint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6265113" y="3956058"/>
            <a:ext cx="1222669" cy="171147"/>
          </a:xfrm>
          <a:prstGeom prst="roundRect">
            <a:avLst>
              <a:gd name="adj" fmla="val 5559858"/>
            </a:avLst>
          </a:prstGeom>
          <a:solidFill>
            <a:srgbClr val="0B2545"/>
          </a:solidFill>
          <a:ln w="7144">
            <a:solidFill>
              <a:srgbClr val="0B254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6282339" y="3980584"/>
            <a:ext cx="1149029" cy="171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641"/>
              </a:lnSpc>
              <a:buNone/>
            </a:pPr>
            <a:r>
              <a:rPr lang="en-US" sz="800" kern="0" spc="2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Patch synthesis harness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7559570" y="3930367"/>
            <a:ext cx="1222670" cy="196441"/>
          </a:xfrm>
          <a:prstGeom prst="roundRect">
            <a:avLst>
              <a:gd name="adj" fmla="val 5559858"/>
            </a:avLst>
          </a:prstGeom>
          <a:solidFill>
            <a:srgbClr val="0B2545"/>
          </a:solidFill>
          <a:ln w="7144">
            <a:solidFill>
              <a:srgbClr val="0B254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7647469" y="3965727"/>
            <a:ext cx="926343" cy="1528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641"/>
              </a:lnSpc>
              <a:buNone/>
            </a:pPr>
            <a:r>
              <a:rPr lang="en-US" sz="800" kern="0" spc="2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nDCG / Kendall-τ eval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8700760" y="4911328"/>
            <a:ext cx="340477" cy="159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600" kern="0" spc="23" dirty="0">
                <a:solidFill>
                  <a:srgbClr val="0B25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10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44438" y="1113979"/>
            <a:ext cx="2055012" cy="15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97"/>
              </a:lnSpc>
              <a:buNone/>
            </a:pPr>
            <a:r>
              <a:rPr lang="en-US" sz="800" kern="0" spc="136" dirty="0">
                <a:solidFill>
                  <a:srgbClr val="0B2545">
                    <a:alpha val="6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BACSE291 | REVIEW REPORT II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1356420"/>
            <a:ext cx="8595248" cy="555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4050" kern="0" spc="-61" dirty="0">
                <a:solidFill>
                  <a:srgbClr val="0B254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Thank You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4286250" y="2099370"/>
            <a:ext cx="571500" cy="14288"/>
          </a:xfrm>
          <a:prstGeom prst="rect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840185" y="2313682"/>
            <a:ext cx="5463629" cy="190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87"/>
              </a:lnSpc>
              <a:buNone/>
            </a:pPr>
            <a:r>
              <a:rPr lang="en-US" sz="1200" i="1" dirty="0">
                <a:solidFill>
                  <a:srgbClr val="0B2545">
                    <a:alpha val="82000"/>
                  </a:srgbClr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Crypto-Agility Navigator — Dataflow-Aware Cryptographic Inventory and Prioritised Post-Quantum Migration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968133" y="2746883"/>
            <a:ext cx="1207622" cy="159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60"/>
              </a:lnSpc>
              <a:buNone/>
            </a:pPr>
            <a:r>
              <a:rPr lang="en-US" sz="1050" kern="0" spc="29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Questions &amp; Discussion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057525" y="3167249"/>
            <a:ext cx="205740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900" kern="0" spc="101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TEAM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057525" y="3327983"/>
            <a:ext cx="1507046" cy="121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Avi Dhandhania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057525" y="3476551"/>
            <a:ext cx="164592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900" kern="0" spc="12" dirty="0"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25BCE1207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57525" y="3590404"/>
            <a:ext cx="1507046" cy="121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Anmol Saluja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057525" y="3738972"/>
            <a:ext cx="164592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900" kern="0" spc="12" dirty="0"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25BCE1332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57525" y="3852825"/>
            <a:ext cx="1507046" cy="121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Avika Tyagi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057525" y="4001393"/>
            <a:ext cx="1645920" cy="158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900" kern="0" spc="12" dirty="0"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25BCE1294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00600" y="3167249"/>
            <a:ext cx="1669789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900" kern="0" spc="101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PROJECT GUIDE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00600" y="3327983"/>
            <a:ext cx="1507046" cy="121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Dr. E Iniya Nehru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00600" y="3476551"/>
            <a:ext cx="150704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900" kern="0" spc="12" dirty="0"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Faculty ID: 54128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3590404"/>
            <a:ext cx="1507046" cy="158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900" kern="0" spc="12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SCOPE, VIT Chennai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4350" y="4772471"/>
            <a:ext cx="7838591" cy="15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800" kern="0" spc="25" dirty="0">
                <a:solidFill>
                  <a:srgbClr val="0B2545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BACSE291 | Review Report II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367229" y="4772471"/>
            <a:ext cx="365011" cy="158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619" kern="0" spc="25" dirty="0">
                <a:solidFill>
                  <a:srgbClr val="0B2545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10</a:t>
            </a:r>
            <a:endParaRPr lang="en-US" sz="619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1404</TotalTime>
  <Words>2452</Words>
  <Application>Microsoft Office PowerPoint</Application>
  <PresentationFormat>On-screen Show (16:9)</PresentationFormat>
  <Paragraphs>375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Carlito</vt:lpstr>
      <vt:lpstr>Liberation Sans Narrow</vt:lpstr>
      <vt:lpstr>Segoe UI Symbol</vt:lpstr>
      <vt:lpstr>Tinos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HP</cp:lastModifiedBy>
  <cp:revision>7</cp:revision>
  <dcterms:created xsi:type="dcterms:W3CDTF">2026-09-22T16:20:04Z</dcterms:created>
  <dcterms:modified xsi:type="dcterms:W3CDTF">2026-09-23T15:47:04Z</dcterms:modified>
</cp:coreProperties>
</file>