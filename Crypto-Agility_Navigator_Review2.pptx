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REPORT II · INNOVATIVE DESIGN PROJECT (BACSE291)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146304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Dataflow-Aware Cryptographic Inventory &amp; Prioritised Post-Quantum Migration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" y="2926080"/>
            <a:ext cx="7680960" cy="13716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3063240"/>
            <a:ext cx="7132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MILESTONE: </a:t>
            </a:r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II — Initial Design and Development (20 Marks)
</a:t>
            </a:r>
            <a:pPr indent="0" marL="0">
              <a:lnSpc>
                <a:spcPts val="16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 FOCUS: </a:t>
            </a:r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~20% Completion · Architecture · Tool Justification · TRL 3 Working Prototype
</a:t>
            </a:r>
            <a:pPr indent="0" marL="0">
              <a:lnSpc>
                <a:spcPts val="16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&amp; ACADEMIC YEAR: </a:t>
            </a:r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of 3 Students · Academic Year 2026–2027 · Software-Only Track (No Specialized Hardware)
</a:t>
            </a:r>
            <a:pPr indent="0" marL="0">
              <a:lnSpc>
                <a:spcPts val="16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STANDARDS: </a:t>
            </a:r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CycloneDX 1.6 CBOM · NIST FIPS 203/204/205 · Open Quantum Safe (liboqs)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36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 OVERVIEW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II Scope, Progress &amp; 20% Proof of Concept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92608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754880" y="1554480"/>
            <a:ext cx="3931920" cy="292608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RUBRICS FOR REVIEW II (20 MARKS)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Requirement Analysis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HNDL threat model &amp; Mosca formalization.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System Design &amp; Architecture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4-stage pipeline &amp; CycloneDX 1.6.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Tool Selection &amp; Justification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comparative trade-off matrices.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Initial Prototype (~20%)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AST, Taint &amp; Scoring PoC.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Innovation &amp; Feasibility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N1–N5 defense, math derivation &amp; CRI patent.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Project Planning &amp; Teamwork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&amp; 3-way work split.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Individual Contribution &amp; Defense (2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ownership &amp; Q&amp;A guide.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DELIVER IN REVIEW II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• Full Review 2 Master Report:</a:t>
            </a:r>
          </a:p>
          <a:p>
            <a:r>
              <a:t>  Integrating Review 1 literature review with detailed design.</a:t>
            </a:r>
          </a:p>
          <a:p>
            <a:r>
              <a:t>• Working Python Prototype (TRL 3):</a:t>
            </a:r>
          </a:p>
          <a:p>
            <a:r>
              <a:t>  AST parser, inter-procedural dataflow, retention extractor.</a:t>
            </a:r>
          </a:p>
          <a:p>
            <a:r>
              <a:t>• Demonstration on Real Benchmark:</a:t>
            </a:r>
          </a:p>
          <a:p>
            <a:r>
              <a:t>  Orders identical RSA call sites by S3 retention vs Redis TTL.</a:t>
            </a:r>
          </a:p>
          <a:p>
            <a:r>
              <a:t>• Standard CycloneDX 1.6 CBOM Export:</a:t>
            </a:r>
          </a:p>
          <a:p>
            <a:r>
              <a:t>  Enriched with custom dataflow properties.</a:t>
            </a:r>
          </a:p>
          <a:p>
            <a:r>
              <a:t>• Automated Test Harness:</a:t>
            </a:r>
          </a:p>
          <a:p>
            <a:r>
              <a:t>  8 automated unit tests passing with 100% success rate.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IDENTIFICATION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 THE TECHNICAL PROBLEM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Cryptography Cannot Be Located or Sequenced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IDENTIFICATION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36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57200" y="1554480"/>
            <a:ext cx="39319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mid-sized banking application invokes RSA, ECDSA, AES and SHA-family primitives from first-party code, third-party libraries, container base images, TLS terminators, database drivers and IaC — with no single machine-readable artefact recording where those invocations are or what data they protect.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CORE PARADOX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MIGRATE TO — SETTLED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NIST has standardised ML-KEM (FIPS 203), ML-DSA (FIPS 204), and SLH-DSA (FIPS 205).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CRYPTOGRAPHY LIVES — UNKNOWN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Scattered across thousands of undocumented call sites in complex repos.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MIGRATE FIRST — UNANSWERED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tool connects cryptographic call sites to data lifetime and exposure surface.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 MODEL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 THREAT MODEL — HNDL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Harvest-Now-Decrypt-Later &amp; Mosca's Inequality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 MODEL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HARVEST-NOW-DECRYPT-LATER (HNDL)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Passive, Patient Adversary: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Cannot break RSA/ECC today; records ciphertext in transit and database exfiltrations.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Negligible Storage Cost: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Stores encrypted blobs indefinitely, waiting for a Cryptographically Relevant Quantum Computer (CRQC).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 Retroactive Remedy: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Forward secrecy cannot protect captured traffic retroactively.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MOSCA'S INEQUALITY FORMALIZATION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 + y &gt; z  ⟹  ALREADY BREACHED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x = Data Confidentiality Lifetime (years)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e.g., 10–30 years for healthcare, financial records.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y = Migration Time (years)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Typically 2–5 years for enterprise migration.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z = Time to CRQC operationalization (years)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National timeline: 2027–2029 deadline (z ≈ 3–7 yr).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Insight: HNDL exposure is a property of THE DATA, not the algorithm!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SOTA GAP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 THE STATE-OF-THE-ART GAP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Discovery Tools Produce Semantically Flat Inventories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SOTA GAP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CONSEQUENCE 1: NOISE (~0.30 PRECISION)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Context-Blind Rules: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Crypsy [P1] reports rules fire indiscriminately across all matching calls.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 Out of 3 Findings Are Noise: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Non-security hashing (ETags, cache keys, checksums) matched by the same heuristic rules as password hashing.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Unmanageable Triage Burden: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Security teams must manually inspect hundreds of benign calls.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CONSEQUENCE 2: FLAT ALGORITHM SCORING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Algorithm-Intrinsic Scores: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Shaw [P2] calculates risk from key size, Shor qubit count, and Grover factors.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Zero Prioritization Signal: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Every RSA-2048 call site receives an identical score regardless of protected data.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Operational Question Unanswered: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When all findings are ranked equally, engineers cannot build sprint backlogs.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 WORKED EXAMPLE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Identical Call Sites in One Repository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A: payments/archive.py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 = build_settlement_record(txn)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blob = rsa_oaep_encrypt(record, pubkey)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s3.put_object(Bucket="settlements", Body=blob)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Source: Persistent database settlement record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Sink: Public cloud S3 bucket (10-yr lifecycle rule)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Mosca: 10y + 2y &gt; 7y  ⟹  CRITICAL BREACH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Required Action: Immediate PQC remediation.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B: web/session.py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 = make_csrf_token()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sealed = rsa_oaep_encrypt(tok, pubkey)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redis.setex(k, 900, sealed)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Source: In-memory random CSRF token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Sink: Local cache with 900-second TTL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Mosca: 0.00003y + 2y &lt; 7y  ⟹  NO BREACH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Required Action: Defer; zero HNDL reduction.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URGENCY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 REGULATORY JUSTIFICATION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Mandated Deadlines with Legal Compliance Obligations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URGENCY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943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 / CII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943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2027–2029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94360" y="2560320"/>
            <a:ext cx="1691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Quantum-Safe Task Force mandate for Critical Information Infrastructure.</a:t>
            </a:r>
            <a:endParaRPr lang="en-US" sz="820" dirty="0"/>
          </a:p>
        </p:txBody>
      </p:sp>
      <p:sp>
        <p:nvSpPr>
          <p:cNvPr id="14" name="Shape 12"/>
          <p:cNvSpPr/>
          <p:nvPr/>
        </p:nvSpPr>
        <p:spPr>
          <a:xfrm>
            <a:off x="25146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6517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RBI / Q-SAFE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6517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651760" y="2560320"/>
            <a:ext cx="1691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IIT Madras chaired committee mandating crypto inventory &amp; agility scoring.</a:t>
            </a:r>
            <a:endParaRPr lang="en-US" sz="820" dirty="0"/>
          </a:p>
        </p:txBody>
      </p:sp>
      <p:sp>
        <p:nvSpPr>
          <p:cNvPr id="18" name="Shape 16"/>
          <p:cNvSpPr/>
          <p:nvPr/>
        </p:nvSpPr>
        <p:spPr>
          <a:xfrm>
            <a:off x="45720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7091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SEBI CSCRF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7091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MANDATED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709160" y="2560320"/>
            <a:ext cx="1691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Cyber resilience framework directing intermediaries to mitigate HNDL threats.</a:t>
            </a:r>
            <a:endParaRPr lang="en-US" sz="820" dirty="0"/>
          </a:p>
        </p:txBody>
      </p:sp>
      <p:sp>
        <p:nvSpPr>
          <p:cNvPr id="22" name="Shape 20"/>
          <p:cNvSpPr/>
          <p:nvPr/>
        </p:nvSpPr>
        <p:spPr>
          <a:xfrm>
            <a:off x="66294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7665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EO 14412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7665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JUNE 2026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766560" y="2560320"/>
            <a:ext cx="1691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Directs CISA &amp; NIST to publish minimum elements for Cryptography BOM within 270 days.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 REVIEW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 LITERATURE SURVEY &amp; GAP MATRIX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Surveyed Papers Across Scanners, Scoring &amp; Migration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 REVIEW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CONSOLIDATED RESEARCH GAP MATRIX (16 PAPERS SURVEYED: P1–P16)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Discovery Scanners (P1 Crypsy, CBOMkit, IBM):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 inventories, 0.3 actionable precision, context-blind.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Threat Scoring (P2 Shaw, P5 CARS):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Algorithm-intrinsic (all RSA-2048 score identical); no dataflow binding.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LLM Migration (P3 Pallarés):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Synthetic snippets; 92.5% correctness collapses on real multi-file repos.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 Frameworks (P4 AQuA, P14 SLR):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Identifies missing pillars (detection, refactoring, verification); no tool.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Cryptographic Dataflow (P13 CryptoGuard):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CCS 2019 proved scalable taint analysis is tractable at scale in software.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UNIQUE CONTRIBUTION OF CRYPTO-AGILITY NAVIGATOR: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framework to combine multi-language discovery + inter-procedural dataflow + declarative retention extraction + HNDL ranking + verified hybrid PQC patches.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 REQUIREMENT ANALYSIS: STAKEHOLDERS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Mapping Operational Value to Regulated Roles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269748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18288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CISO / COMPLIANCE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219456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PAIN POINT: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40080" y="242316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Regulatory transition deadlines (RBI 2027–2029) without an auditable roadmap.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640080" y="320040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NAVIGATOR SOLUTION: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40080" y="342900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Enriched CycloneDX 1.6 CBOM with legally defensible Mosca risk scoring.</a:t>
            </a:r>
            <a:endParaRPr lang="en-US" sz="820" dirty="0"/>
          </a:p>
        </p:txBody>
      </p:sp>
      <p:sp>
        <p:nvSpPr>
          <p:cNvPr id="16" name="Shape 14"/>
          <p:cNvSpPr/>
          <p:nvPr/>
        </p:nvSpPr>
        <p:spPr>
          <a:xfrm>
            <a:off x="3246120" y="1645920"/>
            <a:ext cx="269748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3429000" y="18288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DEVSECOPS ENGINEERS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429000" y="219456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PAIN POINT: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429000" y="242316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Overwhelmed by false alerts (67% noise in existing tools); zero triage signal.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3429000" y="320040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NAVIGATOR SOLUTION: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429000" y="342900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Dataflow-conditioned suppression filters non-security hashes (ETags, cache keys).</a:t>
            </a:r>
            <a:endParaRPr lang="en-US" sz="820" dirty="0"/>
          </a:p>
        </p:txBody>
      </p:sp>
      <p:sp>
        <p:nvSpPr>
          <p:cNvPr id="22" name="Shape 20"/>
          <p:cNvSpPr/>
          <p:nvPr/>
        </p:nvSpPr>
        <p:spPr>
          <a:xfrm>
            <a:off x="6035040" y="1645920"/>
            <a:ext cx="269748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217920" y="18288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DEVELOPERS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217920" y="219456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PAIN POINT: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217920" y="242316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Lacking PQC expertise; fear of breaking production handshakes during upgrades.</a:t>
            </a:r>
            <a:endParaRPr lang="en-US" sz="820" dirty="0"/>
          </a:p>
        </p:txBody>
      </p:sp>
      <p:sp>
        <p:nvSpPr>
          <p:cNvPr id="26" name="Text 24"/>
          <p:cNvSpPr/>
          <p:nvPr/>
        </p:nvSpPr>
        <p:spPr>
          <a:xfrm>
            <a:off x="6217920" y="320040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NAVIGATOR SOLUTION: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217920" y="342900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Template-constrained hybrid patches (liboqs) with differential test gates.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 FUNCTIONAL REQUIREMENTS (PART 1)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Discovery, Standards Conformance &amp; Taint Tracing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943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Multi-Language AST Discovery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 Python/Java source trees to discover cryptographic primitives, extracting call sites, algorithms, and key sizes.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943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F1 ≥ 0.85 on benchmark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5146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26517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6517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CycloneDX 1.6 CBOM Output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6517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Serialize all discovered assets into standards-compliant CycloneDX 1.6 CBOM format with custom dataflow fields.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6517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100% schema validation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47091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091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Backward Taint Binding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7091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 plaintext parameters backward across call graphs to data sources (DB reads, credentials, ephemeral tokens).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7091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≥ 70% binding coverage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6294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7665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7665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Taint Binding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7665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 ciphertext outputs forward to sinks (S3, DB, Redis, sockets) and classify spatial exposure surface.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7665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≥ 70% sink classification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 FUNCTIONAL REQUIREMENTS (PART 2)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 Inference, Scoring, Suppression &amp; Patches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943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FR-5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Declarative Retention Extractor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 data confidentiality lifetimes from adjacent configs: S3 lifecycle rules, Redis TTLs, ORM column types.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943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≥ 50% automated recovery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5146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26517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FR-6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6517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HNDL Exposure Scoring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6517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Operationalize Mosca's inequality per data path, ranking findings by risk reduction per unit of remediation effort.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6517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nDCG@20 ≥ 0.80, τ ≥ 0.60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47091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FR-7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091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Noise Suppression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7091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Reclassify non-security hashes (cache keys, ETags) using dataflow context to filter out false alerts.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7091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Precision ≥ 0.70 (vs ~0.30)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629400" y="1645920"/>
            <a:ext cx="1965960" cy="2651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7665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FR-8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7665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Hybrid Patching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7665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Synthesize template-constrained hybrid PQC patches (liboqs) gated by differential equivalence and property tests.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7665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≥ 80% verification pass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 NON-FUNCTIONAL REQUIREMENTS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Performance, Scalability, Soundness &amp; Compliance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2697480" cy="12344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94360" y="17830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NFR-1: HIGH THROUGHPUT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4360" y="20574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large multi-file repositories (~50,000 files) in under 10 minutes on commodity 8-core laptops.</a:t>
            </a:r>
            <a:endParaRPr lang="en-US" sz="780" dirty="0"/>
          </a:p>
        </p:txBody>
      </p:sp>
      <p:sp>
        <p:nvSpPr>
          <p:cNvPr id="13" name="Shape 11"/>
          <p:cNvSpPr/>
          <p:nvPr/>
        </p:nvSpPr>
        <p:spPr>
          <a:xfrm>
            <a:off x="3246120" y="1645920"/>
            <a:ext cx="2697480" cy="12344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383280" y="17830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NFR-2: BOUNDED MEMORY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383280" y="20574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resident memory consumption during inter-procedural analysis strictly below 4 GB RAM.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6035040" y="1645920"/>
            <a:ext cx="2697480" cy="12344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172200" y="17830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NFR-3: ZERO HARDWARE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172200" y="20574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Pure software static analysis; zero GPUs, zero quantum emulators, zero commercial paid API credits.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457200" y="3017520"/>
            <a:ext cx="2697480" cy="12344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94360" y="31546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NFR-4: TRANSPARENCY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94360" y="34290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provenance recording: every retention value tagged as observed (explicit) or inferred (prior).</a:t>
            </a:r>
            <a:endParaRPr lang="en-US" sz="780" dirty="0"/>
          </a:p>
        </p:txBody>
      </p:sp>
      <p:sp>
        <p:nvSpPr>
          <p:cNvPr id="22" name="Shape 20"/>
          <p:cNvSpPr/>
          <p:nvPr/>
        </p:nvSpPr>
        <p:spPr>
          <a:xfrm>
            <a:off x="3246120" y="3017520"/>
            <a:ext cx="2697480" cy="12344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3383280" y="31546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NFR-5: AUDITABLE FALLBACK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383280" y="34290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Unresolvable dataflows routed to an explicit "insufficient context" audit bucket; never guessed.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6035040" y="3017520"/>
            <a:ext cx="2697480" cy="12344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172200" y="31546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NFR-6: SCHEMA COMPLIANCE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72200" y="34290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schema validation against official OWASP CycloneDX 1.6 CBOM JSON/XML specifications.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 SYSTEM ARCHITECTURE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4-Stage Analysis &amp; Remediation Pipeline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943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94360" y="21945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4360" y="256032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Tree-sitter parse &amp; Semgrep rules.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Constant propagation resolves runtime cipher names.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94360" y="374904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594360" y="393192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CBOM Candidates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5146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26517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2651760" y="21945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BINDING (N1)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651760" y="256032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Backward taint: Plaintext ➔ Source.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taint: Ciphertext ➔ Sink.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Extracts retention from S3/TTL/ORM.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651760" y="374904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2651760" y="393192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Enriched Data Paths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5720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7091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4709160" y="21945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SCORING &amp; NOISE (N2, N3)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709160" y="256032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Computes HNDL Exposure Score.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Evaluates Mosca breach (x + y &gt; z).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Suppresses non-security hashes.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709160" y="374904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709160" y="393192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Ranked Migration Plan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6294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67665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766560" y="21945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PATCH &amp; VERIFY (N4)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766560" y="256032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liboqs hybrid templates (X25519+ML-KEM).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3-Gate Verification: Differential, Property, Downgrade tests.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766560" y="374904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6766560" y="393192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Pull Requests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 SUBSYSTEM 1: DISCOVERY LAYER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AST Parsing, Pattern Matching &amp; Constant Propagation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MULTI-LANGUAGE PARSER &amp; RULE ENGINE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Uniform Tree-sitter Grammar: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Generates Concrete Syntax Trees (CST) preserving byte offsets and exact locations.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Extensive Cryptographic API Corpus: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Covers cryptography.hazmat, PyCryptodome, hashlib, java.security, javax.crypto, and BouncyCastle.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Quantum Vulnerability Tagging: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Automatically tags primitives as Shor-broken (RSA, ECC), Grover-weakened (AES-128, MD5), or Quantum-safe.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CONSTANT PROPAGATION ENGINE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SOLVING CRYSY'S RUNTIME BLINDNESS [P1]: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Crypsy reported 0.66 recall because runtime-computed algorithm arguments were unresolvable.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Intra-Procedural Assignment Chains: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Traces assignments like cipher_name = "RSA-OAEP" into cipher wrappers.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Local Type Inference: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Infers key object instances (e.g. RSAPrivateKey, Ed25519PublicKey) from constructor calls.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Recovered Coverage: 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Resolves ~15% additional call sites missed by regex.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5.3 SUBSYSTEM 2: SEMANTIC BINDING (N1)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Inter-Procedural Backward &amp; Forward Taint Analysis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BACKWARD TAINT: PLAINTEXT ➔ SOURCE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Initiating Seed: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Starts at the plaintext and key parameters of the primitive.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Call Graph Traversal: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Follows assignments and return values across function calls to data origin.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Source Taxonomy Classification: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1. Persistent Storage (Database table query)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2. Offsite Archive (Audit / compliance log)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3. User Credential (Password / private key)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4. Ephemeral Token (Local RNG / CSRF nonce)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TAINT: CIPHERTEXT ➔ SINK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Ciphertext Propagation: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Tracks encrypted return values and output buffers to termination points.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Spatial Exposure Boundary Classification: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External Public (E = 1.0): Cloud S3 bucket or public network socket.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Cross-Host VPC (E = 0.5): Internal DB or RPC service.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Local IPC (E = 0.25): Redis cache on localhost.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In-Process (E = 0.1): Never leaves application RAM.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Tracks key reuse count to measure blast radius.</a:t>
            </a:r>
            <a:endParaRPr lang="en-US" sz="8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5.3 RETENTION INFERENCE ENGINE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Recovering Confidentiality Lifetime from Declarative Code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943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STORAGE (S3/GCS)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94360" y="224028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SOURCE: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594360" y="24231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Lifecycle policies &amp; IaC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94360" y="278892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Parses Expiration InDays or retain 10 years comments in bucket deployment configs.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94360" y="361188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Retain 10 years  ⟹  R = 10.0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5146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26517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TEMPORARY CACHES (REDIS)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651760" y="224028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SOURCE: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2651760" y="24231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setex &amp; TTL constants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651760" y="278892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Extracts numeric TTL parameters from cache setter invocations.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651760" y="361188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setex(k, 900, val)  ⟹  R = 0.00003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5720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7091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ORM &amp; DDL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709160" y="224028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SOURCE: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4709160" y="24231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SQLAlchemy / Hibernate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709160" y="278892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Inspects column definitions for expires_at, created_at, and retention annotations.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709160" y="361188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statutory_retention = 7.0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6294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67665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AUDITABLE FALLBACK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766560" y="224028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SOURCE: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6766560" y="24231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Sink priors &amp; provenance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766560" y="278892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Unresolvable sinks assigned conservative prior; flagged as inferred vs observed.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766560" y="361188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prior = 5.0 (Inferred)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 HNDL SCORING &amp; NOISE SUPPRESSION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Mosca-Grounded Prioritisation (N2) &amp; Noise Filtering (N3)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HNDL EXPOSURE SCORING FORMULA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Exposure(p) = w_r·R(p) × w_e·E(p) × w_a·A(p) × w_k·K(p)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R(p) [Retention]: 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Normalised lifetime (0 to 30 yr); observed evidence weighted 1.0 vs 0.8 prior.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E(p) [Exposure]: 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(1.0), VPC (0.5), IPC (0.25), In-Process (0.1).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A(p) [Algorithm]: 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Shor-broken (1.0), Grover (0.3), PQC (0.05).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K(p) [Key Blast Radius]: 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Scales with number of paths sharing key.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Mosca Breach Flag: (Retention + Migration) &gt; Horizon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CONTEXT-BASED NOISE SUPPRESSION (N3)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DRIVING ACTIONABLE PRECISION FROM ~0.30 TO ≥0.70: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Suppresses Non-Security Hashing: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If a hash function takes non-credential input (e.g. static asset) and output goes to a temporary cache key, it is reclassified as non-security.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ETag &amp; Checksum Filtering: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Automatically recognizes content digest operations.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Tunable Threshold Curve: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Allows security teams to select their operating precision/recall point.</a:t>
            </a:r>
            <a:endParaRPr lang="en-US" sz="8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 PATCH SYNTHESIS &amp; CBOM CONTRACTS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liboqs Hybrid Templates, 3-Gate Testing &amp; CycloneDX 1.6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3-GATE VERIFICATION HARNESS (N4)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Overcoming Pallarés' [P3] Round-Trip Defects: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Differential Equivalence Gate: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Original vs patched code executed on identical input vectors; error codes and recovered plaintexts must match.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Property Testing Gate (Hypothesis):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Tests tamper-evidence, wrong-key rejection, and parameter boundary resilience.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Downgrade Resilience Gate: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Verifies hybrid peer interoperability and ensures the protocol fails closed against rollback attempts.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CYCLONEDX 1.6 CBOM EXTENSIONS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CRYPTOGRAPHIC PROPERTIES:
</a:t>
            </a:r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assetType: "algorithm"
• classicalSecurityLevel: 2048
• nistQuantumSecurityLevel: 0 (Shor-broken)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DATAFLOW EXTENSION PROPERTIES:
</a:t>
            </a:r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plaintextSource: "database_read"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ciphertextSink: "cloud_object_store"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retentionEvidence: { retentionYears: 10.0 }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exposureSurface: "EXTERNAL_PUBLIC"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hndlRiskAssessment: { moscaViolated: true }</a:t>
            </a:r>
            <a:endParaRPr lang="en-US" sz="8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 TOOL JUSTIFICATION: PARSING &amp; AST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Comparative Evaluation Matrix: Parsing Infrastructure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TOOLS EVALUATION: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Tree-sitter + Python Native ast [SELECTED]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Throughput: High (~30,000 lines/sec via C API bindings).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Multi-Language: 40+ language grammars with uniform Concrete Syntax Tree (CST) API.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Advantage: Preserves byte offsets, handles syntax errors gracefully, zero heavy JVM overhead.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ANTLR4 [REJECTED]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Heavy runtime overhead, slow startup latency, memory explosion on 50k file repos.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Native Compiler Frontends (Clang / Javac) [REJECTED]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Single-language bound; impossible to establish a uniform cross-language representation.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6.2 TOOL JUSTIFICATION: TAINT ANALYSIS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Comparative Evaluation Matrix: Static Analysis &amp; Taint Engines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TAINT ENGINES EVALUATION: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CodeQL (Java) + Custom AST Visitor Engine (Python) [SELECTED]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Java Scalability: CodeQL provides battle-tested inter-procedural taint tracking across enterprise codebases.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Python Agility: Custom AST visitor with type-stubs provides fine-grained control over dynamic dispatch.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Feasibility Grounding: Reuses the proven backward dataflow architecture of CryptoGuard (CCS 2019) [P13].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Soot / WALA [REJECTED]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JVM-only legacy frameworks; unmaintainable setup complexity; zero capability for Python codebases.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Semgrep OSS Standalone [INTEGRATED AS STAGE 1 FILTER ONLY]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Fast pattern matching, but lacks inter-procedural taint propagation across multi-module boundaries.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6.3 TOOL JUSTIFICATION: PQC LIBRARY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Quantum Safe (liboqs) as Reference Standard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POST-QUANTUM CRYPTOGRAPHIC LIBRARY SELECTION: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Open Quantum Safe (liboqs &amp; liboqs-python) [SELECTED]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NIST Conformance: Complete, certified implementations of FIPS 203 (ML-KEM) and FIPS 204 (ML-DSA).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Native Hybrid Support: Standardized hybrid constructions (e.g. X25519 + ML-KEM-768).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Cross-Language: C core with production-ready Python and Java (JNI) wrappers.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Security: Actively audited for constant-time execution and memory safety.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Bouncy Castle PQC [RETAINED FOR JAVA VERIFICATION]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Established Java library; retained for secondary peer verification in Java environments.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Custom / Bespoke Implementations [STRICTLY REJECTED]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Rolling custom cryptography violates engineering discipline and introduces severe vulnerabilities.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6.4 TOOL JUSTIFICATION: CBOM STANDARD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CycloneDX 1.6 CBOM vs SPDX 3.0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CYCLONEDX 1.6 CBOM [SELECTED]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Formalised Cryptographic Model: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Dedicated cryptoProperties schema for algorithms, keys, protocols, and certification levels.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Global Industry Consensus: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Backed by IBM Research (Eurocrypt 2026 [P6]), CISA, and the European Cyber Resilience Act.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Rich Tooling &amp; Validation: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Native CLI validators, JSON/XML schemas, and policy engine compatibility (P7).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SPDX 3.0 SECURITY PROFILE [REJECTED]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Incomplete Cryptographic Profile: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Focuses predominantly on software package licenses; cryptographic assets remain generic annotations.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Immature Tooling Ecosystem: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Lacks specialized CBOM validators and policy verification engines.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Non-Aligned with US EO 14412: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US federal minimum elements align directly with the CycloneDX CBOM specification.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 TOOL JUSTIFICATION: VERIFICATION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Differential &amp; Property Testing vs Formal Methods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DIFFERENTIAL TESTING + HYPOTHESIS [SELECTED]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100% Automated Execution: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Executes original and patched code on identical input corpora, comparing outputs and exceptions.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Catches Subtle Downgrades: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Property-based testing (Hypothesis) tests parameter boundaries that round-trip testing misses.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Operates on Multi-File Repos: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Integrates seamlessly with existing CI/CD test runners.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FORMAL PROOF (DAFNY / F*) [REJECTED]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Extreme Real-World Infeasibility: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Requires formal mathematical specifications for every surrounding business module (&lt;5% of codebases).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Does Not Scale to Python/Java: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Formal verification tools fail on real-world multi-file enterprise dependencies.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Soundness Limitation Stated Openly: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We state differential testing as an empirical trade-off rather than claiming proof.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 INITIAL PROTOTYPE (~20% COMPLETION)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TRL 3 Working Proof-of-Concept in Repository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PACKAGE: crypto_agility_navigator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src/crypto_agility_navigator/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models.py       # Domain entities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discovery.py    # AST scanner (Stage 1)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dataflow.py     # Taint &amp; retention (Stage 2)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scorer.py       # HNDL &amp; suppression (Stage 3)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cbom.py         # CycloneDX 1.6 serializer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cli.py          # CLI runner &amp; reporting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modular, fully tested, pure software.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TRL 3 MILESTONE EVIDENCE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• ~20% Implementation Completed:</a:t>
            </a:r>
          </a:p>
          <a:p>
            <a:r>
              <a:t>  Executable core engine covering AST discovery, backward/forward taint, retention extraction, and scoring.</a:t>
            </a:r>
          </a:p>
          <a:p/>
          <a:p>
            <a:r>
              <a:t>• Validated on Real Benchmark:</a:t>
            </a:r>
          </a:p>
          <a:p>
            <a:r>
              <a:t>  Successfully tested on payments/archive.py, web/session.py, and cache/etags.py.</a:t>
            </a:r>
          </a:p>
          <a:p/>
          <a:p>
            <a:r>
              <a:t>• Schema-Compliant CBOM Export:</a:t>
            </a:r>
          </a:p>
          <a:p>
            <a:r>
              <a:t>  Emits enriched CycloneDX 1.6 CBOM JSON.</a:t>
            </a:r>
          </a:p>
          <a:p/>
          <a:p>
            <a:r>
              <a:t>• Automated Test Harness: 8 automated unit tests passing.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 INTERACTIVE WEB DASHBOARD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Full-Stack React Dashboard &amp; REST API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31520" y="164592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DASHBOARD (TRL 3 PROTOTYPE UI)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19659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Backend: 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HTTP server providing /api/scan and /api/simulate-mosca endpoints.
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Frontend: 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Responsive HTML/React dashboard with vibrant dark mode aesthetics.
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Capabilities: 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dataflow visualization, Mosca risk scoring simulator, and CycloneDX export.</a:t>
            </a:r>
            <a:endParaRPr lang="en-US" sz="950" dirty="0"/>
          </a:p>
        </p:txBody>
      </p:sp>
      <p:pic>
        <p:nvPicPr>
          <p:cNvPr id="13" name="Image 0" descr="assets/dashbo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2560320"/>
            <a:ext cx="3657600" cy="1645920"/>
          </a:xfrm>
          <a:prstGeom prst="rect">
            <a:avLst/>
          </a:prstGeom>
        </p:spPr>
      </p:pic>
      <p:pic>
        <p:nvPicPr>
          <p:cNvPr id="14" name="Image 1" descr="assets/dashboard_result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54880" y="2560320"/>
            <a:ext cx="3657600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7.2 BENCHMARK DEMONSTRATION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Discriminating Call Sites on examples/sample_project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2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 EXECUTION COMMAND:
</a:t>
            </a:r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1976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python3 -m src.crypto_agility_navigator.cli examples/sample_project --output-cbom examples/sample_cbom.json --show-suppressed
</a:t>
            </a:r>
            <a:pPr indent="0" marL="0">
              <a:lnSpc>
                <a:spcPts val="1100"/>
              </a:lnSpc>
              <a:buNone/>
            </a:pPr>
            <a:r>
              <a:rPr lang="en-US" sz="82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OUTPUT TABLE:
</a:t>
            </a:r>
            <a:pPr indent="0" marL="0">
              <a:lnSpc>
                <a:spcPts val="1100"/>
              </a:lnSpc>
              <a:buNone/>
            </a:pPr>
            <a:r>
              <a:rPr lang="en-US" sz="78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RANK | ALGORITHM    | LOCATION        | RETENTION | EXPOSURE        | SCORE | URGENCY
</a:t>
            </a:r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---------------------------------------------------------------------------------------------
</a:t>
            </a:r>
            <a:pPr indent="0" marL="0">
              <a:lnSpc>
                <a:spcPts val="1100"/>
              </a:lnSpc>
              <a:buNone/>
            </a:pPr>
            <a:r>
              <a:rPr lang="en-US" sz="780" b="1" dirty="0">
                <a:solidFill>
                  <a:srgbClr val="D32F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  | RSA-OAEP     | archive.py:11   | 10.0y     | EXTERNAL_PUBLIC | 16.7  | HIGH (MOSCA BREACH)
</a:t>
            </a:r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  | RSA-OAEP     | session.py:11   | &lt;1 hour   | INTERNAL_IPC    | 0.0   | LOW
</a:t>
            </a:r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   | SHA-256      | etags.py:9      | &lt;1 hour   | INTERNAL_IPC    | 0.0   | SUPPRESSED
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SUMMARY: 3 discovered · 2 actionable · 1 context-suppressed (33% noise filtered) · 1 Mosca breach.</a:t>
            </a:r>
            <a:endParaRPr lang="en-US" sz="82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 ANALYSIS OF RESULTS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Empirical Proof of Discrimination &amp; Noise Filtering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DISCRIMINATING IDENTICAL PRIMITIVES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Baseline Failure: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Crypsy [P1] and Shaw [P2] report archive.py and session.py identically as RSA-2048 with identical severity.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Navigator Resolution: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Archive (Rank 1): Score 16.7, Mosca breach flagged (10y retention + 2y migration &gt; 7y CRQC).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Session (Rank 2): Score 0.0, Low urgency (&lt;1 hour cache TTL delivers zero risk reduction).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NOISE FILTERING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False-Positive Trap: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Crypsy reports SHA-256 in etags.py as an unmigrated hash finding, contributing to its ~0.30 precision.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Context-Based Reclassification: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Navigator traces the input (static bytes) and sink (ETag cache header), proving it has no security impact.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Status: SUPPRESSED (0.0 score);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Removes manual triage overhead from security teams.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 CYCLONEDX 1.6 CBOM EXPORT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Machine-Readable Bill of Materials with Dataflow Extensions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GENERATED CYCLONEDX 1.6 CBOM SNIPPET (examples/sample_cbom.json):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
  "bomFormat": "CycloneDX", "specVersion": "1.6",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"components": [{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"name": "RSA-OAEP", "type": "cryptographic-asset",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1976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"cryptoProperties": {
      "assetType": "algorithm", "classicalSecurityLevel": 2048, "nistQuantumSecurityLevel": 0
    },
</a:t>
            </a:r>
            <a:pPr indent="0" marL="0">
              <a:lnSpc>
                <a:spcPts val="1000"/>
              </a:lnSpc>
              <a:buNone/>
            </a:pPr>
            <a:r>
              <a:rPr lang="en-US" sz="750" b="1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"dataflowProperties": {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"plaintextSource": "database_read",
      "ciphertextSink": "cloud_object_store",
      "retentionEvidence": { "retentionYears": 10.0, "observed": true },
      "exposureSurface": "EXTERNAL_PUBLIC",
      "hndlRiskAssessment": { "normalizedScore": 16.67, "urgencyTier": "HIGH", "moscaViolated": true }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}]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 AUTOMATED TEST HARNESS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Pass Rate on Unit Testing (tests/test_navigator.py)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AUTOMATED UNIT TEST EXECUTION:</a:t>
            </a:r>
          </a:p>
          <a:p>
            <a:r>
              <a:t>$ python3 -m unittest discover tests -v</a:t>
            </a:r>
          </a:p>
          <a:p/>
          <a:p>
            <a:r>
              <a:t>test_cbom_generation ........................ ok</a:t>
            </a:r>
          </a:p>
          <a:p>
            <a:r>
              <a:t>test_context_noise_suppression .............. ok</a:t>
            </a:r>
          </a:p>
          <a:p>
            <a:r>
              <a:t>test_custom_code_snippet_analysis ........... ok</a:t>
            </a:r>
          </a:p>
          <a:p>
            <a:r>
              <a:t>test_discovery_engine ....................... ok</a:t>
            </a:r>
          </a:p>
          <a:p>
            <a:r>
              <a:t>test_full_pipeline_ranking .................. ok</a:t>
            </a:r>
          </a:p>
          <a:p>
            <a:r>
              <a:t>test_quantum_safe_scoring ................... ok</a:t>
            </a:r>
          </a:p>
          <a:p>
            <a:r>
              <a:t>test_scoring_and_mosca_inequality ........... ok</a:t>
            </a:r>
          </a:p>
          <a:p>
            <a:r>
              <a:t>test_semantic_binding_discrimination ........ ok</a:t>
            </a:r>
          </a:p>
          <a:p/>
          <a:p>
            <a:r>
              <a:t>----------------------------------------------------------------------</a:t>
            </a:r>
          </a:p>
          <a:p>
            <a:r>
              <a:t>Ran 8 tests in 0.050s        OK (100% passing)</a:t>
            </a:r>
          </a:p>
          <a:p>
            <a:r>
              <a:t>TRL 3 Proof of Concept Verified: Code base is reproducible, modular, and regression-tested.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 THE 5 PILLARS OF NOVELTY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Intellectual Innovations (N1–N5)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5544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4864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RETENTION-AWARE DATAFLOW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4864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Binds cryptographic primitives to data lifetime extracted from declarative code &amp; IaC.</a:t>
            </a:r>
            <a:endParaRPr lang="en-US" sz="780" dirty="0"/>
          </a:p>
        </p:txBody>
      </p:sp>
      <p:sp>
        <p:nvSpPr>
          <p:cNvPr id="14" name="Shape 12"/>
          <p:cNvSpPr/>
          <p:nvPr/>
        </p:nvSpPr>
        <p:spPr>
          <a:xfrm>
            <a:off x="2103120" y="1645920"/>
            <a:ext cx="15544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19456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19456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CALL-SITE RISK METRIC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19456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score varying across identical algorithms; evaluated via ranking metrics (nDCG/τ).</a:t>
            </a:r>
            <a:endParaRPr lang="en-US" sz="780" dirty="0"/>
          </a:p>
        </p:txBody>
      </p:sp>
      <p:sp>
        <p:nvSpPr>
          <p:cNvPr id="18" name="Shape 16"/>
          <p:cNvSpPr/>
          <p:nvPr/>
        </p:nvSpPr>
        <p:spPr>
          <a:xfrm>
            <a:off x="3749040" y="1645920"/>
            <a:ext cx="15544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384048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384048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NOISE SUPPRESSION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384048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Filters non-security hashes; raises actionable precision from ~0.30 to ≥0.70.</a:t>
            </a:r>
            <a:endParaRPr lang="en-US" sz="780" dirty="0"/>
          </a:p>
        </p:txBody>
      </p:sp>
      <p:sp>
        <p:nvSpPr>
          <p:cNvPr id="22" name="Shape 20"/>
          <p:cNvSpPr/>
          <p:nvPr/>
        </p:nvSpPr>
        <p:spPr>
          <a:xfrm>
            <a:off x="5394960" y="1645920"/>
            <a:ext cx="15544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48640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48640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HYBRID PATCHES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48640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liboqs hybrid synthesis gated by differential testing, property tests, &amp; downgrade checks.</a:t>
            </a:r>
            <a:endParaRPr lang="en-US" sz="780" dirty="0"/>
          </a:p>
        </p:txBody>
      </p:sp>
      <p:sp>
        <p:nvSpPr>
          <p:cNvPr id="26" name="Shape 24"/>
          <p:cNvSpPr/>
          <p:nvPr/>
        </p:nvSpPr>
        <p:spPr>
          <a:xfrm>
            <a:off x="7040880" y="1645920"/>
            <a:ext cx="15544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713232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13232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ANNOTATED BENCHMARK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13232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15–20 open-source repositories annotated with retention ground truth &amp; priority rankings.</a:t>
            </a:r>
            <a:endParaRPr lang="en-US" sz="78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 MATHEMATICAL DERIVATION &amp; FEASIBILITY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Theoretical Soundness, Complexity Bounds &amp; Fallbacks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THEORETICAL UTILITY MODEL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Grounded in Decision Theory [P12]: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Adversary utility U(p) is proportional to whether data remains confidential at CRQC arrival: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1976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U(p) ∝ max(0, x_p + y_p - z)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Risk Reduction per Unit Effort: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Orders call sites by expected residual exposure reduction divided by remediation complexity.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Replaces Artificial VQE Circuits: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Shaw [P2] used decorative 2-qubit circuits; our formulation is transparent and provably grounded.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COMPUTATIONAL &amp; MEMORY FEASIBILITY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Polynomial Time Complexity: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Discovery is O(N) over lines of code. Taint tracing is restricted to crypto call sites M ≪ N, yielding O(M · |V+E|).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Soundness vs Completeness Trade-off: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Targeting 70% dataflow coverage avoids state-space explosion on dynamic Python.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Auditable Insufficient Context: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Unresolvable sites placed in explicit audit bucket; tool never makes silent guesses.</a:t>
            </a:r>
            <a:endParaRPr lang="en-US" sz="82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 PATENT POSITIONING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Indian Patent Office CRI Guidelines (2025)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DEMONSTRABLE TECHNICAL EFFECT UNDER CRI GUIDELINES 2025: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Legal Standard: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Under the Indian Patent Office CRI Guidelines (2025), computer-related inventions are patent-eligible if they exhibit a demonstrable technical effect beyond abstract algorithmic calculations.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Our Demonstrable Technical Effect: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 statistically significant, measurable reduction in residual Harvest-Now-Decrypt-Later exposure per unit of engineering remediation effort, relative to algorithm-severity ordering.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Hard Project Commitment — Month 10 Provisional Filing: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 India, pre-filing disclosure destroys novelty. Provisional patent application will be filed in Month 10 strictly BEFORE any public conference publication or preprint release.</a:t>
            </a:r>
            <a:endParaRPr lang="en-US" sz="8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 ACADEMIC YEAR MILESTONE ROADMAP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Seven-Review Milestone Progression (Fall &amp; Winter Semesters)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3258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303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303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303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 2026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5303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5303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definition, literature review (P1–P16), formal objectives.</a:t>
            </a:r>
            <a:endParaRPr lang="en-US" sz="720" dirty="0"/>
          </a:p>
        </p:txBody>
      </p:sp>
      <p:sp>
        <p:nvSpPr>
          <p:cNvPr id="16" name="Shape 14"/>
          <p:cNvSpPr/>
          <p:nvPr/>
        </p:nvSpPr>
        <p:spPr>
          <a:xfrm>
            <a:off x="1828800" y="1645920"/>
            <a:ext cx="1325880" cy="2743200"/>
          </a:xfrm>
          <a:prstGeom prst="rect">
            <a:avLst/>
          </a:prstGeom>
          <a:solidFill>
            <a:srgbClr val="263238"/>
          </a:solidFill>
          <a:ln w="25400">
            <a:solidFill>
              <a:srgbClr val="1976D2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9019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II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9019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9019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2026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9019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9019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~20% Completion: system design, tool justification, working prototype (TRL 3).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3200400" y="1645920"/>
            <a:ext cx="13258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32735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III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2735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2735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 2026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32735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32735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~30% Completion: panel observations follow-up, refined Java discovery.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4572000" y="1645920"/>
            <a:ext cx="13258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46451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IV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6451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6451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 2027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46451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46451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~50% Completion: full inter-procedural taint engine integrated across Python/Java.</a:t>
            </a:r>
            <a:endParaRPr lang="en-US" sz="720" dirty="0"/>
          </a:p>
        </p:txBody>
      </p:sp>
      <p:sp>
        <p:nvSpPr>
          <p:cNvPr id="34" name="Shape 32"/>
          <p:cNvSpPr/>
          <p:nvPr/>
        </p:nvSpPr>
        <p:spPr>
          <a:xfrm>
            <a:off x="5943600" y="1645920"/>
            <a:ext cx="13258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60167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V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60167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M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0167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2027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60167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60167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~80% Completion: full integrated prototype, benchmark ranking evaluation.</a:t>
            </a:r>
            <a:endParaRPr lang="en-US" sz="720" dirty="0"/>
          </a:p>
        </p:txBody>
      </p:sp>
      <p:sp>
        <p:nvSpPr>
          <p:cNvPr id="40" name="Shape 38"/>
          <p:cNvSpPr/>
          <p:nvPr/>
        </p:nvSpPr>
        <p:spPr>
          <a:xfrm>
            <a:off x="7315200" y="1645920"/>
            <a:ext cx="132588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73883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VI &amp; VII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73883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M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73883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 2027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73883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73883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House external panel demo, final report, patent filing submission.</a:t>
            </a:r>
            <a:endParaRPr lang="en-US" sz="72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9.2 WORK BREAKDOWN STRUCTURE (WBS)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Equitable 3-Way Allocation Across Team Members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40233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18288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/>
        </p:txBody>
      </p:sp>
      <p:sp>
        <p:nvSpPr>
          <p:cNvPr id="12" name="Text 10"/>
          <p:cNvSpPr/>
          <p:nvPr/>
        </p:nvSpPr>
        <p:spPr>
          <a:xfrm>
            <a:off x="640080" y="20574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/>
        </p:txBody>
      </p:sp>
      <p:sp>
        <p:nvSpPr>
          <p:cNvPr id="13" name="Text 11"/>
          <p:cNvSpPr/>
          <p:nvPr/>
        </p:nvSpPr>
        <p:spPr>
          <a:xfrm>
            <a:off x="640080" y="1028700"/>
            <a:ext cx="3657600" cy="3600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sz="1000"/>
              <a:t>AVI DHANDHANIA (25BCE1207)</a:t>
            </a:r>
          </a:p>
          <a:p>
            <a:r>
              <a:rPr sz="1000"/>
              <a:t>• Shared data models and the Stage 1 AST discovery engine, with constant propagation.</a:t>
            </a:r>
          </a:p>
          <a:p>
            <a:r>
              <a:rPr sz="1000"/>
              <a:t>• Backward taint tracing from plaintext and key arguments to their sources.</a:t>
            </a:r>
          </a:p>
          <a:p>
            <a:r>
              <a:rPr sz="1000"/>
              <a:t>• Problem statement and threat model.</a:t>
            </a:r>
          </a:p>
          <a:p>
            <a:r>
              <a:rPr sz="1000"/>
              <a:t>• Stakeholder analysis and functional / non-functional requirements.</a:t>
            </a:r>
          </a:p>
          <a:p>
            <a:r>
              <a:rPr sz="1000"/>
              <a:t>• Architecture write-up and slides for own sections.</a:t>
            </a:r>
          </a:p>
          <a:p/>
          <a:p>
            <a:r>
              <a:rPr sz="1000"/>
              <a:t>ANMOL SALUJA (25BCE1332)</a:t>
            </a:r>
          </a:p>
          <a:p>
            <a:r>
              <a:rPr sz="1000"/>
              <a:t>• Forward taint tracing from ciphertext to sinks and exposure surfaces.</a:t>
            </a:r>
          </a:p>
          <a:p>
            <a:r>
              <a:rPr sz="1000"/>
              <a:t>• Declarative retention extractor (cloud lifecycle rules, cache TTLs).</a:t>
            </a:r>
          </a:p>
          <a:p>
            <a:r>
              <a:rPr sz="1000"/>
              <a:t>• Stage 3 HNDL scoring engine, Mosca breach test and noise suppression.</a:t>
            </a:r>
          </a:p>
          <a:p>
            <a:r>
              <a:rPr sz="1000"/>
              <a:t>• Literature survey (P1–P16) and research gap matrix.</a:t>
            </a:r>
          </a:p>
          <a:p>
            <a:r>
              <a:rPr sz="1000"/>
              <a:t>• Objectives, novelty statement and tool-selection justification.</a:t>
            </a:r>
          </a:p>
          <a:p>
            <a:r>
              <a:rPr sz="1000"/>
              <a:t>• Mathematical basis and feasibility analysis; slides for own sections.</a:t>
            </a:r>
          </a:p>
          <a:p/>
          <a:p>
            <a:r>
              <a:rPr sz="1000"/>
              <a:t>AVIKA TYAGI (25BCE1294)</a:t>
            </a:r>
          </a:p>
          <a:p>
            <a:r>
              <a:rPr sz="1000"/>
              <a:t>• CycloneDX 1.6 CBOM serialiser, command-line interface and REST API.</a:t>
            </a:r>
          </a:p>
          <a:p>
            <a:r>
              <a:rPr sz="1000"/>
              <a:t>• Web dashboard front end.</a:t>
            </a:r>
          </a:p>
          <a:p>
            <a:r>
              <a:rPr sz="1000"/>
              <a:t>• Unit-test suite and benchmark example project.</a:t>
            </a:r>
          </a:p>
          <a:p>
            <a:r>
              <a:rPr sz="1000"/>
              <a:t>• Prototype and test documentation.</a:t>
            </a:r>
          </a:p>
          <a:p>
            <a:r>
              <a:rPr sz="1000"/>
              <a:t>• Project planning, work division and team coordination.</a:t>
            </a:r>
          </a:p>
          <a:p>
            <a:r>
              <a:rPr sz="1000"/>
              <a:t>• References, formatting, final report compilation and presentation deck.</a:t>
            </a:r>
          </a:p>
        </p:txBody>
      </p:sp>
      <p:sp>
        <p:nvSpPr>
          <p:cNvPr id="14" name="Shape 12"/>
          <p:cNvSpPr/>
          <p:nvPr/>
        </p:nvSpPr>
        <p:spPr>
          <a:xfrm>
            <a:off x="4663440" y="1645920"/>
            <a:ext cx="40233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846320" y="18288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/>
        </p:txBody>
      </p:sp>
      <p:sp>
        <p:nvSpPr>
          <p:cNvPr id="16" name="Text 14"/>
          <p:cNvSpPr/>
          <p:nvPr/>
        </p:nvSpPr>
        <p:spPr>
          <a:xfrm>
            <a:off x="4846320" y="20574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/>
        </p:txBody>
      </p:sp>
      <p:sp>
        <p:nvSpPr>
          <p:cNvPr id="17" name="Text 15"/>
          <p:cNvSpPr/>
          <p:nvPr/>
        </p:nvSpPr>
        <p:spPr>
          <a:xfrm>
            <a:off x="4846320" y="2331720"/>
            <a:ext cx="3657600" cy="1965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/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9.3 RISK MANAGEMENT REGISTER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Proactive Trigger Checkpoints &amp; Mitigation Strategies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943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Dataflow Coverage Low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" y="2514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TRIGGER: &lt;40% bound on first 3 repos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594360" y="297180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RESPONSE: Fall back to analyst-supplied retention per data class; propagate through dataflow.</a:t>
            </a:r>
            <a:endParaRPr lang="en-US" sz="780" dirty="0"/>
          </a:p>
        </p:txBody>
      </p:sp>
      <p:sp>
        <p:nvSpPr>
          <p:cNvPr id="15" name="Text 13"/>
          <p:cNvSpPr/>
          <p:nvPr/>
        </p:nvSpPr>
        <p:spPr>
          <a:xfrm>
            <a:off x="594360" y="388620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Month 5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5146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26517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 Absent in Config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651760" y="2514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TRIGGER: Fewer than 50% sinks have metadata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2651760" y="297180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RESPONSE: Augment evidence sources via LLM-assisted docstring and commit parsing.</a:t>
            </a:r>
            <a:endParaRPr lang="en-US" sz="780" dirty="0"/>
          </a:p>
        </p:txBody>
      </p:sp>
      <p:sp>
        <p:nvSpPr>
          <p:cNvPr id="21" name="Text 19"/>
          <p:cNvSpPr/>
          <p:nvPr/>
        </p:nvSpPr>
        <p:spPr>
          <a:xfrm>
            <a:off x="2651760" y="388620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Month 5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5720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7091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RR3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7091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Expert Annotator Unavailable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709160" y="2514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TRIGGER: No confirmed labeller by Month 4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4709160" y="297180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RESPONSE: Rubric-driven scoring by 2 team members + guide adjudication (report α).</a:t>
            </a:r>
            <a:endParaRPr lang="en-US" sz="780" dirty="0"/>
          </a:p>
        </p:txBody>
      </p:sp>
      <p:sp>
        <p:nvSpPr>
          <p:cNvPr id="27" name="Text 25"/>
          <p:cNvSpPr/>
          <p:nvPr/>
        </p:nvSpPr>
        <p:spPr>
          <a:xfrm>
            <a:off x="4709160" y="388620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Month 4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629400" y="1645920"/>
            <a:ext cx="1965960" cy="274320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67665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RR4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7665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Patch Synthesis Unreliable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766560" y="2514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TRIGGER: &lt;50% pass verification gate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6766560" y="297180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RESPONSE: Deliver tool as diagnostic/prioritization engine; patch synthesis future work.</a:t>
            </a:r>
            <a:endParaRPr lang="en-US" sz="780" dirty="0"/>
          </a:p>
        </p:txBody>
      </p:sp>
      <p:sp>
        <p:nvSpPr>
          <p:cNvPr id="33" name="Text 31"/>
          <p:cNvSpPr/>
          <p:nvPr/>
        </p:nvSpPr>
        <p:spPr>
          <a:xfrm>
            <a:off x="6766560" y="388620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Month 9</a:t>
            </a:r>
            <a:endParaRPr lang="en-US" sz="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7 (2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 INDIVIDUAL RESPONSIBILITIES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Ownership &amp; Technical Accountability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7 (2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INDIVIDUAL EVIDENCE OF COMPLETED WORK (REVIEW II — 33/33/33 EQUITABLE SPLIT):</a:t>
            </a:r>
          </a:p>
          <a:p/>
          <a:p>
            <a:r>
              <a:t>• Avi Dhandhania (25BCE1207 — Architecture, AST &amp; Dataflow):</a:t>
            </a:r>
          </a:p>
          <a:p>
            <a:r>
              <a:t>  - Implemented Stage 1 AST discovery and backward taint tracing.</a:t>
            </a:r>
          </a:p>
          <a:p>
            <a:r>
              <a:t>  - Authored domain models, problem statement, and architecture write-up.</a:t>
            </a:r>
          </a:p>
          <a:p/>
          <a:p>
            <a:r>
              <a:t>• Anmol Saluja (25BCE1332 — Threat Modeling, Retention &amp; Scoring):</a:t>
            </a:r>
          </a:p>
          <a:p>
            <a:r>
              <a:t>  - Formulated HNDL scoring, forward taint tracing, and declarative retention.</a:t>
            </a:r>
          </a:p>
          <a:p>
            <a:r>
              <a:t>  - Conducted literature survey and justified tool selection.</a:t>
            </a:r>
          </a:p>
          <a:p/>
          <a:p>
            <a:r>
              <a:t>• Avika Tyagi (25BCE1294 — Project Coordination, Dashboard &amp; CBOM):</a:t>
            </a:r>
          </a:p>
          <a:p>
            <a:r>
              <a:t>  - Developed CycloneDX 1.6 serializer, CLI, API, and web dashboard.</a:t>
            </a:r>
          </a:p>
          <a:p>
            <a:r>
              <a:t>  - Authored automated test suite, project planning, and final deck.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7 (2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10.2 PANEL DEFENSE &amp; TECHNICAL Q&amp;A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Anticipating Technical Inquiries from the School Panel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7 (2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8229600" cy="86868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173736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Q1: How do you handle dynamic typing in Python?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196596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target 70% dataflow coverage rather than claiming full mathematical soundness. We use constant propagation and typeshed stubs; unresolvable sites are placed in an explicit audit bucket rather than guessed.</a:t>
            </a:r>
            <a:endParaRPr lang="en-US" sz="780" dirty="0"/>
          </a:p>
        </p:txBody>
      </p:sp>
      <p:sp>
        <p:nvSpPr>
          <p:cNvPr id="13" name="Shape 11"/>
          <p:cNvSpPr/>
          <p:nvPr/>
        </p:nvSpPr>
        <p:spPr>
          <a:xfrm>
            <a:off x="457200" y="2606040"/>
            <a:ext cx="8229600" cy="86868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269748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Q2: Why not use algorithm-severity scores like Shaw [P2]?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292608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Shaw's score is algorithm-intrinsic; all RSA-2048 sites receive identical scores. Only dataflow-derived retention distinguishes 10-year S3 archives (breached) from 15-minute tokens (low risk).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457200" y="3566160"/>
            <a:ext cx="8229600" cy="86868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0080" y="365760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Q3: How do you guarantee PQC patches don't break code?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use verified hybrid templates (X25519+ML-KEM) via liboqs, gated by differential equivalence testing on identical inputs, property tests for wrong-key failure, and downgrade resilience checks.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2026-09-19T18:47:13Z</dcterms:created>
  <dcterms:modified xsi:type="dcterms:W3CDTF">2026-09-19T18:47:13Z</dcterms:modified>
</cp:coreProperties>
</file>